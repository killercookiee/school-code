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0" r:id="rId4"/>
  </p:sldMasterIdLst>
  <p:notesMasterIdLst>
    <p:notesMasterId r:id="rId47"/>
  </p:notesMasterIdLst>
  <p:sldIdLst>
    <p:sldId id="259" r:id="rId5"/>
    <p:sldId id="260" r:id="rId6"/>
    <p:sldId id="263" r:id="rId7"/>
    <p:sldId id="351" r:id="rId8"/>
    <p:sldId id="265" r:id="rId9"/>
    <p:sldId id="356" r:id="rId10"/>
    <p:sldId id="354" r:id="rId11"/>
    <p:sldId id="352" r:id="rId12"/>
    <p:sldId id="272" r:id="rId13"/>
    <p:sldId id="273" r:id="rId14"/>
    <p:sldId id="264" r:id="rId15"/>
    <p:sldId id="278" r:id="rId16"/>
    <p:sldId id="262" r:id="rId17"/>
    <p:sldId id="277" r:id="rId18"/>
    <p:sldId id="276" r:id="rId19"/>
    <p:sldId id="353" r:id="rId20"/>
    <p:sldId id="274" r:id="rId21"/>
    <p:sldId id="275" r:id="rId22"/>
    <p:sldId id="282" r:id="rId23"/>
    <p:sldId id="285" r:id="rId24"/>
    <p:sldId id="284" r:id="rId25"/>
    <p:sldId id="286" r:id="rId26"/>
    <p:sldId id="295" r:id="rId27"/>
    <p:sldId id="293" r:id="rId28"/>
    <p:sldId id="292" r:id="rId29"/>
    <p:sldId id="287" r:id="rId30"/>
    <p:sldId id="267" r:id="rId31"/>
    <p:sldId id="355" r:id="rId32"/>
    <p:sldId id="261" r:id="rId33"/>
    <p:sldId id="268" r:id="rId34"/>
    <p:sldId id="270" r:id="rId35"/>
    <p:sldId id="269" r:id="rId36"/>
    <p:sldId id="271" r:id="rId37"/>
    <p:sldId id="281" r:id="rId38"/>
    <p:sldId id="296" r:id="rId39"/>
    <p:sldId id="279" r:id="rId40"/>
    <p:sldId id="280" r:id="rId41"/>
    <p:sldId id="288" r:id="rId42"/>
    <p:sldId id="291" r:id="rId43"/>
    <p:sldId id="289" r:id="rId44"/>
    <p:sldId id="290" r:id="rId45"/>
    <p:sldId id="357" r:id="rId4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8CE"/>
    <a:srgbClr val="A1B4D1"/>
    <a:srgbClr val="B7BE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0F564AE-0987-4590-8195-8DEC4EC263CA}" v="3" dt="2025-04-14T15:58:21.2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1DA64-79EB-4C9B-A6AF-A3AD4AE5643A}" type="datetimeFigureOut">
              <a:rPr lang="en-GB" smtClean="0"/>
              <a:t>10/05/2026</a:t>
            </a:fld>
            <a:endParaRPr lang="en-GB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GB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0F748E-75A7-40F3-91BC-BAA5870CACC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5959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6EE4D-112D-4DA3-8C83-A0313EDCB47B}" type="datetime1">
              <a:rPr lang="hu-HU" smtClean="0"/>
              <a:t>2026. 05. 10.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18308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D141F-FC2D-4DC4-9363-79123025AFC4}" type="datetime1">
              <a:rPr lang="hu-HU" smtClean="0"/>
              <a:t>2026. 05. 10.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54837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zakaszfejlé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68599B-7E9A-4BD5-8E44-FE672D5FF9E3}" type="datetime1">
              <a:rPr lang="hu-HU" smtClean="0"/>
              <a:t>2026. 05. 10.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753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FBD8DE-D6C8-483D-88C0-BAB89EBCB766}" type="datetime1">
              <a:rPr lang="hu-HU" smtClean="0"/>
              <a:t>2026. 05. 10.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98556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C51C6-B905-4778-84C0-14B444B0E90F}" type="datetime1">
              <a:rPr lang="hu-HU" smtClean="0"/>
              <a:t>2026. 05. 10.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1828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F3AEA-27AF-4B35-8747-49EAF51826DA}" type="datetime1">
              <a:rPr lang="hu-HU" smtClean="0"/>
              <a:t>2026. 05. 10.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8130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3F65B-85BB-4EC4-8A7C-37B79A91EAC2}" type="datetime1">
              <a:rPr lang="hu-HU" smtClean="0"/>
              <a:t>2026. 05. 10.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737372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463585D-DCC8-4FFC-9630-3B4A6752CFD0}" type="datetime1">
              <a:rPr lang="hu-HU" smtClean="0"/>
              <a:t>2026. 05. 10.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19881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3DC2D6-08B3-4C9B-943D-14364CAD4668}" type="datetime1">
              <a:rPr lang="hu-HU" smtClean="0"/>
              <a:t>2026. 05. 10.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30776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EEEB2-3ECC-48EF-9766-8792E01037EF}" type="datetime1">
              <a:rPr lang="hu-HU" smtClean="0"/>
              <a:t>2026. 05. 10.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5715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D251CC-CE1D-4C1E-A480-FEE41F7441E7}" type="datetime1">
              <a:rPr lang="hu-HU" smtClean="0"/>
              <a:t>2026. 05. 10.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92614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hu-HU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E1DD42-EF53-446B-B7DF-3322F8809B33}" type="datetime1">
              <a:rPr lang="hu-HU" smtClean="0"/>
              <a:t>2026. 05. 10.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5978846-98C1-4CBB-9575-B60993681694}" type="slidenum">
              <a:rPr lang="hu-HU" smtClean="0"/>
              <a:t>‹#›</a:t>
            </a:fld>
            <a:endParaRPr lang="hu-H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156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1.png"/><Relationship Id="rId5" Type="http://schemas.openxmlformats.org/officeDocument/2006/relationships/image" Target="../media/image6.png"/><Relationship Id="rId10" Type="http://schemas.openxmlformats.org/officeDocument/2006/relationships/image" Target="../media/image10.pn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2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10.png"/><Relationship Id="rId4" Type="http://schemas.openxmlformats.org/officeDocument/2006/relationships/image" Target="../media/image9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1.png"/><Relationship Id="rId7" Type="http://schemas.openxmlformats.org/officeDocument/2006/relationships/image" Target="../media/image24.png"/><Relationship Id="rId2" Type="http://schemas.openxmlformats.org/officeDocument/2006/relationships/image" Target="../media/image1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7" Type="http://schemas.openxmlformats.org/officeDocument/2006/relationships/image" Target="../media/image20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25.png"/><Relationship Id="rId4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8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3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microsoft.com/office/2007/relationships/hdphoto" Target="../media/hdphoto1.wdp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hyperlink" Target="https://quizizz.com/admin/assessment/6807ad97c951d10977d0cbbc?source=lesson_share" TargetMode="External"/><Relationship Id="rId1" Type="http://schemas.openxmlformats.org/officeDocument/2006/relationships/slideLayout" Target="../slideLayouts/slideLayout1.xml"/><Relationship Id="rId4" Type="http://schemas.microsoft.com/office/2007/relationships/hdphoto" Target="../media/hdphoto3.wdp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15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7" Type="http://schemas.openxmlformats.org/officeDocument/2006/relationships/image" Target="../media/image19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15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Relationship Id="rId5" Type="http://schemas.openxmlformats.org/officeDocument/2006/relationships/image" Target="../media/image200.png"/><Relationship Id="rId4" Type="http://schemas.openxmlformats.org/officeDocument/2006/relationships/image" Target="../media/image5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4.jpe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5.png"/><Relationship Id="rId5" Type="http://schemas.openxmlformats.org/officeDocument/2006/relationships/image" Target="../media/image420.png"/><Relationship Id="rId4" Type="http://schemas.openxmlformats.org/officeDocument/2006/relationships/image" Target="../media/image41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4AFE90-7400-D4AF-41D4-00BC4EFF70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374982" cy="3566160"/>
          </a:xfrm>
        </p:spPr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Lecture</a:t>
            </a:r>
            <a:r>
              <a:rPr lang="hu-HU" dirty="0">
                <a:latin typeface="Book Antiqua" panose="02040602050305030304" pitchFamily="18" charset="0"/>
              </a:rPr>
              <a:t> 13: </a:t>
            </a:r>
            <a:br>
              <a:rPr lang="hu-HU" dirty="0">
                <a:latin typeface="Book Antiqua" panose="02040602050305030304" pitchFamily="18" charset="0"/>
              </a:rPr>
            </a:br>
            <a:r>
              <a:rPr lang="hu-HU" b="1" dirty="0" err="1">
                <a:latin typeface="Book Antiqua" panose="02040602050305030304" pitchFamily="18" charset="0"/>
              </a:rPr>
              <a:t>Radioactive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decay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C049085-C019-8B5F-2F13-A600D3FD2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822234"/>
          </a:xfrm>
        </p:spPr>
        <p:txBody>
          <a:bodyPr/>
          <a:lstStyle/>
          <a:p>
            <a:r>
              <a:rPr lang="hu-HU" dirty="0"/>
              <a:t>Modern </a:t>
            </a:r>
            <a:r>
              <a:rPr lang="hu-HU" dirty="0" err="1"/>
              <a:t>physics</a:t>
            </a:r>
            <a:endParaRPr lang="hu-HU" dirty="0"/>
          </a:p>
          <a:p>
            <a:r>
              <a:rPr lang="hu-HU" b="1" dirty="0"/>
              <a:t>Dr. Szilvási Réka</a:t>
            </a:r>
          </a:p>
          <a:p>
            <a:r>
              <a:rPr lang="hu-HU" sz="1800" dirty="0" err="1"/>
              <a:t>Assistant</a:t>
            </a:r>
            <a:r>
              <a:rPr lang="hu-HU" sz="1800" dirty="0"/>
              <a:t> professor</a:t>
            </a:r>
          </a:p>
          <a:p>
            <a:r>
              <a:rPr lang="hu-HU" sz="1600" dirty="0"/>
              <a:t>BME NTI</a:t>
            </a:r>
          </a:p>
          <a:p>
            <a:endParaRPr lang="hu-HU" dirty="0"/>
          </a:p>
        </p:txBody>
      </p:sp>
      <p:pic>
        <p:nvPicPr>
          <p:cNvPr id="4" name="Picture 8" descr="D:\aszodi\doc\Reaktor\Logo\NTIlogo6-single_400.GIF">
            <a:extLst>
              <a:ext uri="{FF2B5EF4-FFF2-40B4-BE49-F238E27FC236}">
                <a16:creationId xmlns:a16="http://schemas.microsoft.com/office/drawing/2014/main" id="{60C23D00-DB5C-2F93-40D4-B195C6226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99896" y="186575"/>
            <a:ext cx="1147762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 descr="intezetiigazgato">
            <a:extLst>
              <a:ext uri="{FF2B5EF4-FFF2-40B4-BE49-F238E27FC236}">
                <a16:creationId xmlns:a16="http://schemas.microsoft.com/office/drawing/2014/main" id="{3622D414-6DED-832F-42CF-DF8CFAA53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22"/>
          <a:stretch>
            <a:fillRect/>
          </a:stretch>
        </p:blipFill>
        <p:spPr bwMode="auto">
          <a:xfrm>
            <a:off x="344342" y="153948"/>
            <a:ext cx="2381250" cy="539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25971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10A6D48-70F9-38B5-8F5D-6562C77C2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latin typeface="Book Antiqua" panose="02040602050305030304" pitchFamily="18" charset="0"/>
              </a:rPr>
              <a:t>Outline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F3D2F05-7DDE-B173-7D61-BE9571D45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dirty="0"/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Nuclear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stability</a:t>
            </a:r>
            <a:r>
              <a:rPr lang="hu-HU" sz="2400" dirty="0">
                <a:latin typeface="Book Antiqua" panose="02040602050305030304" pitchFamily="18" charset="0"/>
              </a:rPr>
              <a:t>, </a:t>
            </a:r>
            <a:r>
              <a:rPr lang="hu-HU" sz="2400" dirty="0" err="1">
                <a:latin typeface="Book Antiqua" panose="02040602050305030304" pitchFamily="18" charset="0"/>
              </a:rPr>
              <a:t>the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valley</a:t>
            </a: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of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stability</a:t>
            </a:r>
            <a:endParaRPr lang="hu-HU" sz="2400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2400" dirty="0" err="1">
                <a:latin typeface="Book Antiqua" panose="02040602050305030304" pitchFamily="18" charset="0"/>
              </a:rPr>
              <a:t>Understanding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radioactive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decay</a:t>
            </a:r>
            <a:endParaRPr lang="hu-HU" sz="24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Discussing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the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three</a:t>
            </a: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types</a:t>
            </a: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of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modes</a:t>
            </a:r>
            <a:endParaRPr lang="hu-HU" sz="2400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Exponential</a:t>
            </a: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law</a:t>
            </a:r>
            <a:r>
              <a:rPr lang="hu-HU" sz="24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>
                <a:latin typeface="Book Antiqua" panose="02040602050305030304" pitchFamily="18" charset="0"/>
              </a:rPr>
              <a:t>and </a:t>
            </a:r>
            <a:r>
              <a:rPr lang="hu-HU" sz="2400" dirty="0" err="1">
                <a:latin typeface="Book Antiqua" panose="02040602050305030304" pitchFamily="18" charset="0"/>
              </a:rPr>
              <a:t>decay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chains</a:t>
            </a:r>
            <a:endParaRPr lang="hu-HU" sz="2400" dirty="0">
              <a:latin typeface="Book Antiqua" panose="02040602050305030304" pitchFamily="18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dirty="0" err="1">
                <a:latin typeface="Book Antiqua" panose="02040602050305030304" pitchFamily="18" charset="0"/>
              </a:rPr>
              <a:t>Radioactive</a:t>
            </a:r>
            <a:r>
              <a:rPr lang="hu-HU" sz="2400" dirty="0">
                <a:latin typeface="Book Antiqua" panose="02040602050305030304" pitchFamily="18" charset="0"/>
              </a:rPr>
              <a:t> </a:t>
            </a:r>
            <a:r>
              <a:rPr lang="hu-HU" sz="24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dating</a:t>
            </a:r>
            <a:endParaRPr lang="hu-HU" b="1" dirty="0">
              <a:solidFill>
                <a:schemeClr val="accent1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41000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D0DC4-9EE8-E632-49F1-4A7FFE76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4AF89E9E-6508-3516-4F14-A3D21ECD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latin typeface="Book Antiqua" panose="02040602050305030304" pitchFamily="18" charset="0"/>
              </a:rPr>
              <a:t>The </a:t>
            </a:r>
            <a:r>
              <a:rPr lang="hu-HU" dirty="0" err="1">
                <a:latin typeface="Book Antiqua" panose="02040602050305030304" pitchFamily="18" charset="0"/>
              </a:rPr>
              <a:t>valley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stability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20E793C-4B85-E309-FEC7-866296AD9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Understanding</a:t>
            </a:r>
            <a:r>
              <a:rPr lang="hu-HU" dirty="0"/>
              <a:t> </a:t>
            </a:r>
            <a:r>
              <a:rPr lang="hu-HU" dirty="0" err="1"/>
              <a:t>nuclear</a:t>
            </a:r>
            <a:r>
              <a:rPr lang="hu-HU" dirty="0"/>
              <a:t> </a:t>
            </a:r>
            <a:r>
              <a:rPr lang="hu-HU" dirty="0" err="1"/>
              <a:t>decay</a:t>
            </a:r>
            <a:endParaRPr lang="en-GB" dirty="0"/>
          </a:p>
        </p:txBody>
      </p: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00742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 számának helye 2">
            <a:extLst>
              <a:ext uri="{FF2B5EF4-FFF2-40B4-BE49-F238E27FC236}">
                <a16:creationId xmlns:a16="http://schemas.microsoft.com/office/drawing/2014/main" id="{9345AFFE-0391-FB42-B760-2F96CD15F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</a:t>
            </a:fld>
            <a:endParaRPr lang="hu-HU"/>
          </a:p>
        </p:txBody>
      </p:sp>
      <p:sp>
        <p:nvSpPr>
          <p:cNvPr id="6" name="Téglalap 5">
            <a:extLst>
              <a:ext uri="{FF2B5EF4-FFF2-40B4-BE49-F238E27FC236}">
                <a16:creationId xmlns:a16="http://schemas.microsoft.com/office/drawing/2014/main" id="{0D4CAF52-C2E5-E0CF-B3FB-39EAFC306A76}"/>
              </a:ext>
            </a:extLst>
          </p:cNvPr>
          <p:cNvSpPr/>
          <p:nvPr/>
        </p:nvSpPr>
        <p:spPr>
          <a:xfrm>
            <a:off x="462913" y="2222278"/>
            <a:ext cx="736315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Téglalap 8">
            <a:extLst>
              <a:ext uri="{FF2B5EF4-FFF2-40B4-BE49-F238E27FC236}">
                <a16:creationId xmlns:a16="http://schemas.microsoft.com/office/drawing/2014/main" id="{CFFF8C6A-68A5-B879-6840-3F9627A6D40D}"/>
              </a:ext>
            </a:extLst>
          </p:cNvPr>
          <p:cNvSpPr/>
          <p:nvPr/>
        </p:nvSpPr>
        <p:spPr>
          <a:xfrm>
            <a:off x="2352710" y="5757295"/>
            <a:ext cx="736315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Téglalap 10">
            <a:extLst>
              <a:ext uri="{FF2B5EF4-FFF2-40B4-BE49-F238E27FC236}">
                <a16:creationId xmlns:a16="http://schemas.microsoft.com/office/drawing/2014/main" id="{C6185A33-798A-9E2F-5230-3AF19DAFA5B0}"/>
              </a:ext>
            </a:extLst>
          </p:cNvPr>
          <p:cNvSpPr/>
          <p:nvPr/>
        </p:nvSpPr>
        <p:spPr>
          <a:xfrm>
            <a:off x="901053" y="4753443"/>
            <a:ext cx="979867" cy="2600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FF84A72E-B64B-6F43-086D-83539FCD6BF5}"/>
              </a:ext>
            </a:extLst>
          </p:cNvPr>
          <p:cNvGrpSpPr/>
          <p:nvPr/>
        </p:nvGrpSpPr>
        <p:grpSpPr>
          <a:xfrm>
            <a:off x="64394" y="213173"/>
            <a:ext cx="3270921" cy="2815077"/>
            <a:chOff x="2839792" y="2222277"/>
            <a:chExt cx="3270921" cy="2815077"/>
          </a:xfrm>
        </p:grpSpPr>
        <p:pic>
          <p:nvPicPr>
            <p:cNvPr id="5" name="Kép 4">
              <a:extLst>
                <a:ext uri="{FF2B5EF4-FFF2-40B4-BE49-F238E27FC236}">
                  <a16:creationId xmlns:a16="http://schemas.microsoft.com/office/drawing/2014/main" id="{242FBF7C-A516-9FE5-5986-B38029144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8310" r="-1" b="28913"/>
            <a:stretch/>
          </p:blipFill>
          <p:spPr>
            <a:xfrm>
              <a:off x="2839792" y="2222278"/>
              <a:ext cx="3038553" cy="2815076"/>
            </a:xfrm>
            <a:prstGeom prst="rect">
              <a:avLst/>
            </a:prstGeom>
          </p:spPr>
        </p:pic>
        <p:sp>
          <p:nvSpPr>
            <p:cNvPr id="7" name="Téglalap 6">
              <a:extLst>
                <a:ext uri="{FF2B5EF4-FFF2-40B4-BE49-F238E27FC236}">
                  <a16:creationId xmlns:a16="http://schemas.microsoft.com/office/drawing/2014/main" id="{F9ADBB36-3438-FF66-DD82-E687DA5F66A6}"/>
                </a:ext>
              </a:extLst>
            </p:cNvPr>
            <p:cNvSpPr/>
            <p:nvPr/>
          </p:nvSpPr>
          <p:spPr>
            <a:xfrm>
              <a:off x="3154883" y="2222277"/>
              <a:ext cx="736315" cy="260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8" name="Téglalap 7">
              <a:extLst>
                <a:ext uri="{FF2B5EF4-FFF2-40B4-BE49-F238E27FC236}">
                  <a16:creationId xmlns:a16="http://schemas.microsoft.com/office/drawing/2014/main" id="{0CEC3488-C534-F39F-3C9E-012E485819FD}"/>
                </a:ext>
              </a:extLst>
            </p:cNvPr>
            <p:cNvSpPr/>
            <p:nvPr/>
          </p:nvSpPr>
          <p:spPr>
            <a:xfrm>
              <a:off x="5018347" y="3080356"/>
              <a:ext cx="736315" cy="260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0" name="Téglalap 9">
              <a:extLst>
                <a:ext uri="{FF2B5EF4-FFF2-40B4-BE49-F238E27FC236}">
                  <a16:creationId xmlns:a16="http://schemas.microsoft.com/office/drawing/2014/main" id="{170EC4C3-EEF2-07B5-C2E7-7C2EDAA51649}"/>
                </a:ext>
              </a:extLst>
            </p:cNvPr>
            <p:cNvSpPr/>
            <p:nvPr/>
          </p:nvSpPr>
          <p:spPr>
            <a:xfrm>
              <a:off x="3574655" y="4753443"/>
              <a:ext cx="979867" cy="26004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2" name="Téglalap 11">
              <a:extLst>
                <a:ext uri="{FF2B5EF4-FFF2-40B4-BE49-F238E27FC236}">
                  <a16:creationId xmlns:a16="http://schemas.microsoft.com/office/drawing/2014/main" id="{DEBDD579-15DF-441C-7638-845EEF7AC7FC}"/>
                </a:ext>
              </a:extLst>
            </p:cNvPr>
            <p:cNvSpPr/>
            <p:nvPr/>
          </p:nvSpPr>
          <p:spPr>
            <a:xfrm>
              <a:off x="4462551" y="3924407"/>
              <a:ext cx="658502" cy="3792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  <p:sp>
          <p:nvSpPr>
            <p:cNvPr id="14" name="Téglalap 13">
              <a:extLst>
                <a:ext uri="{FF2B5EF4-FFF2-40B4-BE49-F238E27FC236}">
                  <a16:creationId xmlns:a16="http://schemas.microsoft.com/office/drawing/2014/main" id="{3132CA65-AC54-D215-6A06-51117CF2B594}"/>
                </a:ext>
              </a:extLst>
            </p:cNvPr>
            <p:cNvSpPr/>
            <p:nvPr/>
          </p:nvSpPr>
          <p:spPr>
            <a:xfrm>
              <a:off x="4431055" y="3701304"/>
              <a:ext cx="1679658" cy="82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u-HU" sz="24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Binding</a:t>
              </a:r>
              <a:r>
                <a:rPr lang="hu-HU" sz="2400" b="1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sz="2400" b="1" dirty="0" err="1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energy</a:t>
              </a:r>
              <a:endParaRPr lang="hu-HU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D3B46972-43EA-D5FE-23BF-DCE408704DA9}"/>
                </a:ext>
              </a:extLst>
            </p:cNvPr>
            <p:cNvSpPr txBox="1"/>
            <p:nvPr/>
          </p:nvSpPr>
          <p:spPr>
            <a:xfrm>
              <a:off x="4791802" y="3032626"/>
              <a:ext cx="84189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400" dirty="0" err="1">
                  <a:latin typeface="Book Antiqua" panose="02040602050305030304" pitchFamily="18" charset="0"/>
                </a:rPr>
                <a:t>distance</a:t>
              </a:r>
              <a:endParaRPr lang="hu-HU" sz="1400" dirty="0">
                <a:latin typeface="Book Antiqua" panose="02040602050305030304" pitchFamily="18" charset="0"/>
              </a:endParaRPr>
            </a:p>
          </p:txBody>
        </p:sp>
        <p:sp>
          <p:nvSpPr>
            <p:cNvPr id="18" name="Szövegdoboz 17">
              <a:extLst>
                <a:ext uri="{FF2B5EF4-FFF2-40B4-BE49-F238E27FC236}">
                  <a16:creationId xmlns:a16="http://schemas.microsoft.com/office/drawing/2014/main" id="{66033579-9860-764F-B4B6-AAB79F968963}"/>
                </a:ext>
              </a:extLst>
            </p:cNvPr>
            <p:cNvSpPr txBox="1"/>
            <p:nvPr/>
          </p:nvSpPr>
          <p:spPr>
            <a:xfrm>
              <a:off x="3574655" y="2315163"/>
              <a:ext cx="73129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400" dirty="0" err="1">
                  <a:latin typeface="Book Antiqua" panose="02040602050305030304" pitchFamily="18" charset="0"/>
                </a:rPr>
                <a:t>energy</a:t>
              </a:r>
              <a:endParaRPr lang="hu-HU" sz="1400" dirty="0">
                <a:latin typeface="Book Antiqua" panose="02040602050305030304" pitchFamily="18" charset="0"/>
              </a:endParaRPr>
            </a:p>
          </p:txBody>
        </p:sp>
        <p:sp>
          <p:nvSpPr>
            <p:cNvPr id="20" name="Szövegdoboz 19">
              <a:extLst>
                <a:ext uri="{FF2B5EF4-FFF2-40B4-BE49-F238E27FC236}">
                  <a16:creationId xmlns:a16="http://schemas.microsoft.com/office/drawing/2014/main" id="{0B91BBF9-163A-FFCC-F0F5-23C1683A042E}"/>
                </a:ext>
              </a:extLst>
            </p:cNvPr>
            <p:cNvSpPr txBox="1"/>
            <p:nvPr/>
          </p:nvSpPr>
          <p:spPr>
            <a:xfrm>
              <a:off x="3484079" y="4729577"/>
              <a:ext cx="112883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400" dirty="0" err="1">
                  <a:latin typeface="Book Antiqua" panose="02040602050305030304" pitchFamily="18" charset="0"/>
                </a:rPr>
                <a:t>Bound</a:t>
              </a:r>
              <a:r>
                <a:rPr lang="hu-HU" sz="1400" dirty="0">
                  <a:latin typeface="Book Antiqua" panose="02040602050305030304" pitchFamily="18" charset="0"/>
                </a:rPr>
                <a:t> </a:t>
              </a:r>
              <a:r>
                <a:rPr lang="hu-HU" sz="1400" dirty="0" err="1">
                  <a:latin typeface="Book Antiqua" panose="02040602050305030304" pitchFamily="18" charset="0"/>
                </a:rPr>
                <a:t>state</a:t>
              </a:r>
              <a:endParaRPr lang="hu-HU" sz="1400" dirty="0">
                <a:latin typeface="Book Antiqua" panose="0204060205030503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Szövegdoboz 21">
                <a:extLst>
                  <a:ext uri="{FF2B5EF4-FFF2-40B4-BE49-F238E27FC236}">
                    <a16:creationId xmlns:a16="http://schemas.microsoft.com/office/drawing/2014/main" id="{FBDBAC37-14F3-5DE1-3995-8D4BC178170A}"/>
                  </a:ext>
                </a:extLst>
              </p:cNvPr>
              <p:cNvSpPr txBox="1"/>
              <p:nvPr/>
            </p:nvSpPr>
            <p:spPr>
              <a:xfrm>
                <a:off x="4272449" y="693740"/>
                <a:ext cx="4467762" cy="6199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hu-HU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hu-HU" i="1">
                          <a:latin typeface="Cambria Math" panose="02040503050406030204" pitchFamily="18" charset="0"/>
                        </a:rPr>
                        <m:t>𝑀</m:t>
                      </m:r>
                      <m:d>
                        <m:d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</m:d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hu-HU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hu-HU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𝒁</m:t>
                          </m:r>
                          <m:r>
                            <a:rPr lang="hu-HU" b="1" i="1" smtClean="0">
                              <a:effectLst>
                                <a:outerShdw blurRad="38100" dist="38100" dir="2700000" algn="tl">
                                  <a:srgbClr val="000000">
                                    <a:alpha val="43137"/>
                                  </a:srgbClr>
                                </a:outerShdw>
                              </a:effectLst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Szövegdoboz 21">
                <a:extLst>
                  <a:ext uri="{FF2B5EF4-FFF2-40B4-BE49-F238E27FC236}">
                    <a16:creationId xmlns:a16="http://schemas.microsoft.com/office/drawing/2014/main" id="{FBDBAC37-14F3-5DE1-3995-8D4BC17817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2449" y="693740"/>
                <a:ext cx="4467762" cy="619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Szövegdoboz 22">
                <a:extLst>
                  <a:ext uri="{FF2B5EF4-FFF2-40B4-BE49-F238E27FC236}">
                    <a16:creationId xmlns:a16="http://schemas.microsoft.com/office/drawing/2014/main" id="{1C1F47FE-1B17-9E92-1BAB-3DF6E4367FE3}"/>
                  </a:ext>
                </a:extLst>
              </p:cNvPr>
              <p:cNvSpPr txBox="1"/>
              <p:nvPr/>
            </p:nvSpPr>
            <p:spPr>
              <a:xfrm>
                <a:off x="3684755" y="1794285"/>
                <a:ext cx="6015942" cy="649858"/>
              </a:xfrm>
              <a:prstGeom prst="rect">
                <a:avLst/>
              </a:prstGeom>
              <a:noFill/>
              <a:ln w="603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hu-HU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u-HU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𝑨</m:t>
                      </m:r>
                      <m:r>
                        <a:rPr lang="hu-HU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u-HU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𝒁</m:t>
                      </m:r>
                      <m:r>
                        <a:rPr lang="hu-HU" b="1" i="1" smtClean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  <m:sSup>
                        <m:sSup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2/3</m:t>
                          </m:r>
                        </m:sup>
                      </m:sSup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hu-HU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hu-HU" b="0" i="1" smtClean="0">
                                  <a:latin typeface="Cambria Math" panose="02040503050406030204" pitchFamily="18" charset="0"/>
                                </a:rPr>
                                <m:t>1/3</m:t>
                              </m:r>
                            </m:sup>
                          </m:sSup>
                        </m:den>
                      </m:f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f>
                        <m:fPr>
                          <m:ctrlPr>
                            <a:rPr lang="hu-H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hu-HU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u-HU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hu-HU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</m:d>
                            </m:e>
                            <m:sup>
                              <m:r>
                                <a:rPr lang="hu-H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hu-HU" i="1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sSub>
                        <m:sSub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hu-HU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sSup>
                        <m:sSupPr>
                          <m:ctrlP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23" name="Szövegdoboz 22">
                <a:extLst>
                  <a:ext uri="{FF2B5EF4-FFF2-40B4-BE49-F238E27FC236}">
                    <a16:creationId xmlns:a16="http://schemas.microsoft.com/office/drawing/2014/main" id="{1C1F47FE-1B17-9E92-1BAB-3DF6E4367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4755" y="1794285"/>
                <a:ext cx="6015942" cy="64985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60325"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Csoportba foglalás 23">
            <a:extLst>
              <a:ext uri="{FF2B5EF4-FFF2-40B4-BE49-F238E27FC236}">
                <a16:creationId xmlns:a16="http://schemas.microsoft.com/office/drawing/2014/main" id="{BB9200BC-7556-94C7-4260-6844029336F7}"/>
              </a:ext>
            </a:extLst>
          </p:cNvPr>
          <p:cNvGrpSpPr/>
          <p:nvPr/>
        </p:nvGrpSpPr>
        <p:grpSpPr>
          <a:xfrm>
            <a:off x="10050137" y="910533"/>
            <a:ext cx="1895018" cy="2009540"/>
            <a:chOff x="4193300" y="3287783"/>
            <a:chExt cx="1895018" cy="2009540"/>
          </a:xfrm>
        </p:grpSpPr>
        <p:pic>
          <p:nvPicPr>
            <p:cNvPr id="25" name="Kép 24">
              <a:extLst>
                <a:ext uri="{FF2B5EF4-FFF2-40B4-BE49-F238E27FC236}">
                  <a16:creationId xmlns:a16="http://schemas.microsoft.com/office/drawing/2014/main" id="{4F5EE706-BF1D-8690-B9C4-C217DF9258D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1" r="48906" b="-29815"/>
            <a:stretch/>
          </p:blipFill>
          <p:spPr>
            <a:xfrm>
              <a:off x="4193300" y="3287783"/>
              <a:ext cx="1895018" cy="2009539"/>
            </a:xfrm>
            <a:prstGeom prst="rect">
              <a:avLst/>
            </a:prstGeom>
          </p:spPr>
        </p:pic>
        <p:pic>
          <p:nvPicPr>
            <p:cNvPr id="26" name="Kép 25">
              <a:extLst>
                <a:ext uri="{FF2B5EF4-FFF2-40B4-BE49-F238E27FC236}">
                  <a16:creationId xmlns:a16="http://schemas.microsoft.com/office/drawing/2014/main" id="{01B1C492-2682-8675-05FA-D3F0D963C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r="51060"/>
            <a:stretch/>
          </p:blipFill>
          <p:spPr>
            <a:xfrm>
              <a:off x="4326480" y="4835785"/>
              <a:ext cx="1761838" cy="461538"/>
            </a:xfrm>
            <a:prstGeom prst="rect">
              <a:avLst/>
            </a:prstGeom>
          </p:spPr>
        </p:pic>
      </p:grpSp>
      <p:grpSp>
        <p:nvGrpSpPr>
          <p:cNvPr id="33" name="Csoportba foglalás 32">
            <a:extLst>
              <a:ext uri="{FF2B5EF4-FFF2-40B4-BE49-F238E27FC236}">
                <a16:creationId xmlns:a16="http://schemas.microsoft.com/office/drawing/2014/main" id="{29387779-DAA5-5C3E-C8D4-2CBDD2FFDB09}"/>
              </a:ext>
            </a:extLst>
          </p:cNvPr>
          <p:cNvGrpSpPr/>
          <p:nvPr/>
        </p:nvGrpSpPr>
        <p:grpSpPr>
          <a:xfrm>
            <a:off x="3443511" y="3405277"/>
            <a:ext cx="6456947" cy="571337"/>
            <a:chOff x="2695074" y="3447208"/>
            <a:chExt cx="6456947" cy="571337"/>
          </a:xfrm>
        </p:grpSpPr>
        <p:grpSp>
          <p:nvGrpSpPr>
            <p:cNvPr id="29" name="Csoportba foglalás 28">
              <a:extLst>
                <a:ext uri="{FF2B5EF4-FFF2-40B4-BE49-F238E27FC236}">
                  <a16:creationId xmlns:a16="http://schemas.microsoft.com/office/drawing/2014/main" id="{7D32F59B-D078-BFFD-A63B-7E5439C72BA5}"/>
                </a:ext>
              </a:extLst>
            </p:cNvPr>
            <p:cNvGrpSpPr/>
            <p:nvPr/>
          </p:nvGrpSpPr>
          <p:grpSpPr>
            <a:xfrm>
              <a:off x="2768058" y="3447208"/>
              <a:ext cx="6301479" cy="521839"/>
              <a:chOff x="2768058" y="3447208"/>
              <a:chExt cx="6301479" cy="521839"/>
            </a:xfrm>
          </p:grpSpPr>
          <p:pic>
            <p:nvPicPr>
              <p:cNvPr id="30" name="Kép 29">
                <a:extLst>
                  <a:ext uri="{FF2B5EF4-FFF2-40B4-BE49-F238E27FC236}">
                    <a16:creationId xmlns:a16="http://schemas.microsoft.com/office/drawing/2014/main" id="{30A04DB6-E6E1-520C-F66F-DB3EEEF78E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rcRect r="14181" b="-1552"/>
              <a:stretch/>
            </p:blipFill>
            <p:spPr>
              <a:xfrm>
                <a:off x="2768058" y="3447208"/>
                <a:ext cx="5437479" cy="521839"/>
              </a:xfrm>
              <a:prstGeom prst="rect">
                <a:avLst/>
              </a:prstGeom>
              <a:ln w="12700">
                <a:noFill/>
              </a:ln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Szövegdoboz 30">
                    <a:extLst>
                      <a:ext uri="{FF2B5EF4-FFF2-40B4-BE49-F238E27FC236}">
                        <a16:creationId xmlns:a16="http://schemas.microsoft.com/office/drawing/2014/main" id="{261841E1-0845-11D2-8BCA-A1878D0ACF8A}"/>
                      </a:ext>
                    </a:extLst>
                  </p:cNvPr>
                  <p:cNvSpPr txBox="1"/>
                  <p:nvPr/>
                </p:nvSpPr>
                <p:spPr>
                  <a:xfrm>
                    <a:off x="8205537" y="3541863"/>
                    <a:ext cx="864000" cy="37241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hu-HU" sz="160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u-HU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b>
                              <m:r>
                                <a:rPr lang="hu-HU" sz="1600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hu-HU" sz="1600" b="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𝛿</m:t>
                          </m:r>
                          <m:sSup>
                            <m:sSupPr>
                              <m:ctrlPr>
                                <a:rPr lang="hu-HU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u-HU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hu-HU" sz="1600" b="0" i="1" smtClean="0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4/3</m:t>
                              </m:r>
                            </m:sup>
                          </m:sSup>
                        </m:oMath>
                      </m:oMathPara>
                    </a14:m>
                    <a:endParaRPr lang="hu-HU" sz="1600" dirty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7" name="Szövegdoboz 16">
                    <a:extLst>
                      <a:ext uri="{FF2B5EF4-FFF2-40B4-BE49-F238E27FC236}">
                        <a16:creationId xmlns:a16="http://schemas.microsoft.com/office/drawing/2014/main" id="{829D7B23-C5E3-A112-B2F7-40435FC33DB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205537" y="3541863"/>
                    <a:ext cx="864000" cy="3724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3279"/>
                    </a:stretch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hu-HU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2" name="Téglalap 31">
              <a:extLst>
                <a:ext uri="{FF2B5EF4-FFF2-40B4-BE49-F238E27FC236}">
                  <a16:creationId xmlns:a16="http://schemas.microsoft.com/office/drawing/2014/main" id="{85FDA329-D95C-08A0-A70C-4E1DC18B8628}"/>
                </a:ext>
              </a:extLst>
            </p:cNvPr>
            <p:cNvSpPr/>
            <p:nvPr/>
          </p:nvSpPr>
          <p:spPr>
            <a:xfrm>
              <a:off x="2695074" y="3447208"/>
              <a:ext cx="6456947" cy="571337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hu-HU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églalap 33">
                <a:extLst>
                  <a:ext uri="{FF2B5EF4-FFF2-40B4-BE49-F238E27FC236}">
                    <a16:creationId xmlns:a16="http://schemas.microsoft.com/office/drawing/2014/main" id="{76E0A2D3-C611-749B-BAC8-A249F2FBEC0B}"/>
                  </a:ext>
                </a:extLst>
              </p:cNvPr>
              <p:cNvSpPr/>
              <p:nvPr/>
            </p:nvSpPr>
            <p:spPr>
              <a:xfrm>
                <a:off x="10494055" y="2920072"/>
                <a:ext cx="1584280" cy="681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sz="1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hu-H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hu-H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hu-HU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0, 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𝑜𝑑𝑑</m:t>
                                </m:r>
                              </m:e>
                            </m:mr>
                            <m:mr>
                              <m:e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1, 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u-HU" sz="1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𝑒𝑣𝑒𝑛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34" name="Téglalap 33">
                <a:extLst>
                  <a:ext uri="{FF2B5EF4-FFF2-40B4-BE49-F238E27FC236}">
                    <a16:creationId xmlns:a16="http://schemas.microsoft.com/office/drawing/2014/main" id="{76E0A2D3-C611-749B-BAC8-A249F2FBEC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4055" y="2920072"/>
                <a:ext cx="1584280" cy="68191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Szövegdoboz 34">
                <a:extLst>
                  <a:ext uri="{FF2B5EF4-FFF2-40B4-BE49-F238E27FC236}">
                    <a16:creationId xmlns:a16="http://schemas.microsoft.com/office/drawing/2014/main" id="{36885250-8F73-18A8-DA80-F41C574CFE59}"/>
                  </a:ext>
                </a:extLst>
              </p:cNvPr>
              <p:cNvSpPr txBox="1"/>
              <p:nvPr/>
            </p:nvSpPr>
            <p:spPr>
              <a:xfrm>
                <a:off x="600332" y="4046382"/>
                <a:ext cx="1962460" cy="379656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𝑛𝑢𝑐𝑙𝑒𝑢𝑠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1/3</m:t>
                          </m:r>
                        </m:sup>
                      </m:sSup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5" name="Szövegdoboz 34">
                <a:extLst>
                  <a:ext uri="{FF2B5EF4-FFF2-40B4-BE49-F238E27FC236}">
                    <a16:creationId xmlns:a16="http://schemas.microsoft.com/office/drawing/2014/main" id="{36885250-8F73-18A8-DA80-F41C574CF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32" y="4046382"/>
                <a:ext cx="1962460" cy="37965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Szövegdoboz 35">
                <a:extLst>
                  <a:ext uri="{FF2B5EF4-FFF2-40B4-BE49-F238E27FC236}">
                    <a16:creationId xmlns:a16="http://schemas.microsoft.com/office/drawing/2014/main" id="{E1EA818B-A6E7-86D1-F7CB-928C3BBD485C}"/>
                  </a:ext>
                </a:extLst>
              </p:cNvPr>
              <p:cNvSpPr txBox="1"/>
              <p:nvPr/>
            </p:nvSpPr>
            <p:spPr>
              <a:xfrm>
                <a:off x="708399" y="4584682"/>
                <a:ext cx="1505694" cy="369332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 w="381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𝑬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=−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𝑩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&lt;</m:t>
                    </m:r>
                    <m:r>
                      <a:rPr lang="hu-HU" b="1" i="1" smtClean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hu-HU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 </a:t>
                </a:r>
              </a:p>
            </p:txBody>
          </p:sp>
        </mc:Choice>
        <mc:Fallback xmlns="">
          <p:sp>
            <p:nvSpPr>
              <p:cNvPr id="36" name="Szövegdoboz 35">
                <a:extLst>
                  <a:ext uri="{FF2B5EF4-FFF2-40B4-BE49-F238E27FC236}">
                    <a16:creationId xmlns:a16="http://schemas.microsoft.com/office/drawing/2014/main" id="{E1EA818B-A6E7-86D1-F7CB-928C3BBD48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399" y="4584682"/>
                <a:ext cx="150569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solidFill>
                  <a:srgbClr val="FF000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églalap 36">
            <a:extLst>
              <a:ext uri="{FF2B5EF4-FFF2-40B4-BE49-F238E27FC236}">
                <a16:creationId xmlns:a16="http://schemas.microsoft.com/office/drawing/2014/main" id="{DBB11562-E770-49D3-716A-765B6496DFAF}"/>
              </a:ext>
            </a:extLst>
          </p:cNvPr>
          <p:cNvSpPr/>
          <p:nvPr/>
        </p:nvSpPr>
        <p:spPr>
          <a:xfrm>
            <a:off x="498301" y="3909948"/>
            <a:ext cx="2064491" cy="1323473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9393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CBDBA-4646-864C-B548-67C55CF62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BDB86A8-3BA6-E197-AF1F-2131C8A38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valley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2492ED4E-2E56-7D3A-A208-FEB0B7F6E835}"/>
              </a:ext>
            </a:extLst>
          </p:cNvPr>
          <p:cNvSpPr txBox="1"/>
          <p:nvPr/>
        </p:nvSpPr>
        <p:spPr>
          <a:xfrm>
            <a:off x="578714" y="2063841"/>
            <a:ext cx="581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Investigate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average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per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406D76B-7AB8-B1E3-454E-5E69D9A0E425}"/>
                  </a:ext>
                </a:extLst>
              </p:cNvPr>
              <p:cNvSpPr txBox="1"/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D406D76B-7AB8-B1E3-454E-5E69D9A0E4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5845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1FD72-55A4-E55D-F35B-36C7D687B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379EE4F-38E4-5EFD-5ADC-B45641840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valley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F3173D06-4DFB-7C9B-6299-8CF12D666D2B}"/>
              </a:ext>
            </a:extLst>
          </p:cNvPr>
          <p:cNvSpPr txBox="1"/>
          <p:nvPr/>
        </p:nvSpPr>
        <p:spPr>
          <a:xfrm>
            <a:off x="578714" y="2063841"/>
            <a:ext cx="581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Investigate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average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per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13FCEF09-31C2-B8D9-6F22-50ABC6F0381E}"/>
                  </a:ext>
                </a:extLst>
              </p:cNvPr>
              <p:cNvSpPr txBox="1"/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13FCEF09-31C2-B8D9-6F22-50ABC6F038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32F916B5-61A7-D470-ABA4-362B027BF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6</a:t>
            </a:fld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FAE4C73A-91BE-1924-B9C4-70CA829CE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14" y="2557566"/>
            <a:ext cx="2590729" cy="3708000"/>
          </a:xfrm>
          <a:prstGeom prst="rect">
            <a:avLst/>
          </a:prstGeom>
        </p:spPr>
      </p:pic>
      <p:cxnSp>
        <p:nvCxnSpPr>
          <p:cNvPr id="7" name="Egyenes összekötő 6">
            <a:extLst>
              <a:ext uri="{FF2B5EF4-FFF2-40B4-BE49-F238E27FC236}">
                <a16:creationId xmlns:a16="http://schemas.microsoft.com/office/drawing/2014/main" id="{3473E66B-980D-F06D-9E6C-23DD705CB718}"/>
              </a:ext>
            </a:extLst>
          </p:cNvPr>
          <p:cNvCxnSpPr>
            <a:cxnSpLocks/>
          </p:cNvCxnSpPr>
          <p:nvPr/>
        </p:nvCxnSpPr>
        <p:spPr>
          <a:xfrm>
            <a:off x="819150" y="4514850"/>
            <a:ext cx="1362075" cy="13525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7026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ED4B0-8FB7-6874-D949-BD1C7BA2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AC9DBB1-5CAB-59BD-E64E-394DE4F15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valley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46B08D3-BC71-6C07-1888-1C08E55FEC73}"/>
              </a:ext>
            </a:extLst>
          </p:cNvPr>
          <p:cNvSpPr txBox="1"/>
          <p:nvPr/>
        </p:nvSpPr>
        <p:spPr>
          <a:xfrm>
            <a:off x="578714" y="2063841"/>
            <a:ext cx="581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Investigate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average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per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74A1C17E-1898-FA96-F077-07722BDC12C1}"/>
                  </a:ext>
                </a:extLst>
              </p:cNvPr>
              <p:cNvSpPr txBox="1"/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74A1C17E-1898-FA96-F077-07722BDC12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9186AB07-E245-D0FE-8887-992D600B1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7</a:t>
            </a:fld>
            <a:endParaRPr lang="hu-HU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A2DD82D-2CD5-11E5-71BB-7E0FD26FB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14" y="2557566"/>
            <a:ext cx="2590729" cy="3708000"/>
          </a:xfrm>
          <a:prstGeom prst="rect">
            <a:avLst/>
          </a:prstGeom>
        </p:spPr>
      </p:pic>
      <p:sp>
        <p:nvSpPr>
          <p:cNvPr id="6" name="Szövegdoboz 5">
            <a:extLst>
              <a:ext uri="{FF2B5EF4-FFF2-40B4-BE49-F238E27FC236}">
                <a16:creationId xmlns:a16="http://schemas.microsoft.com/office/drawing/2014/main" id="{217CF1DD-EA2B-E3D3-1987-51BD65DDEE58}"/>
              </a:ext>
            </a:extLst>
          </p:cNvPr>
          <p:cNvSpPr txBox="1"/>
          <p:nvPr/>
        </p:nvSpPr>
        <p:spPr>
          <a:xfrm>
            <a:off x="2929505" y="3429000"/>
            <a:ext cx="670376" cy="369332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hu-HU" b="1" dirty="0">
                <a:solidFill>
                  <a:srgbClr val="C00000"/>
                </a:solidFill>
                <a:latin typeface="Book Antiqua" panose="02040602050305030304" pitchFamily="18" charset="0"/>
              </a:rPr>
              <a:t>Z=N</a:t>
            </a: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07760EDE-B6D6-72E2-F9B6-7CC95F8117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0101" y="3199666"/>
            <a:ext cx="4320357" cy="828000"/>
          </a:xfrm>
          <a:prstGeom prst="rect">
            <a:avLst/>
          </a:prstGeom>
        </p:spPr>
      </p:pic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1793817F-9395-A20A-D6FC-779201DFEA79}"/>
              </a:ext>
            </a:extLst>
          </p:cNvPr>
          <p:cNvCxnSpPr/>
          <p:nvPr/>
        </p:nvCxnSpPr>
        <p:spPr>
          <a:xfrm>
            <a:off x="3599881" y="3798332"/>
            <a:ext cx="2057969" cy="10308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B9E8ADD-69CD-01FB-8E4A-3CA9504B3E44}"/>
              </a:ext>
            </a:extLst>
          </p:cNvPr>
          <p:cNvSpPr txBox="1"/>
          <p:nvPr/>
        </p:nvSpPr>
        <p:spPr>
          <a:xfrm>
            <a:off x="5757083" y="4503057"/>
            <a:ext cx="414337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for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not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large</a:t>
            </a:r>
            <a:r>
              <a:rPr lang="hu-HU" dirty="0">
                <a:latin typeface="Book Antiqua" panose="02040602050305030304" pitchFamily="18" charset="0"/>
              </a:rPr>
              <a:t> A: </a:t>
            </a:r>
            <a:r>
              <a:rPr lang="hu-HU" b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Z</a:t>
            </a:r>
            <a:r>
              <a:rPr lang="hu-HU" b="1" baseline="-25000" dirty="0" err="1">
                <a:solidFill>
                  <a:srgbClr val="C00000"/>
                </a:solidFill>
                <a:latin typeface="Book Antiqua" panose="02040602050305030304" pitchFamily="18" charset="0"/>
              </a:rPr>
              <a:t>min</a:t>
            </a:r>
            <a:r>
              <a:rPr lang="hu-HU" b="1" dirty="0">
                <a:solidFill>
                  <a:srgbClr val="C00000"/>
                </a:solidFill>
                <a:latin typeface="Book Antiqua" panose="02040602050305030304" pitchFamily="18" charset="0"/>
              </a:rPr>
              <a:t>=A/2</a:t>
            </a:r>
          </a:p>
          <a:p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light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nuclei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tend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have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equal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r>
              <a:rPr lang="hu-HU" dirty="0">
                <a:latin typeface="Book Antiqua" panose="02040602050305030304" pitchFamily="18" charset="0"/>
              </a:rPr>
              <a:t> and </a:t>
            </a:r>
            <a:r>
              <a:rPr lang="hu-HU" dirty="0" err="1">
                <a:latin typeface="Book Antiqua" panose="02040602050305030304" pitchFamily="18" charset="0"/>
              </a:rPr>
              <a:t>neutrons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small</a:t>
            </a:r>
            <a:r>
              <a:rPr lang="hu-HU" i="1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fermion</a:t>
            </a:r>
            <a:r>
              <a:rPr lang="hu-HU" i="1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number</a:t>
            </a:r>
            <a:r>
              <a:rPr lang="hu-HU" i="1" dirty="0">
                <a:solidFill>
                  <a:srgbClr val="C0000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C00000"/>
                </a:solidFill>
                <a:latin typeface="Book Antiqua" panose="02040602050305030304" pitchFamily="18" charset="0"/>
              </a:rPr>
              <a:t>asymmetry</a:t>
            </a:r>
            <a:endParaRPr lang="hu-HU" i="1" dirty="0">
              <a:solidFill>
                <a:srgbClr val="C00000"/>
              </a:solidFill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6659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6E9158-93F9-AED7-DCBC-D72A12D55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016DD19-6FA9-BD18-6489-C6252C5ED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valley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0DD8369-8901-65A8-A962-552BC8A439B7}"/>
              </a:ext>
            </a:extLst>
          </p:cNvPr>
          <p:cNvSpPr txBox="1"/>
          <p:nvPr/>
        </p:nvSpPr>
        <p:spPr>
          <a:xfrm>
            <a:off x="578714" y="2063841"/>
            <a:ext cx="581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Investigate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average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per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FED872A1-E1A5-2C2B-9A45-C0EEC08DE535}"/>
                  </a:ext>
                </a:extLst>
              </p:cNvPr>
              <p:cNvSpPr txBox="1"/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FED872A1-E1A5-2C2B-9A45-C0EEC08DE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m_par1">
            <a:extLst>
              <a:ext uri="{FF2B5EF4-FFF2-40B4-BE49-F238E27FC236}">
                <a16:creationId xmlns:a16="http://schemas.microsoft.com/office/drawing/2014/main" id="{E8A9481F-594C-7B5D-818A-EF0DEF7E97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14" y="3196180"/>
            <a:ext cx="3707037" cy="2815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Összekötő: görbe 5">
            <a:extLst>
              <a:ext uri="{FF2B5EF4-FFF2-40B4-BE49-F238E27FC236}">
                <a16:creationId xmlns:a16="http://schemas.microsoft.com/office/drawing/2014/main" id="{1EE9349B-337A-F2C9-E079-CEA1B56DCF97}"/>
              </a:ext>
            </a:extLst>
          </p:cNvPr>
          <p:cNvCxnSpPr/>
          <p:nvPr/>
        </p:nvCxnSpPr>
        <p:spPr>
          <a:xfrm rot="5400000">
            <a:off x="-366345" y="2132623"/>
            <a:ext cx="2014415" cy="578339"/>
          </a:xfrm>
          <a:prstGeom prst="curvedConnector3">
            <a:avLst>
              <a:gd name="adj1" fmla="val 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Kép 6">
            <a:extLst>
              <a:ext uri="{FF2B5EF4-FFF2-40B4-BE49-F238E27FC236}">
                <a16:creationId xmlns:a16="http://schemas.microsoft.com/office/drawing/2014/main" id="{FA6831C1-EBEA-DCAA-D9AB-C4D88067EC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165" y="2675819"/>
            <a:ext cx="4519150" cy="3600000"/>
          </a:xfrm>
          <a:prstGeom prst="rect">
            <a:avLst/>
          </a:prstGeom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2E827D34-60F4-9E4A-ED6F-248431963D6E}"/>
              </a:ext>
            </a:extLst>
          </p:cNvPr>
          <p:cNvSpPr txBox="1"/>
          <p:nvPr/>
        </p:nvSpPr>
        <p:spPr>
          <a:xfrm>
            <a:off x="9372600" y="1980006"/>
            <a:ext cx="26576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latin typeface="Book Antiqua" panose="02040602050305030304" pitchFamily="18" charset="0"/>
              </a:rPr>
              <a:t>For</a:t>
            </a:r>
            <a:r>
              <a:rPr lang="hu-HU" sz="1600" dirty="0">
                <a:latin typeface="Book Antiqua" panose="02040602050305030304" pitchFamily="18" charset="0"/>
              </a:rPr>
              <a:t> a </a:t>
            </a:r>
            <a:r>
              <a:rPr lang="hu-HU" sz="1600" dirty="0" err="1">
                <a:latin typeface="Book Antiqua" panose="02040602050305030304" pitchFamily="18" charset="0"/>
              </a:rPr>
              <a:t>bound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system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energy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system</a:t>
            </a:r>
            <a:r>
              <a:rPr lang="hu-HU" sz="1600" dirty="0">
                <a:latin typeface="Book Antiqua" panose="02040602050305030304" pitchFamily="18" charset="0"/>
              </a:rPr>
              <a:t> is </a:t>
            </a:r>
            <a:r>
              <a:rPr lang="hu-HU" sz="1600" dirty="0" err="1">
                <a:latin typeface="Book Antiqua" panose="02040602050305030304" pitchFamily="18" charset="0"/>
              </a:rPr>
              <a:t>negative</a:t>
            </a:r>
            <a:r>
              <a:rPr lang="hu-HU" sz="1600" dirty="0">
                <a:latin typeface="Book Antiqua" panose="02040602050305030304" pitchFamily="18" charset="0"/>
              </a:rPr>
              <a:t>, hence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binding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energy</a:t>
            </a:r>
            <a:r>
              <a:rPr lang="hu-HU" sz="1600" dirty="0">
                <a:latin typeface="Book Antiqua" panose="02040602050305030304" pitchFamily="18" charset="0"/>
              </a:rPr>
              <a:t> is </a:t>
            </a:r>
            <a:r>
              <a:rPr lang="hu-HU" sz="1600" dirty="0" err="1">
                <a:latin typeface="Book Antiqua" panose="02040602050305030304" pitchFamily="18" charset="0"/>
              </a:rPr>
              <a:t>positive</a:t>
            </a:r>
            <a:r>
              <a:rPr lang="hu-HU" sz="1600" dirty="0">
                <a:latin typeface="Book Antiqua" panose="02040602050305030304" pitchFamily="18" charset="0"/>
              </a:rPr>
              <a:t>!</a:t>
            </a:r>
          </a:p>
          <a:p>
            <a:endParaRPr lang="hu-HU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latin typeface="Book Antiqua" panose="02040602050305030304" pitchFamily="18" charset="0"/>
              </a:rPr>
              <a:t>BUT! 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bound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system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does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not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necessarily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mean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stable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F7A07137-27BA-9017-8EEE-68178F6EBF57}"/>
              </a:ext>
            </a:extLst>
          </p:cNvPr>
          <p:cNvSpPr txBox="1"/>
          <p:nvPr/>
        </p:nvSpPr>
        <p:spPr>
          <a:xfrm>
            <a:off x="2863710" y="5303854"/>
            <a:ext cx="1730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 </a:t>
            </a:r>
          </a:p>
          <a:p>
            <a:r>
              <a:rPr lang="hu-HU" sz="1200" b="1" dirty="0">
                <a:solidFill>
                  <a:srgbClr val="0070C0"/>
                </a:solidFill>
                <a:latin typeface="Book Antiqua" panose="02040602050305030304" pitchFamily="18" charset="0"/>
              </a:rPr>
              <a:t>(</a:t>
            </a:r>
            <a:r>
              <a:rPr lang="hu-HU" sz="1200" b="1" dirty="0" err="1">
                <a:solidFill>
                  <a:srgbClr val="0070C0"/>
                </a:solidFill>
                <a:latin typeface="Book Antiqua" panose="02040602050305030304" pitchFamily="18" charset="0"/>
              </a:rPr>
              <a:t>the</a:t>
            </a:r>
            <a:r>
              <a:rPr lang="hu-HU" sz="1200" b="1" dirty="0">
                <a:solidFill>
                  <a:srgbClr val="0070C0"/>
                </a:solidFill>
                <a:latin typeface="Book Antiqua" panose="02040602050305030304" pitchFamily="18" charset="0"/>
              </a:rPr>
              <a:t> more </a:t>
            </a:r>
            <a:r>
              <a:rPr lang="hu-HU" sz="1200" b="1" dirty="0" err="1">
                <a:solidFill>
                  <a:srgbClr val="0070C0"/>
                </a:solidFill>
                <a:latin typeface="Book Antiqua" panose="02040602050305030304" pitchFamily="18" charset="0"/>
              </a:rPr>
              <a:t>negative</a:t>
            </a:r>
            <a:r>
              <a:rPr lang="hu-HU" sz="1200" b="1" dirty="0">
                <a:solidFill>
                  <a:srgbClr val="0070C0"/>
                </a:solidFill>
                <a:latin typeface="Book Antiqua" panose="02040602050305030304" pitchFamily="18" charset="0"/>
              </a:rPr>
              <a:t> </a:t>
            </a:r>
            <a:r>
              <a:rPr lang="hu-HU" sz="1200" b="1" dirty="0" err="1">
                <a:solidFill>
                  <a:srgbClr val="0070C0"/>
                </a:solidFill>
                <a:latin typeface="Book Antiqua" panose="02040602050305030304" pitchFamily="18" charset="0"/>
              </a:rPr>
              <a:t>the</a:t>
            </a:r>
            <a:r>
              <a:rPr lang="hu-HU" sz="1200" b="1" dirty="0">
                <a:solidFill>
                  <a:srgbClr val="0070C0"/>
                </a:solidFill>
                <a:latin typeface="Book Antiqua" panose="02040602050305030304" pitchFamily="18" charset="0"/>
              </a:rPr>
              <a:t> more </a:t>
            </a:r>
            <a:r>
              <a:rPr lang="hu-HU" sz="1200" b="1" dirty="0" err="1">
                <a:solidFill>
                  <a:srgbClr val="0070C0"/>
                </a:solidFill>
                <a:latin typeface="Book Antiqua" panose="02040602050305030304" pitchFamily="18" charset="0"/>
              </a:rPr>
              <a:t>stable</a:t>
            </a:r>
            <a:r>
              <a:rPr lang="hu-HU" sz="1200" b="1" dirty="0">
                <a:solidFill>
                  <a:srgbClr val="0070C0"/>
                </a:solidFill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D89A07EC-A9EB-F866-BE68-2DD1BD11EC3E}"/>
              </a:ext>
            </a:extLst>
          </p:cNvPr>
          <p:cNvSpPr txBox="1"/>
          <p:nvPr/>
        </p:nvSpPr>
        <p:spPr>
          <a:xfrm>
            <a:off x="7508510" y="5136193"/>
            <a:ext cx="2624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sz="16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 </a:t>
            </a:r>
          </a:p>
          <a:p>
            <a:r>
              <a:rPr lang="hu-HU" sz="1200" b="1" dirty="0">
                <a:latin typeface="Book Antiqua" panose="02040602050305030304" pitchFamily="18" charset="0"/>
              </a:rPr>
              <a:t>(</a:t>
            </a:r>
            <a:r>
              <a:rPr lang="hu-HU" sz="1200" b="1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</a:t>
            </a:r>
            <a:r>
              <a:rPr lang="hu-HU" sz="1200" b="1" dirty="0" err="1">
                <a:latin typeface="Book Antiqua" panose="02040602050305030304" pitchFamily="18" charset="0"/>
              </a:rPr>
              <a:t>he</a:t>
            </a:r>
            <a:r>
              <a:rPr lang="hu-HU" sz="1200" b="1" dirty="0">
                <a:latin typeface="Book Antiqua" panose="02040602050305030304" pitchFamily="18" charset="0"/>
              </a:rPr>
              <a:t> more </a:t>
            </a:r>
            <a:r>
              <a:rPr lang="hu-HU" sz="1200" b="1" dirty="0" err="1">
                <a:latin typeface="Book Antiqua" panose="02040602050305030304" pitchFamily="18" charset="0"/>
              </a:rPr>
              <a:t>positive</a:t>
            </a:r>
            <a:r>
              <a:rPr lang="hu-HU" sz="1200" b="1" dirty="0">
                <a:latin typeface="Book Antiqua" panose="02040602050305030304" pitchFamily="18" charset="0"/>
              </a:rPr>
              <a:t> </a:t>
            </a:r>
            <a:r>
              <a:rPr lang="hu-HU" sz="1200" b="1" dirty="0" err="1">
                <a:latin typeface="Book Antiqua" panose="02040602050305030304" pitchFamily="18" charset="0"/>
              </a:rPr>
              <a:t>the</a:t>
            </a:r>
            <a:r>
              <a:rPr lang="hu-HU" sz="1200" b="1" dirty="0">
                <a:latin typeface="Book Antiqua" panose="02040602050305030304" pitchFamily="18" charset="0"/>
              </a:rPr>
              <a:t> more </a:t>
            </a:r>
            <a:r>
              <a:rPr lang="hu-HU" sz="1200" b="1" dirty="0" err="1">
                <a:latin typeface="Book Antiqua" panose="02040602050305030304" pitchFamily="18" charset="0"/>
              </a:rPr>
              <a:t>stable</a:t>
            </a:r>
            <a:r>
              <a:rPr lang="hu-HU" sz="1200" b="1" dirty="0"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A26F6DDC-A3FE-A1A8-C4EC-9651AAEE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643142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A02F0-9157-584A-904D-8A52253D4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DC06F16-108F-F869-99C7-0A451033A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valley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C23F6D6A-3B55-C5AB-9A39-ABAD66D3284A}"/>
              </a:ext>
            </a:extLst>
          </p:cNvPr>
          <p:cNvSpPr txBox="1"/>
          <p:nvPr/>
        </p:nvSpPr>
        <p:spPr>
          <a:xfrm>
            <a:off x="578714" y="2063841"/>
            <a:ext cx="581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Investigate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average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per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9C900D3D-EBF5-DE9B-05B3-1681EF5950CC}"/>
                  </a:ext>
                </a:extLst>
              </p:cNvPr>
              <p:cNvSpPr txBox="1"/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9C900D3D-EBF5-DE9B-05B3-1681EF5950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10" descr="m_par1">
            <a:extLst>
              <a:ext uri="{FF2B5EF4-FFF2-40B4-BE49-F238E27FC236}">
                <a16:creationId xmlns:a16="http://schemas.microsoft.com/office/drawing/2014/main" id="{3EFEC1CE-4B62-0393-B031-EB61A013C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14" y="3196180"/>
            <a:ext cx="3707037" cy="2815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" name="Összekötő: görbe 5">
            <a:extLst>
              <a:ext uri="{FF2B5EF4-FFF2-40B4-BE49-F238E27FC236}">
                <a16:creationId xmlns:a16="http://schemas.microsoft.com/office/drawing/2014/main" id="{EBCB3CE7-D704-2DA6-6432-FC9BACB1F018}"/>
              </a:ext>
            </a:extLst>
          </p:cNvPr>
          <p:cNvCxnSpPr/>
          <p:nvPr/>
        </p:nvCxnSpPr>
        <p:spPr>
          <a:xfrm rot="5400000">
            <a:off x="-366345" y="2132623"/>
            <a:ext cx="2014415" cy="578339"/>
          </a:xfrm>
          <a:prstGeom prst="curvedConnector3">
            <a:avLst>
              <a:gd name="adj1" fmla="val 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Kép 6">
            <a:extLst>
              <a:ext uri="{FF2B5EF4-FFF2-40B4-BE49-F238E27FC236}">
                <a16:creationId xmlns:a16="http://schemas.microsoft.com/office/drawing/2014/main" id="{631DCBBE-69E7-0F5E-87DC-5CEA4EFBF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165" y="2675819"/>
            <a:ext cx="4519150" cy="3600000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4CE92D5D-C4DE-D60E-2E45-61F24B028CB0}"/>
              </a:ext>
            </a:extLst>
          </p:cNvPr>
          <p:cNvSpPr txBox="1"/>
          <p:nvPr/>
        </p:nvSpPr>
        <p:spPr>
          <a:xfrm>
            <a:off x="9668030" y="4475819"/>
            <a:ext cx="2362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>
                <a:latin typeface="Book Antiqua" panose="02040602050305030304" pitchFamily="18" charset="0"/>
              </a:rPr>
              <a:t>Every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sponteneous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process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>
                <a:latin typeface="Book Antiqua" panose="02040602050305030304" pitchFamily="18" charset="0"/>
              </a:rPr>
              <a:t>is </a:t>
            </a:r>
            <a:r>
              <a:rPr lang="hu-HU" sz="1600" dirty="0" err="1">
                <a:latin typeface="Book Antiqua" panose="02040602050305030304" pitchFamily="18" charset="0"/>
              </a:rPr>
              <a:t>governed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by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aspiration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nuclei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to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lower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their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energies</a:t>
            </a:r>
            <a:r>
              <a:rPr lang="hu-HU" sz="1600" dirty="0">
                <a:latin typeface="Book Antiqua" panose="02040602050305030304" pitchFamily="18" charset="0"/>
              </a:rPr>
              <a:t> (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increase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their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energies</a:t>
            </a:r>
            <a:r>
              <a:rPr lang="hu-HU" sz="1600" dirty="0">
                <a:latin typeface="Book Antiqua" panose="02040602050305030304" pitchFamily="18" charset="0"/>
              </a:rPr>
              <a:t>) 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18371AEB-9486-C72F-927D-5B37F67FD06F}"/>
              </a:ext>
            </a:extLst>
          </p:cNvPr>
          <p:cNvSpPr txBox="1"/>
          <p:nvPr/>
        </p:nvSpPr>
        <p:spPr>
          <a:xfrm>
            <a:off x="9372600" y="1980006"/>
            <a:ext cx="26576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latin typeface="Book Antiqua" panose="02040602050305030304" pitchFamily="18" charset="0"/>
              </a:rPr>
              <a:t>For</a:t>
            </a:r>
            <a:r>
              <a:rPr lang="hu-HU" sz="1600" dirty="0">
                <a:latin typeface="Book Antiqua" panose="02040602050305030304" pitchFamily="18" charset="0"/>
              </a:rPr>
              <a:t> a </a:t>
            </a:r>
            <a:r>
              <a:rPr lang="hu-HU" sz="1600" dirty="0" err="1">
                <a:latin typeface="Book Antiqua" panose="02040602050305030304" pitchFamily="18" charset="0"/>
              </a:rPr>
              <a:t>bound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system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energy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system</a:t>
            </a:r>
            <a:r>
              <a:rPr lang="hu-HU" sz="1600" dirty="0">
                <a:latin typeface="Book Antiqua" panose="02040602050305030304" pitchFamily="18" charset="0"/>
              </a:rPr>
              <a:t> is </a:t>
            </a:r>
            <a:r>
              <a:rPr lang="hu-HU" sz="1600" dirty="0" err="1">
                <a:latin typeface="Book Antiqua" panose="02040602050305030304" pitchFamily="18" charset="0"/>
              </a:rPr>
              <a:t>negative</a:t>
            </a:r>
            <a:r>
              <a:rPr lang="hu-HU" sz="1600" dirty="0">
                <a:latin typeface="Book Antiqua" panose="02040602050305030304" pitchFamily="18" charset="0"/>
              </a:rPr>
              <a:t>, hence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binding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energy</a:t>
            </a:r>
            <a:r>
              <a:rPr lang="hu-HU" sz="1600" dirty="0">
                <a:latin typeface="Book Antiqua" panose="02040602050305030304" pitchFamily="18" charset="0"/>
              </a:rPr>
              <a:t> is </a:t>
            </a:r>
            <a:r>
              <a:rPr lang="hu-HU" sz="1600" dirty="0" err="1">
                <a:latin typeface="Book Antiqua" panose="02040602050305030304" pitchFamily="18" charset="0"/>
              </a:rPr>
              <a:t>positive</a:t>
            </a:r>
            <a:r>
              <a:rPr lang="hu-HU" sz="1600" dirty="0">
                <a:latin typeface="Book Antiqua" panose="02040602050305030304" pitchFamily="18" charset="0"/>
              </a:rPr>
              <a:t>!</a:t>
            </a:r>
          </a:p>
          <a:p>
            <a:endParaRPr lang="hu-HU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latin typeface="Book Antiqua" panose="02040602050305030304" pitchFamily="18" charset="0"/>
              </a:rPr>
              <a:t>BUT! 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bound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system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does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not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necessarily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mean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stable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10" name="Egyenes összekötő nyíllal 9">
            <a:extLst>
              <a:ext uri="{FF2B5EF4-FFF2-40B4-BE49-F238E27FC236}">
                <a16:creationId xmlns:a16="http://schemas.microsoft.com/office/drawing/2014/main" id="{99181183-7EEB-C03F-E6E3-53AEB1EB1FDE}"/>
              </a:ext>
            </a:extLst>
          </p:cNvPr>
          <p:cNvCxnSpPr/>
          <p:nvPr/>
        </p:nvCxnSpPr>
        <p:spPr>
          <a:xfrm flipH="1" flipV="1">
            <a:off x="7400925" y="3295650"/>
            <a:ext cx="1476375" cy="4000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05F82C32-DC21-0E35-DD25-8603A3A09F9E}"/>
              </a:ext>
            </a:extLst>
          </p:cNvPr>
          <p:cNvCxnSpPr>
            <a:cxnSpLocks/>
          </p:cNvCxnSpPr>
          <p:nvPr/>
        </p:nvCxnSpPr>
        <p:spPr>
          <a:xfrm flipV="1">
            <a:off x="5983708" y="3178247"/>
            <a:ext cx="595447" cy="57550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Ellipszis 13">
            <a:extLst>
              <a:ext uri="{FF2B5EF4-FFF2-40B4-BE49-F238E27FC236}">
                <a16:creationId xmlns:a16="http://schemas.microsoft.com/office/drawing/2014/main" id="{4BBE28CC-C071-2925-D7F3-B780D446D7AC}"/>
              </a:ext>
            </a:extLst>
          </p:cNvPr>
          <p:cNvSpPr/>
          <p:nvPr/>
        </p:nvSpPr>
        <p:spPr>
          <a:xfrm rot="20894378">
            <a:off x="2355299" y="3719759"/>
            <a:ext cx="397947" cy="1571625"/>
          </a:xfrm>
          <a:prstGeom prst="ellipse">
            <a:avLst/>
          </a:prstGeom>
          <a:gradFill flip="none" rotWithShape="1">
            <a:gsLst>
              <a:gs pos="100000">
                <a:srgbClr val="B7BEDB"/>
              </a:gs>
              <a:gs pos="85000">
                <a:srgbClr val="A1B4D1"/>
              </a:gs>
              <a:gs pos="50000">
                <a:srgbClr val="0070C0"/>
              </a:gs>
              <a:gs pos="17000">
                <a:srgbClr val="002060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6" name="Szabadkézi sokszög: alakzat 15">
            <a:extLst>
              <a:ext uri="{FF2B5EF4-FFF2-40B4-BE49-F238E27FC236}">
                <a16:creationId xmlns:a16="http://schemas.microsoft.com/office/drawing/2014/main" id="{5E302DF1-C61C-62A2-EBE4-77554F70B7BD}"/>
              </a:ext>
            </a:extLst>
          </p:cNvPr>
          <p:cNvSpPr/>
          <p:nvPr/>
        </p:nvSpPr>
        <p:spPr>
          <a:xfrm>
            <a:off x="2381956" y="3646311"/>
            <a:ext cx="417688" cy="1591733"/>
          </a:xfrm>
          <a:custGeom>
            <a:avLst/>
            <a:gdLst>
              <a:gd name="connsiteX0" fmla="*/ 417688 w 417688"/>
              <a:gd name="connsiteY0" fmla="*/ 1591733 h 1591733"/>
              <a:gd name="connsiteX1" fmla="*/ 203200 w 417688"/>
              <a:gd name="connsiteY1" fmla="*/ 1219200 h 1591733"/>
              <a:gd name="connsiteX2" fmla="*/ 0 w 417688"/>
              <a:gd name="connsiteY2" fmla="*/ 0 h 1591733"/>
              <a:gd name="connsiteX3" fmla="*/ 0 w 417688"/>
              <a:gd name="connsiteY3" fmla="*/ 0 h 1591733"/>
              <a:gd name="connsiteX4" fmla="*/ 22577 w 417688"/>
              <a:gd name="connsiteY4" fmla="*/ 124178 h 1591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8" h="1591733">
                <a:moveTo>
                  <a:pt x="417688" y="1591733"/>
                </a:moveTo>
                <a:cubicBezTo>
                  <a:pt x="345251" y="1538111"/>
                  <a:pt x="272815" y="1484489"/>
                  <a:pt x="203200" y="1219200"/>
                </a:cubicBezTo>
                <a:cubicBezTo>
                  <a:pt x="133585" y="953911"/>
                  <a:pt x="0" y="0"/>
                  <a:pt x="0" y="0"/>
                </a:cubicBezTo>
                <a:lnTo>
                  <a:pt x="0" y="0"/>
                </a:lnTo>
                <a:lnTo>
                  <a:pt x="22577" y="12417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17" name="Ellipszis 16">
            <a:extLst>
              <a:ext uri="{FF2B5EF4-FFF2-40B4-BE49-F238E27FC236}">
                <a16:creationId xmlns:a16="http://schemas.microsoft.com/office/drawing/2014/main" id="{02977612-67A0-642C-AA34-73B46084F8AE}"/>
              </a:ext>
            </a:extLst>
          </p:cNvPr>
          <p:cNvSpPr/>
          <p:nvPr/>
        </p:nvSpPr>
        <p:spPr>
          <a:xfrm>
            <a:off x="6726173" y="5995858"/>
            <a:ext cx="1941688" cy="264079"/>
          </a:xfrm>
          <a:custGeom>
            <a:avLst/>
            <a:gdLst>
              <a:gd name="csX0" fmla="*/ 0 w 1941688"/>
              <a:gd name="csY0" fmla="*/ 132040 h 264079"/>
              <a:gd name="csX1" fmla="*/ 970844 w 1941688"/>
              <a:gd name="csY1" fmla="*/ 0 h 264079"/>
              <a:gd name="csX2" fmla="*/ 1941688 w 1941688"/>
              <a:gd name="csY2" fmla="*/ 132040 h 264079"/>
              <a:gd name="csX3" fmla="*/ 970844 w 1941688"/>
              <a:gd name="csY3" fmla="*/ 264080 h 264079"/>
              <a:gd name="csX4" fmla="*/ 0 w 1941688"/>
              <a:gd name="csY4" fmla="*/ 132040 h 26407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41688" h="264079" extrusionOk="0">
                <a:moveTo>
                  <a:pt x="0" y="132040"/>
                </a:moveTo>
                <a:cubicBezTo>
                  <a:pt x="-8145" y="43050"/>
                  <a:pt x="465540" y="78825"/>
                  <a:pt x="970844" y="0"/>
                </a:cubicBezTo>
                <a:cubicBezTo>
                  <a:pt x="1503645" y="-13040"/>
                  <a:pt x="1928308" y="51930"/>
                  <a:pt x="1941688" y="132040"/>
                </a:cubicBezTo>
                <a:cubicBezTo>
                  <a:pt x="1974230" y="153254"/>
                  <a:pt x="1500439" y="191775"/>
                  <a:pt x="970844" y="264080"/>
                </a:cubicBezTo>
                <a:cubicBezTo>
                  <a:pt x="426281" y="255332"/>
                  <a:pt x="4978" y="199651"/>
                  <a:pt x="0" y="132040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84906137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9</a:t>
            </a:fld>
            <a:endParaRPr lang="hu-HU"/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516341C7-C15D-94FD-20E2-411EBD39F034}"/>
              </a:ext>
            </a:extLst>
          </p:cNvPr>
          <p:cNvSpPr txBox="1"/>
          <p:nvPr/>
        </p:nvSpPr>
        <p:spPr>
          <a:xfrm>
            <a:off x="2226953" y="2599258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Line of </a:t>
            </a:r>
            <a:r>
              <a:rPr lang="hu-HU" dirty="0" err="1">
                <a:latin typeface="Book Antiqua" panose="02040602050305030304" pitchFamily="18" charset="0"/>
              </a:rPr>
              <a:t>stability</a:t>
            </a:r>
            <a:endParaRPr lang="hu-HU" dirty="0">
              <a:latin typeface="Book Antiqua" panose="02040602050305030304" pitchFamily="18" charset="0"/>
            </a:endParaRPr>
          </a:p>
        </p:txBody>
      </p:sp>
      <p:cxnSp>
        <p:nvCxnSpPr>
          <p:cNvPr id="18" name="Egyenes összekötő nyíllal 17">
            <a:extLst>
              <a:ext uri="{FF2B5EF4-FFF2-40B4-BE49-F238E27FC236}">
                <a16:creationId xmlns:a16="http://schemas.microsoft.com/office/drawing/2014/main" id="{080CDAFF-185A-AC05-CB33-D40363AFD82D}"/>
              </a:ext>
            </a:extLst>
          </p:cNvPr>
          <p:cNvCxnSpPr/>
          <p:nvPr/>
        </p:nvCxnSpPr>
        <p:spPr>
          <a:xfrm flipH="1">
            <a:off x="2381956" y="2888354"/>
            <a:ext cx="172316" cy="75795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148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949DE-927E-0729-0C93-DE0340037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E15721-F26A-4F6A-6B7C-EF3F72EDA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valley</a:t>
            </a:r>
            <a:endParaRPr lang="hu-HU" b="1" dirty="0">
              <a:latin typeface="Book Antiqua" panose="02040602050305030304" pitchFamily="18" charset="0"/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75B3435D-22C8-06D7-1F23-05C1C06B5E7E}"/>
              </a:ext>
            </a:extLst>
          </p:cNvPr>
          <p:cNvSpPr txBox="1"/>
          <p:nvPr/>
        </p:nvSpPr>
        <p:spPr>
          <a:xfrm>
            <a:off x="578714" y="2063841"/>
            <a:ext cx="58139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Investigate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75000"/>
                    <a:lumOff val="2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average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binding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per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190E7510-2BDC-9015-F031-A576D0FEA792}"/>
                  </a:ext>
                </a:extLst>
              </p:cNvPr>
              <p:cNvSpPr txBox="1"/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𝑏</m:t>
                      </m:r>
                      <m:r>
                        <a:rPr lang="hu-HU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</m:oMath>
                  </m:oMathPara>
                </a14:m>
                <a:endParaRPr lang="en-US" dirty="0">
                  <a:latin typeface="+mn-lt"/>
                </a:endParaRPr>
              </a:p>
            </p:txBody>
          </p:sp>
        </mc:Choice>
        <mc:Fallback xmlns="">
          <p:sp>
            <p:nvSpPr>
              <p:cNvPr id="3" name="Szövegdoboz 2">
                <a:extLst>
                  <a:ext uri="{FF2B5EF4-FFF2-40B4-BE49-F238E27FC236}">
                    <a16:creationId xmlns:a16="http://schemas.microsoft.com/office/drawing/2014/main" id="{190E7510-2BDC-9015-F031-A576D0FEA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2311" y="1939448"/>
                <a:ext cx="2769412" cy="61811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Összekötő: görbe 5">
            <a:extLst>
              <a:ext uri="{FF2B5EF4-FFF2-40B4-BE49-F238E27FC236}">
                <a16:creationId xmlns:a16="http://schemas.microsoft.com/office/drawing/2014/main" id="{D8AD8B91-4A2C-AD95-0308-3E358ED53746}"/>
              </a:ext>
            </a:extLst>
          </p:cNvPr>
          <p:cNvCxnSpPr/>
          <p:nvPr/>
        </p:nvCxnSpPr>
        <p:spPr>
          <a:xfrm rot="5400000">
            <a:off x="-366345" y="2132623"/>
            <a:ext cx="2014415" cy="578339"/>
          </a:xfrm>
          <a:prstGeom prst="curvedConnector3">
            <a:avLst>
              <a:gd name="adj1" fmla="val 3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zövegdoboz 7">
            <a:extLst>
              <a:ext uri="{FF2B5EF4-FFF2-40B4-BE49-F238E27FC236}">
                <a16:creationId xmlns:a16="http://schemas.microsoft.com/office/drawing/2014/main" id="{193D010F-E92B-991B-03AC-CDB9EB2AF25B}"/>
              </a:ext>
            </a:extLst>
          </p:cNvPr>
          <p:cNvSpPr txBox="1"/>
          <p:nvPr/>
        </p:nvSpPr>
        <p:spPr>
          <a:xfrm>
            <a:off x="9668030" y="4475819"/>
            <a:ext cx="23622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600" dirty="0" err="1">
                <a:latin typeface="Book Antiqua" panose="02040602050305030304" pitchFamily="18" charset="0"/>
              </a:rPr>
              <a:t>Every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sponteneous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nuclear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process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>
                <a:latin typeface="Book Antiqua" panose="02040602050305030304" pitchFamily="18" charset="0"/>
              </a:rPr>
              <a:t>is </a:t>
            </a:r>
            <a:r>
              <a:rPr lang="hu-HU" sz="1600" dirty="0" err="1">
                <a:latin typeface="Book Antiqua" panose="02040602050305030304" pitchFamily="18" charset="0"/>
              </a:rPr>
              <a:t>governed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by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aspiration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nuclei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to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lower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their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energies</a:t>
            </a:r>
            <a:r>
              <a:rPr lang="hu-HU" sz="1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dirty="0">
                <a:latin typeface="Book Antiqua" panose="02040602050305030304" pitchFamily="18" charset="0"/>
              </a:rPr>
              <a:t>(</a:t>
            </a:r>
            <a:r>
              <a:rPr lang="hu-HU" sz="1600" dirty="0" err="1">
                <a:latin typeface="Book Antiqua" panose="02040602050305030304" pitchFamily="18" charset="0"/>
              </a:rPr>
              <a:t>increase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their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binding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energies</a:t>
            </a:r>
            <a:r>
              <a:rPr lang="hu-HU" sz="1600" dirty="0">
                <a:latin typeface="Book Antiqua" panose="02040602050305030304" pitchFamily="18" charset="0"/>
              </a:rPr>
              <a:t>) 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54EA324-2DD9-CF30-ADED-97ACAF94CB68}"/>
              </a:ext>
            </a:extLst>
          </p:cNvPr>
          <p:cNvSpPr txBox="1"/>
          <p:nvPr/>
        </p:nvSpPr>
        <p:spPr>
          <a:xfrm>
            <a:off x="9372600" y="1980006"/>
            <a:ext cx="265763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latin typeface="Book Antiqua" panose="02040602050305030304" pitchFamily="18" charset="0"/>
              </a:rPr>
              <a:t>For</a:t>
            </a:r>
            <a:r>
              <a:rPr lang="hu-HU" sz="1600" dirty="0">
                <a:latin typeface="Book Antiqua" panose="02040602050305030304" pitchFamily="18" charset="0"/>
              </a:rPr>
              <a:t> a </a:t>
            </a:r>
            <a:r>
              <a:rPr lang="hu-HU" sz="1600" dirty="0" err="1">
                <a:latin typeface="Book Antiqua" panose="02040602050305030304" pitchFamily="18" charset="0"/>
              </a:rPr>
              <a:t>bound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system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energy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system</a:t>
            </a:r>
            <a:r>
              <a:rPr lang="hu-HU" sz="1600" dirty="0">
                <a:latin typeface="Book Antiqua" panose="02040602050305030304" pitchFamily="18" charset="0"/>
              </a:rPr>
              <a:t> is </a:t>
            </a:r>
            <a:r>
              <a:rPr lang="hu-HU" sz="1600" dirty="0" err="1">
                <a:latin typeface="Book Antiqua" panose="02040602050305030304" pitchFamily="18" charset="0"/>
              </a:rPr>
              <a:t>negative</a:t>
            </a:r>
            <a:r>
              <a:rPr lang="hu-HU" sz="1600" dirty="0">
                <a:latin typeface="Book Antiqua" panose="02040602050305030304" pitchFamily="18" charset="0"/>
              </a:rPr>
              <a:t>, hence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binding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energy</a:t>
            </a:r>
            <a:r>
              <a:rPr lang="hu-HU" sz="1600" dirty="0">
                <a:latin typeface="Book Antiqua" panose="02040602050305030304" pitchFamily="18" charset="0"/>
              </a:rPr>
              <a:t> is </a:t>
            </a:r>
            <a:r>
              <a:rPr lang="hu-HU" sz="1600" dirty="0" err="1">
                <a:latin typeface="Book Antiqua" panose="02040602050305030304" pitchFamily="18" charset="0"/>
              </a:rPr>
              <a:t>positive</a:t>
            </a:r>
            <a:r>
              <a:rPr lang="hu-HU" sz="1600" dirty="0">
                <a:latin typeface="Book Antiqua" panose="02040602050305030304" pitchFamily="18" charset="0"/>
              </a:rPr>
              <a:t>!</a:t>
            </a:r>
          </a:p>
          <a:p>
            <a:endParaRPr lang="hu-HU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latin typeface="Book Antiqua" panose="02040602050305030304" pitchFamily="18" charset="0"/>
              </a:rPr>
              <a:t>BUT! 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bound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system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does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not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necessarily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mean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stable</a:t>
            </a:r>
            <a:r>
              <a:rPr lang="hu-HU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880C3927-175F-DC5A-80CD-9942B68F60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3456" y="3205562"/>
            <a:ext cx="2879709" cy="2664000"/>
          </a:xfrm>
          <a:prstGeom prst="rect">
            <a:avLst/>
          </a:prstGeom>
        </p:spPr>
      </p:pic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352CB99A-474C-404E-4140-D6B98050BFA7}"/>
              </a:ext>
            </a:extLst>
          </p:cNvPr>
          <p:cNvCxnSpPr/>
          <p:nvPr/>
        </p:nvCxnSpPr>
        <p:spPr>
          <a:xfrm flipH="1">
            <a:off x="7459950" y="4535644"/>
            <a:ext cx="474134" cy="7798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2DCA6B1B-5D90-753B-09AE-029EDC372BD0}"/>
              </a:ext>
            </a:extLst>
          </p:cNvPr>
          <p:cNvCxnSpPr>
            <a:cxnSpLocks/>
          </p:cNvCxnSpPr>
          <p:nvPr/>
        </p:nvCxnSpPr>
        <p:spPr>
          <a:xfrm>
            <a:off x="6717193" y="4421487"/>
            <a:ext cx="490649" cy="96227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lipszis 30">
            <a:extLst>
              <a:ext uri="{FF2B5EF4-FFF2-40B4-BE49-F238E27FC236}">
                <a16:creationId xmlns:a16="http://schemas.microsoft.com/office/drawing/2014/main" id="{18F4DE07-3B42-4ACC-7606-138B1FBE6BF3}"/>
              </a:ext>
            </a:extLst>
          </p:cNvPr>
          <p:cNvSpPr/>
          <p:nvPr/>
        </p:nvSpPr>
        <p:spPr>
          <a:xfrm>
            <a:off x="8224961" y="4213585"/>
            <a:ext cx="250360" cy="390375"/>
          </a:xfrm>
          <a:custGeom>
            <a:avLst/>
            <a:gdLst>
              <a:gd name="csX0" fmla="*/ 0 w 250360"/>
              <a:gd name="csY0" fmla="*/ 195188 h 390375"/>
              <a:gd name="csX1" fmla="*/ 125180 w 250360"/>
              <a:gd name="csY1" fmla="*/ 0 h 390375"/>
              <a:gd name="csX2" fmla="*/ 250360 w 250360"/>
              <a:gd name="csY2" fmla="*/ 195188 h 390375"/>
              <a:gd name="csX3" fmla="*/ 125180 w 250360"/>
              <a:gd name="csY3" fmla="*/ 390376 h 390375"/>
              <a:gd name="csX4" fmla="*/ 0 w 250360"/>
              <a:gd name="csY4" fmla="*/ 195188 h 3903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50360" h="390375" extrusionOk="0">
                <a:moveTo>
                  <a:pt x="0" y="195188"/>
                </a:moveTo>
                <a:cubicBezTo>
                  <a:pt x="-3983" y="79531"/>
                  <a:pt x="59327" y="8377"/>
                  <a:pt x="125180" y="0"/>
                </a:cubicBezTo>
                <a:cubicBezTo>
                  <a:pt x="192577" y="-6701"/>
                  <a:pt x="234573" y="78911"/>
                  <a:pt x="250360" y="195188"/>
                </a:cubicBezTo>
                <a:cubicBezTo>
                  <a:pt x="258489" y="290070"/>
                  <a:pt x="192883" y="374658"/>
                  <a:pt x="125180" y="390376"/>
                </a:cubicBezTo>
                <a:cubicBezTo>
                  <a:pt x="49514" y="383559"/>
                  <a:pt x="12133" y="290036"/>
                  <a:pt x="0" y="195188"/>
                </a:cubicBezTo>
                <a:close/>
              </a:path>
            </a:pathLst>
          </a:custGeom>
          <a:noFill/>
          <a:ln w="19050">
            <a:solidFill>
              <a:srgbClr val="FF0000"/>
            </a:solidFill>
            <a:extLst>
              <a:ext uri="{C807C97D-BFC1-408E-A445-0C87EB9F89A2}">
                <ask:lineSketchStyleProps xmlns:ask="http://schemas.microsoft.com/office/drawing/2018/sketchyshapes" sd="849061371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5A62FB13-3F93-7820-EE6D-CB03E28B1B67}"/>
              </a:ext>
            </a:extLst>
          </p:cNvPr>
          <p:cNvSpPr txBox="1"/>
          <p:nvPr/>
        </p:nvSpPr>
        <p:spPr>
          <a:xfrm>
            <a:off x="8040620" y="4557901"/>
            <a:ext cx="126509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200" dirty="0" err="1">
                <a:latin typeface="Book Antiqua" panose="02040602050305030304" pitchFamily="18" charset="0"/>
              </a:rPr>
              <a:t>Atomic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number</a:t>
            </a:r>
            <a:endParaRPr lang="hu-HU" sz="1200" dirty="0">
              <a:latin typeface="Book Antiqua" panose="02040602050305030304" pitchFamily="18" charset="0"/>
            </a:endParaRPr>
          </a:p>
        </p:txBody>
      </p:sp>
      <p:pic>
        <p:nvPicPr>
          <p:cNvPr id="35" name="Picture 10" descr="m_par1">
            <a:extLst>
              <a:ext uri="{FF2B5EF4-FFF2-40B4-BE49-F238E27FC236}">
                <a16:creationId xmlns:a16="http://schemas.microsoft.com/office/drawing/2014/main" id="{034D88BA-460C-DCB0-89A6-FA428AAC74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714" y="3196180"/>
            <a:ext cx="3707037" cy="2815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" name="Ellipszis 35">
            <a:extLst>
              <a:ext uri="{FF2B5EF4-FFF2-40B4-BE49-F238E27FC236}">
                <a16:creationId xmlns:a16="http://schemas.microsoft.com/office/drawing/2014/main" id="{CA59320F-B08E-F87F-26DD-588077E49430}"/>
              </a:ext>
            </a:extLst>
          </p:cNvPr>
          <p:cNvSpPr/>
          <p:nvPr/>
        </p:nvSpPr>
        <p:spPr>
          <a:xfrm rot="20894378">
            <a:off x="2355299" y="3719759"/>
            <a:ext cx="397947" cy="1571625"/>
          </a:xfrm>
          <a:prstGeom prst="ellipse">
            <a:avLst/>
          </a:prstGeom>
          <a:gradFill flip="none" rotWithShape="1">
            <a:gsLst>
              <a:gs pos="100000">
                <a:srgbClr val="B7BEDB"/>
              </a:gs>
              <a:gs pos="85000">
                <a:srgbClr val="A1B4D1"/>
              </a:gs>
              <a:gs pos="50000">
                <a:srgbClr val="0070C0"/>
              </a:gs>
              <a:gs pos="17000">
                <a:srgbClr val="002060"/>
              </a:gs>
            </a:gsLst>
            <a:path path="shap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sp>
        <p:nvSpPr>
          <p:cNvPr id="37" name="Szabadkézi sokszög: alakzat 36">
            <a:extLst>
              <a:ext uri="{FF2B5EF4-FFF2-40B4-BE49-F238E27FC236}">
                <a16:creationId xmlns:a16="http://schemas.microsoft.com/office/drawing/2014/main" id="{00012FA4-E322-B9D1-7511-111DA758AEE5}"/>
              </a:ext>
            </a:extLst>
          </p:cNvPr>
          <p:cNvSpPr/>
          <p:nvPr/>
        </p:nvSpPr>
        <p:spPr>
          <a:xfrm>
            <a:off x="2381956" y="3646311"/>
            <a:ext cx="417688" cy="1591733"/>
          </a:xfrm>
          <a:custGeom>
            <a:avLst/>
            <a:gdLst>
              <a:gd name="connsiteX0" fmla="*/ 417688 w 417688"/>
              <a:gd name="connsiteY0" fmla="*/ 1591733 h 1591733"/>
              <a:gd name="connsiteX1" fmla="*/ 203200 w 417688"/>
              <a:gd name="connsiteY1" fmla="*/ 1219200 h 1591733"/>
              <a:gd name="connsiteX2" fmla="*/ 0 w 417688"/>
              <a:gd name="connsiteY2" fmla="*/ 0 h 1591733"/>
              <a:gd name="connsiteX3" fmla="*/ 0 w 417688"/>
              <a:gd name="connsiteY3" fmla="*/ 0 h 1591733"/>
              <a:gd name="connsiteX4" fmla="*/ 22577 w 417688"/>
              <a:gd name="connsiteY4" fmla="*/ 124178 h 1591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7688" h="1591733">
                <a:moveTo>
                  <a:pt x="417688" y="1591733"/>
                </a:moveTo>
                <a:cubicBezTo>
                  <a:pt x="345251" y="1538111"/>
                  <a:pt x="272815" y="1484489"/>
                  <a:pt x="203200" y="1219200"/>
                </a:cubicBezTo>
                <a:cubicBezTo>
                  <a:pt x="133585" y="953911"/>
                  <a:pt x="0" y="0"/>
                  <a:pt x="0" y="0"/>
                </a:cubicBezTo>
                <a:lnTo>
                  <a:pt x="0" y="0"/>
                </a:lnTo>
                <a:lnTo>
                  <a:pt x="22577" y="124178"/>
                </a:lnTo>
              </a:path>
            </a:pathLst>
          </a:cu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 dirty="0"/>
          </a:p>
        </p:txBody>
      </p:sp>
      <p:cxnSp>
        <p:nvCxnSpPr>
          <p:cNvPr id="21" name="Összekötő: görbe 20">
            <a:extLst>
              <a:ext uri="{FF2B5EF4-FFF2-40B4-BE49-F238E27FC236}">
                <a16:creationId xmlns:a16="http://schemas.microsoft.com/office/drawing/2014/main" id="{9C3C9C97-4827-E848-4967-DBEC9FE3965E}"/>
              </a:ext>
            </a:extLst>
          </p:cNvPr>
          <p:cNvCxnSpPr>
            <a:cxnSpLocks/>
          </p:cNvCxnSpPr>
          <p:nvPr/>
        </p:nvCxnSpPr>
        <p:spPr>
          <a:xfrm flipV="1">
            <a:off x="2909233" y="4086578"/>
            <a:ext cx="3135138" cy="1151466"/>
          </a:xfrm>
          <a:prstGeom prst="curvedConnector3">
            <a:avLst>
              <a:gd name="adj1" fmla="val 50000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989416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A0982-275B-43C1-3DAF-D2B737BDC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8BB5C2D5-0530-1684-0A1F-FFAA39C95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modes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9C2382BF-3B2D-ED41-4D56-7646A2F942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Alpha</a:t>
            </a:r>
            <a:r>
              <a:rPr lang="hu-HU" dirty="0"/>
              <a:t>, </a:t>
            </a:r>
            <a:r>
              <a:rPr lang="hu-HU" dirty="0" err="1"/>
              <a:t>beta</a:t>
            </a:r>
            <a:r>
              <a:rPr lang="hu-HU" dirty="0"/>
              <a:t>, gamma </a:t>
            </a:r>
            <a:r>
              <a:rPr lang="hu-HU" dirty="0" err="1"/>
              <a:t>decay</a:t>
            </a:r>
            <a:endParaRPr lang="en-GB" dirty="0"/>
          </a:p>
        </p:txBody>
      </p: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93634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93E69-C648-2B10-11DE-AF7D330BE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948578C4-5926-5117-8AEE-E97A5191B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Conserved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quantities</a:t>
            </a:r>
            <a:endParaRPr lang="en-GB" dirty="0">
              <a:latin typeface="Book Antiqua" panose="02040602050305030304" pitchFamily="18" charset="0"/>
            </a:endParaRPr>
          </a:p>
        </p:txBody>
      </p:sp>
      <p:grpSp>
        <p:nvGrpSpPr>
          <p:cNvPr id="6" name="Csoportba foglalás 5">
            <a:extLst>
              <a:ext uri="{FF2B5EF4-FFF2-40B4-BE49-F238E27FC236}">
                <a16:creationId xmlns:a16="http://schemas.microsoft.com/office/drawing/2014/main" id="{46346134-0705-EA5F-5BA4-6B56F59CB236}"/>
              </a:ext>
            </a:extLst>
          </p:cNvPr>
          <p:cNvGrpSpPr/>
          <p:nvPr/>
        </p:nvGrpSpPr>
        <p:grpSpPr>
          <a:xfrm>
            <a:off x="1561778" y="2232740"/>
            <a:ext cx="3585607" cy="1466096"/>
            <a:chOff x="323528" y="3970099"/>
            <a:chExt cx="3585607" cy="1466096"/>
          </a:xfrm>
        </p:grpSpPr>
        <p:cxnSp>
          <p:nvCxnSpPr>
            <p:cNvPr id="7" name="Egyenes összekötő nyíllal 6">
              <a:extLst>
                <a:ext uri="{FF2B5EF4-FFF2-40B4-BE49-F238E27FC236}">
                  <a16:creationId xmlns:a16="http://schemas.microsoft.com/office/drawing/2014/main" id="{38D4F4FC-5871-9358-AED2-684FAD06A25E}"/>
                </a:ext>
              </a:extLst>
            </p:cNvPr>
            <p:cNvCxnSpPr/>
            <p:nvPr/>
          </p:nvCxnSpPr>
          <p:spPr>
            <a:xfrm flipH="1">
              <a:off x="2111207" y="3970099"/>
              <a:ext cx="1797928" cy="293607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Szövegdoboz 7">
              <a:extLst>
                <a:ext uri="{FF2B5EF4-FFF2-40B4-BE49-F238E27FC236}">
                  <a16:creationId xmlns:a16="http://schemas.microsoft.com/office/drawing/2014/main" id="{43362FF0-41EA-43BF-1D8D-39D654C3A7BF}"/>
                </a:ext>
              </a:extLst>
            </p:cNvPr>
            <p:cNvSpPr txBox="1"/>
            <p:nvPr/>
          </p:nvSpPr>
          <p:spPr>
            <a:xfrm>
              <a:off x="323528" y="4759087"/>
              <a:ext cx="2959465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000" b="1" u="sng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Space-time</a:t>
              </a:r>
              <a:r>
                <a:rPr lang="hu-HU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sz="2000" b="1" u="sng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symmetries</a:t>
              </a:r>
              <a:r>
                <a:rPr lang="hu-HU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:</a:t>
              </a:r>
            </a:p>
            <a:p>
              <a:endPara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</p:grpSp>
      <p:sp>
        <p:nvSpPr>
          <p:cNvPr id="9" name="Szövegdoboz 8">
            <a:extLst>
              <a:ext uri="{FF2B5EF4-FFF2-40B4-BE49-F238E27FC236}">
                <a16:creationId xmlns:a16="http://schemas.microsoft.com/office/drawing/2014/main" id="{8B115167-C5BB-964B-6EB4-893FF75FF9FE}"/>
              </a:ext>
            </a:extLst>
          </p:cNvPr>
          <p:cNvSpPr txBox="1"/>
          <p:nvPr/>
        </p:nvSpPr>
        <p:spPr>
          <a:xfrm>
            <a:off x="675042" y="3757558"/>
            <a:ext cx="421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time</a:t>
            </a:r>
            <a:r>
              <a:rPr lang="hu-HU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translation</a:t>
            </a:r>
            <a:r>
              <a:rPr lang="hu-HU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symmetry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  <a:endParaRPr 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5F5111CA-007B-EA99-1083-C981C620DDE3}"/>
              </a:ext>
            </a:extLst>
          </p:cNvPr>
          <p:cNvSpPr txBox="1"/>
          <p:nvPr/>
        </p:nvSpPr>
        <p:spPr>
          <a:xfrm>
            <a:off x="675042" y="4132211"/>
            <a:ext cx="4814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Momentum (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space</a:t>
            </a:r>
            <a:r>
              <a:rPr lang="hu-HU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translation</a:t>
            </a:r>
            <a:r>
              <a:rPr lang="hu-HU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symmetry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  <a:endParaRPr 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2F70E0AD-1661-D134-FFCA-8B228080E3D9}"/>
              </a:ext>
            </a:extLst>
          </p:cNvPr>
          <p:cNvSpPr txBox="1"/>
          <p:nvPr/>
        </p:nvSpPr>
        <p:spPr>
          <a:xfrm>
            <a:off x="675042" y="4516047"/>
            <a:ext cx="4968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Angular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momentum (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rotational</a:t>
            </a:r>
            <a:r>
              <a:rPr lang="hu-HU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symmetry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  <a:endParaRPr lang="en-US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grpSp>
        <p:nvGrpSpPr>
          <p:cNvPr id="12" name="Csoportba foglalás 11">
            <a:extLst>
              <a:ext uri="{FF2B5EF4-FFF2-40B4-BE49-F238E27FC236}">
                <a16:creationId xmlns:a16="http://schemas.microsoft.com/office/drawing/2014/main" id="{D9353C84-E0B3-2491-F8C0-FED566FE063F}"/>
              </a:ext>
            </a:extLst>
          </p:cNvPr>
          <p:cNvGrpSpPr/>
          <p:nvPr/>
        </p:nvGrpSpPr>
        <p:grpSpPr>
          <a:xfrm>
            <a:off x="5776035" y="2231361"/>
            <a:ext cx="4340044" cy="1123329"/>
            <a:chOff x="4537785" y="3968720"/>
            <a:chExt cx="4340044" cy="1123329"/>
          </a:xfrm>
        </p:grpSpPr>
        <p:cxnSp>
          <p:nvCxnSpPr>
            <p:cNvPr id="13" name="Egyenes összekötő nyíllal 12">
              <a:extLst>
                <a:ext uri="{FF2B5EF4-FFF2-40B4-BE49-F238E27FC236}">
                  <a16:creationId xmlns:a16="http://schemas.microsoft.com/office/drawing/2014/main" id="{589AD14D-3706-49E0-8DB2-826086C0A452}"/>
                </a:ext>
              </a:extLst>
            </p:cNvPr>
            <p:cNvCxnSpPr/>
            <p:nvPr/>
          </p:nvCxnSpPr>
          <p:spPr>
            <a:xfrm>
              <a:off x="4537785" y="3968720"/>
              <a:ext cx="2014249" cy="293607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Szövegdoboz 13">
              <a:extLst>
                <a:ext uri="{FF2B5EF4-FFF2-40B4-BE49-F238E27FC236}">
                  <a16:creationId xmlns:a16="http://schemas.microsoft.com/office/drawing/2014/main" id="{F86284B2-3B9A-2400-8AF1-8C7F4F53DA1B}"/>
                </a:ext>
              </a:extLst>
            </p:cNvPr>
            <p:cNvSpPr txBox="1"/>
            <p:nvPr/>
          </p:nvSpPr>
          <p:spPr>
            <a:xfrm>
              <a:off x="5221059" y="4691939"/>
              <a:ext cx="365677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2000" b="1" u="sng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Internal</a:t>
              </a:r>
              <a:r>
                <a:rPr lang="hu-HU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</a:t>
              </a:r>
              <a:r>
                <a:rPr lang="hu-HU" sz="2000" b="1" u="sng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symmetries</a:t>
              </a:r>
              <a:r>
                <a:rPr lang="hu-HU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 (</a:t>
              </a:r>
              <a:r>
                <a:rPr lang="hu-HU" sz="2000" b="1" u="sng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charges</a:t>
              </a:r>
              <a:r>
                <a:rPr lang="hu-HU" sz="2000" b="1" u="sng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Book Antiqua" panose="02040602050305030304" pitchFamily="18" charset="0"/>
                </a:rPr>
                <a:t>)</a:t>
              </a:r>
              <a:endParaRPr lang="en-US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endParaRPr>
            </a:p>
          </p:txBody>
        </p:sp>
      </p:grp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1B602817-9621-B0F1-E196-7BA772B9F1E9}"/>
              </a:ext>
            </a:extLst>
          </p:cNvPr>
          <p:cNvSpPr txBox="1"/>
          <p:nvPr/>
        </p:nvSpPr>
        <p:spPr>
          <a:xfrm>
            <a:off x="7239223" y="3586499"/>
            <a:ext cx="2005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Electric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endParaRPr lang="hu-HU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65391C83-7137-06B3-2946-7E6FEE06400F}"/>
              </a:ext>
            </a:extLst>
          </p:cNvPr>
          <p:cNvSpPr txBox="1"/>
          <p:nvPr/>
        </p:nvSpPr>
        <p:spPr>
          <a:xfrm>
            <a:off x="7239223" y="3942224"/>
            <a:ext cx="40575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Barionic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(</a:t>
            </a:r>
            <a:r>
              <a:rPr lang="hu-HU" b="1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nucleon</a:t>
            </a:r>
            <a:r>
              <a:rPr lang="hu-HU" b="1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number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91196F67-C4DF-5E2E-973E-302D1BE8C295}"/>
              </a:ext>
            </a:extLst>
          </p:cNvPr>
          <p:cNvSpPr txBox="1"/>
          <p:nvPr/>
        </p:nvSpPr>
        <p:spPr>
          <a:xfrm>
            <a:off x="7239223" y="4305143"/>
            <a:ext cx="46538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Leptonic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charge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light</a:t>
            </a:r>
            <a:r>
              <a:rPr lang="hu-HU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fermion</a:t>
            </a:r>
            <a:r>
              <a:rPr lang="hu-HU" dirty="0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2">
                    <a:lumMod val="75000"/>
                  </a:schemeClr>
                </a:solidFill>
                <a:latin typeface="Book Antiqua" panose="02040602050305030304" pitchFamily="18" charset="0"/>
              </a:rPr>
              <a:t>number</a:t>
            </a:r>
            <a:r>
              <a:rPr lang="hu-HU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33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5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718E5B-FD2F-6C59-9272-FE7111322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Alpha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sz="24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indtroduction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)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1E69A419-7708-A846-8272-4BD713D27950}"/>
              </a:ext>
            </a:extLst>
          </p:cNvPr>
          <p:cNvGrpSpPr/>
          <p:nvPr/>
        </p:nvGrpSpPr>
        <p:grpSpPr>
          <a:xfrm>
            <a:off x="587440" y="2078423"/>
            <a:ext cx="2077581" cy="419233"/>
            <a:chOff x="1230757" y="2630608"/>
            <a:chExt cx="2077581" cy="41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8695E8DF-D259-3130-8049-5FFF7E6E2FB1}"/>
                    </a:ext>
                  </a:extLst>
                </p:cNvPr>
                <p:cNvSpPr txBox="1"/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  <m:r>
                          <a:rPr lang="hu-H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8695E8DF-D259-3130-8049-5FFF7E6E2F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53A89CC2-781A-94E2-4379-FB4E84DA53FF}"/>
                    </a:ext>
                  </a:extLst>
                </p:cNvPr>
                <p:cNvSpPr/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𝐻𝑒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53A89CC2-781A-94E2-4379-FB4E84DA53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CE2539C7-7334-16CA-7C5E-9EB89CBFD8FA}"/>
                    </a:ext>
                  </a:extLst>
                </p:cNvPr>
                <p:cNvSpPr/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CE2539C7-7334-16CA-7C5E-9EB89CBFD8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F9503C5A-4061-DF17-47D7-219C201D805D}"/>
              </a:ext>
            </a:extLst>
          </p:cNvPr>
          <p:cNvSpPr txBox="1"/>
          <p:nvPr/>
        </p:nvSpPr>
        <p:spPr>
          <a:xfrm>
            <a:off x="3553453" y="2040781"/>
            <a:ext cx="343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u="sng" dirty="0" err="1">
                <a:latin typeface="Book Antiqua" panose="02040602050305030304" pitchFamily="18" charset="0"/>
              </a:rPr>
              <a:t>Why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does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the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decay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happen</a:t>
            </a:r>
            <a:r>
              <a:rPr lang="hu-HU" i="1" u="sng" dirty="0">
                <a:latin typeface="Book Antiqua" panose="02040602050305030304" pitchFamily="18" charset="0"/>
              </a:rPr>
              <a:t>?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389E30CA-D43B-1D1A-1D85-E7ADAF0AF7CC}"/>
              </a:ext>
            </a:extLst>
          </p:cNvPr>
          <p:cNvSpPr txBox="1"/>
          <p:nvPr/>
        </p:nvSpPr>
        <p:spPr>
          <a:xfrm>
            <a:off x="7941444" y="2040781"/>
            <a:ext cx="321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u="sng" dirty="0" err="1">
                <a:latin typeface="Book Antiqua" panose="02040602050305030304" pitchFamily="18" charset="0"/>
              </a:rPr>
              <a:t>How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can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the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decay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happen</a:t>
            </a:r>
            <a:r>
              <a:rPr lang="hu-HU" u="sng" dirty="0">
                <a:latin typeface="Book Antiqua" panose="02040602050305030304" pitchFamily="18" charset="0"/>
              </a:rPr>
              <a:t>?</a:t>
            </a:r>
            <a:endParaRPr lang="en-US" b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4660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E37A-5F8F-AE9D-85B0-9FF9952C0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736375D-A6C9-A195-46F3-FD02287F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Alpha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sz="24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indtroduction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)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80396E7A-190C-7C22-7D89-74920502C701}"/>
              </a:ext>
            </a:extLst>
          </p:cNvPr>
          <p:cNvGrpSpPr/>
          <p:nvPr/>
        </p:nvGrpSpPr>
        <p:grpSpPr>
          <a:xfrm>
            <a:off x="587440" y="2078423"/>
            <a:ext cx="2077581" cy="419233"/>
            <a:chOff x="1230757" y="2630608"/>
            <a:chExt cx="2077581" cy="41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4086CB5A-CB69-5F41-81BB-52544DB5BB92}"/>
                    </a:ext>
                  </a:extLst>
                </p:cNvPr>
                <p:cNvSpPr txBox="1"/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  <m:r>
                          <a:rPr lang="hu-H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4086CB5A-CB69-5F41-81BB-52544DB5BB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71CA09EF-E532-BEAB-E250-C514F3B4505E}"/>
                    </a:ext>
                  </a:extLst>
                </p:cNvPr>
                <p:cNvSpPr/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𝐻𝑒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71CA09EF-E532-BEAB-E250-C514F3B4505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6C0C8DDA-1923-C2A8-0F08-5D1B70DB6058}"/>
                    </a:ext>
                  </a:extLst>
                </p:cNvPr>
                <p:cNvSpPr/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6C0C8DDA-1923-C2A8-0F08-5D1B70DB60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C7C719EA-6FEA-07B2-748E-55FD77E12B99}"/>
              </a:ext>
            </a:extLst>
          </p:cNvPr>
          <p:cNvSpPr txBox="1"/>
          <p:nvPr/>
        </p:nvSpPr>
        <p:spPr>
          <a:xfrm>
            <a:off x="3553453" y="2040781"/>
            <a:ext cx="343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u="sng" dirty="0" err="1">
                <a:latin typeface="Book Antiqua" panose="02040602050305030304" pitchFamily="18" charset="0"/>
              </a:rPr>
              <a:t>Why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does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the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decay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happen</a:t>
            </a:r>
            <a:r>
              <a:rPr lang="hu-HU" i="1" u="sng" dirty="0">
                <a:latin typeface="Book Antiqua" panose="02040602050305030304" pitchFamily="18" charset="0"/>
              </a:rPr>
              <a:t>?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9302471-F27C-3177-E3BB-9E486F25F4B6}"/>
              </a:ext>
            </a:extLst>
          </p:cNvPr>
          <p:cNvSpPr txBox="1"/>
          <p:nvPr/>
        </p:nvSpPr>
        <p:spPr>
          <a:xfrm>
            <a:off x="587439" y="2677803"/>
            <a:ext cx="66938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The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products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more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tightly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bound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than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parent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Check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binding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difference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Characterizing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desintegration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)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Q (4-10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MeV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half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  (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or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ymbol" panose="05050102010706020507" pitchFamily="18" charset="2"/>
              </a:rPr>
              <a:t>t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lifetime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 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varies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from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micro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seconds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billion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years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…)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085C454D-84FD-D318-8AC1-35A3E1FF3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8258" y="2294587"/>
            <a:ext cx="2880000" cy="2524120"/>
          </a:xfrm>
          <a:prstGeom prst="rect">
            <a:avLst/>
          </a:prstGeom>
        </p:spPr>
      </p:pic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445856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1261-8FAE-A20E-7D83-1842C38E5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79F95C7-6500-04F8-B038-F853E86C1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Alpha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sz="24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indtroduction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)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8D5091BA-F60B-CAB5-D0D8-3A5C626D0292}"/>
              </a:ext>
            </a:extLst>
          </p:cNvPr>
          <p:cNvGrpSpPr/>
          <p:nvPr/>
        </p:nvGrpSpPr>
        <p:grpSpPr>
          <a:xfrm>
            <a:off x="587440" y="2078423"/>
            <a:ext cx="2077581" cy="419233"/>
            <a:chOff x="1230757" y="2630608"/>
            <a:chExt cx="2077581" cy="41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6BA28606-49CD-BC4C-2B08-184E80AEBD9E}"/>
                    </a:ext>
                  </a:extLst>
                </p:cNvPr>
                <p:cNvSpPr txBox="1"/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  <m:r>
                          <a:rPr lang="hu-H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6BA28606-49CD-BC4C-2B08-184E80AEBD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AA1AB3CD-AC92-E75A-D53A-DB34A3DE6217}"/>
                    </a:ext>
                  </a:extLst>
                </p:cNvPr>
                <p:cNvSpPr/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𝐻𝑒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AA1AB3CD-AC92-E75A-D53A-DB34A3DE621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C837425D-7520-F85F-E10D-9AF35F2125B4}"/>
                    </a:ext>
                  </a:extLst>
                </p:cNvPr>
                <p:cNvSpPr/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C837425D-7520-F85F-E10D-9AF35F2125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Csoportba foglalás 20">
            <a:extLst>
              <a:ext uri="{FF2B5EF4-FFF2-40B4-BE49-F238E27FC236}">
                <a16:creationId xmlns:a16="http://schemas.microsoft.com/office/drawing/2014/main" id="{0C90E248-5FAD-34EE-D148-028B323B7EBF}"/>
              </a:ext>
            </a:extLst>
          </p:cNvPr>
          <p:cNvGrpSpPr/>
          <p:nvPr/>
        </p:nvGrpSpPr>
        <p:grpSpPr>
          <a:xfrm>
            <a:off x="359693" y="4823203"/>
            <a:ext cx="4772701" cy="1158610"/>
            <a:chOff x="-35906" y="3924553"/>
            <a:chExt cx="4772701" cy="1158610"/>
          </a:xfrm>
        </p:grpSpPr>
        <p:sp>
          <p:nvSpPr>
            <p:cNvPr id="22" name="Szövegdoboz 21">
              <a:extLst>
                <a:ext uri="{FF2B5EF4-FFF2-40B4-BE49-F238E27FC236}">
                  <a16:creationId xmlns:a16="http://schemas.microsoft.com/office/drawing/2014/main" id="{36555C25-E6EB-20FF-A8E0-C11683C3B094}"/>
                </a:ext>
              </a:extLst>
            </p:cNvPr>
            <p:cNvSpPr txBox="1"/>
            <p:nvPr/>
          </p:nvSpPr>
          <p:spPr>
            <a:xfrm>
              <a:off x="-35906" y="3924553"/>
              <a:ext cx="3020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600" b="1" dirty="0" err="1">
                  <a:latin typeface="Book Antiqua" panose="02040602050305030304" pitchFamily="18" charset="0"/>
                </a:rPr>
                <a:t>Disintegration</a:t>
              </a:r>
              <a:r>
                <a:rPr lang="hu-HU" sz="1600" b="1" dirty="0">
                  <a:latin typeface="Book Antiqua" panose="02040602050305030304" pitchFamily="18" charset="0"/>
                </a:rPr>
                <a:t> (</a:t>
              </a:r>
              <a:r>
                <a:rPr lang="hu-HU" sz="1600" b="1" dirty="0" err="1">
                  <a:latin typeface="Book Antiqua" panose="02040602050305030304" pitchFamily="18" charset="0"/>
                </a:rPr>
                <a:t>decay</a:t>
              </a:r>
              <a:r>
                <a:rPr lang="hu-HU" sz="1600" b="1" dirty="0">
                  <a:latin typeface="Book Antiqua" panose="02040602050305030304" pitchFamily="18" charset="0"/>
                </a:rPr>
                <a:t>) </a:t>
              </a:r>
              <a:r>
                <a:rPr lang="hu-HU" sz="1600" b="1" dirty="0" err="1">
                  <a:latin typeface="Book Antiqua" panose="02040602050305030304" pitchFamily="18" charset="0"/>
                </a:rPr>
                <a:t>energy</a:t>
              </a:r>
              <a:r>
                <a:rPr lang="hu-HU" sz="1600" b="1" dirty="0">
                  <a:latin typeface="Book Antiqua" panose="02040602050305030304" pitchFamily="18" charset="0"/>
                </a:rPr>
                <a:t>:</a:t>
              </a:r>
              <a:endParaRPr lang="en-US" sz="1600" b="1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Szövegdoboz 22">
                  <a:extLst>
                    <a:ext uri="{FF2B5EF4-FFF2-40B4-BE49-F238E27FC236}">
                      <a16:creationId xmlns:a16="http://schemas.microsoft.com/office/drawing/2014/main" id="{A32AA93D-52E7-A89E-9515-D8EA6E3D8E1C}"/>
                    </a:ext>
                  </a:extLst>
                </p:cNvPr>
                <p:cNvSpPr txBox="1"/>
                <p:nvPr/>
              </p:nvSpPr>
              <p:spPr>
                <a:xfrm>
                  <a:off x="60066" y="4415416"/>
                  <a:ext cx="4676729" cy="66774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−4,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𝑎𝑙𝑝h𝑎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hu-HU" b="0" i="1" dirty="0">
                    <a:latin typeface="Cambria Math" panose="02040503050406030204" pitchFamily="18" charset="0"/>
                  </a:endParaRPr>
                </a:p>
                <a:p>
                  <a:r>
                    <a:rPr lang="hu-HU" b="0" dirty="0"/>
                    <a:t>= </a:t>
                  </a:r>
                  <a14:m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−4,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+28,3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𝑀𝑒𝑉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)&gt;0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Szövegdoboz 22">
                  <a:extLst>
                    <a:ext uri="{FF2B5EF4-FFF2-40B4-BE49-F238E27FC236}">
                      <a16:creationId xmlns:a16="http://schemas.microsoft.com/office/drawing/2014/main" id="{A32AA93D-52E7-A89E-9515-D8EA6E3D8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66" y="4415416"/>
                  <a:ext cx="4676729" cy="667747"/>
                </a:xfrm>
                <a:prstGeom prst="rect">
                  <a:avLst/>
                </a:prstGeom>
                <a:blipFill>
                  <a:blip r:embed="rId5"/>
                  <a:stretch>
                    <a:fillRect l="-1040" b="-13514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Szövegdoboz 4">
            <a:extLst>
              <a:ext uri="{FF2B5EF4-FFF2-40B4-BE49-F238E27FC236}">
                <a16:creationId xmlns:a16="http://schemas.microsoft.com/office/drawing/2014/main" id="{E18F4636-CC04-FC3F-9F63-FE8A57CDD998}"/>
              </a:ext>
            </a:extLst>
          </p:cNvPr>
          <p:cNvSpPr txBox="1"/>
          <p:nvPr/>
        </p:nvSpPr>
        <p:spPr>
          <a:xfrm>
            <a:off x="3553453" y="2040781"/>
            <a:ext cx="343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u="sng" dirty="0" err="1">
                <a:latin typeface="Book Antiqua" panose="02040602050305030304" pitchFamily="18" charset="0"/>
              </a:rPr>
              <a:t>Why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does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the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decay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happen</a:t>
            </a:r>
            <a:r>
              <a:rPr lang="hu-HU" i="1" u="sng" dirty="0">
                <a:latin typeface="Book Antiqua" panose="02040602050305030304" pitchFamily="18" charset="0"/>
              </a:rPr>
              <a:t>?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AC56BD53-D8D1-609A-31F2-76A905472E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9764" y="2107998"/>
            <a:ext cx="3193829" cy="3204000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B4F5AE4A-8FC7-4D5D-A356-5FE3F62304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453" y="4693757"/>
            <a:ext cx="3095997" cy="468000"/>
          </a:xfrm>
          <a:prstGeom prst="rect">
            <a:avLst/>
          </a:prstGeom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1DE98D43-62D5-9456-C468-4ADDF478283D}"/>
              </a:ext>
            </a:extLst>
          </p:cNvPr>
          <p:cNvSpPr txBox="1"/>
          <p:nvPr/>
        </p:nvSpPr>
        <p:spPr>
          <a:xfrm>
            <a:off x="587439" y="2677803"/>
            <a:ext cx="6693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The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products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more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tightly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bound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than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parent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Check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binding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difference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Characterizing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desintegration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)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half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  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varies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from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micro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seconds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billion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years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…)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11D5E87-3B6A-8A42-5FAA-0D075B73270E}"/>
              </a:ext>
            </a:extLst>
          </p:cNvPr>
          <p:cNvSpPr txBox="1"/>
          <p:nvPr/>
        </p:nvSpPr>
        <p:spPr>
          <a:xfrm>
            <a:off x="5348436" y="5601986"/>
            <a:ext cx="63878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mostly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kinetic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energy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alpha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particle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emitted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(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recoil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can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be </a:t>
            </a:r>
            <a:r>
              <a:rPr lang="hu-HU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neglected</a:t>
            </a:r>
            <a:r>
              <a:rPr lang="hu-HU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)</a:t>
            </a: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495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91E84-9CC4-6F04-E8E2-943E51B15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1A2DA5-91F9-F3F2-6C38-599AC1EF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Alpha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sz="24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indtroduction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)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B13FEC52-50DB-46D5-8C5D-BB1D0A7DD46E}"/>
              </a:ext>
            </a:extLst>
          </p:cNvPr>
          <p:cNvGrpSpPr/>
          <p:nvPr/>
        </p:nvGrpSpPr>
        <p:grpSpPr>
          <a:xfrm>
            <a:off x="587440" y="2078423"/>
            <a:ext cx="2077581" cy="419233"/>
            <a:chOff x="1230757" y="2630608"/>
            <a:chExt cx="2077581" cy="41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1C23B9A4-6860-FFD6-50F6-438A8E2E57E3}"/>
                    </a:ext>
                  </a:extLst>
                </p:cNvPr>
                <p:cNvSpPr txBox="1"/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  <m:r>
                          <a:rPr lang="hu-H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1C23B9A4-6860-FFD6-50F6-438A8E2E57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E2DD2CFF-9661-F85C-4997-6FCDFC259F60}"/>
                    </a:ext>
                  </a:extLst>
                </p:cNvPr>
                <p:cNvSpPr/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𝐻𝑒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E2DD2CFF-9661-F85C-4997-6FCDFC259F6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01FF43BD-D812-F076-A61A-C34F9C3CA42A}"/>
                    </a:ext>
                  </a:extLst>
                </p:cNvPr>
                <p:cNvSpPr/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01FF43BD-D812-F076-A61A-C34F9C3CA4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Szövegdoboz 5">
            <a:extLst>
              <a:ext uri="{FF2B5EF4-FFF2-40B4-BE49-F238E27FC236}">
                <a16:creationId xmlns:a16="http://schemas.microsoft.com/office/drawing/2014/main" id="{86D3D015-7FB7-B7D6-D735-DE888852E9EB}"/>
              </a:ext>
            </a:extLst>
          </p:cNvPr>
          <p:cNvSpPr txBox="1"/>
          <p:nvPr/>
        </p:nvSpPr>
        <p:spPr>
          <a:xfrm>
            <a:off x="3553453" y="2040781"/>
            <a:ext cx="343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u="sng" dirty="0" err="1">
                <a:latin typeface="Book Antiqua" panose="02040602050305030304" pitchFamily="18" charset="0"/>
              </a:rPr>
              <a:t>Why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does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the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decay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happen</a:t>
            </a:r>
            <a:r>
              <a:rPr lang="hu-HU" i="1" u="sng" dirty="0">
                <a:latin typeface="Book Antiqua" panose="02040602050305030304" pitchFamily="18" charset="0"/>
              </a:rPr>
              <a:t>?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781C8E97-6190-1FC6-B110-EDFFC5D6BEAA}"/>
              </a:ext>
            </a:extLst>
          </p:cNvPr>
          <p:cNvGrpSpPr/>
          <p:nvPr/>
        </p:nvGrpSpPr>
        <p:grpSpPr>
          <a:xfrm>
            <a:off x="587440" y="2078423"/>
            <a:ext cx="2077581" cy="419233"/>
            <a:chOff x="1230757" y="2630608"/>
            <a:chExt cx="2077581" cy="41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Szövegdoboz 10">
                  <a:extLst>
                    <a:ext uri="{FF2B5EF4-FFF2-40B4-BE49-F238E27FC236}">
                      <a16:creationId xmlns:a16="http://schemas.microsoft.com/office/drawing/2014/main" id="{CA8FBBF1-FB3E-0E11-5A8E-F24C9F63BEEC}"/>
                    </a:ext>
                  </a:extLst>
                </p:cNvPr>
                <p:cNvSpPr txBox="1"/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  <m:r>
                          <a:rPr lang="hu-H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Szövegdoboz 10">
                  <a:extLst>
                    <a:ext uri="{FF2B5EF4-FFF2-40B4-BE49-F238E27FC236}">
                      <a16:creationId xmlns:a16="http://schemas.microsoft.com/office/drawing/2014/main" id="{CA8FBBF1-FB3E-0E11-5A8E-F24C9F63BE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églalap 11">
                  <a:extLst>
                    <a:ext uri="{FF2B5EF4-FFF2-40B4-BE49-F238E27FC236}">
                      <a16:creationId xmlns:a16="http://schemas.microsoft.com/office/drawing/2014/main" id="{3F415AD1-9078-7301-5A2E-284A0BDB51FA}"/>
                    </a:ext>
                  </a:extLst>
                </p:cNvPr>
                <p:cNvSpPr/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𝐻𝑒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églalap 11">
                  <a:extLst>
                    <a:ext uri="{FF2B5EF4-FFF2-40B4-BE49-F238E27FC236}">
                      <a16:creationId xmlns:a16="http://schemas.microsoft.com/office/drawing/2014/main" id="{3F415AD1-9078-7301-5A2E-284A0BDB51F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églalap 12">
                  <a:extLst>
                    <a:ext uri="{FF2B5EF4-FFF2-40B4-BE49-F238E27FC236}">
                      <a16:creationId xmlns:a16="http://schemas.microsoft.com/office/drawing/2014/main" id="{17F3D964-96AD-5085-9CEF-3BABF38DDDB4}"/>
                    </a:ext>
                  </a:extLst>
                </p:cNvPr>
                <p:cNvSpPr/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" name="Téglalap 12">
                  <a:extLst>
                    <a:ext uri="{FF2B5EF4-FFF2-40B4-BE49-F238E27FC236}">
                      <a16:creationId xmlns:a16="http://schemas.microsoft.com/office/drawing/2014/main" id="{17F3D964-96AD-5085-9CEF-3BABF38DDD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4EF53B7E-963C-63F9-CF4C-F12803C798C1}"/>
              </a:ext>
            </a:extLst>
          </p:cNvPr>
          <p:cNvSpPr txBox="1"/>
          <p:nvPr/>
        </p:nvSpPr>
        <p:spPr>
          <a:xfrm>
            <a:off x="3553453" y="2040781"/>
            <a:ext cx="343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u="sng" dirty="0" err="1">
                <a:latin typeface="Book Antiqua" panose="02040602050305030304" pitchFamily="18" charset="0"/>
              </a:rPr>
              <a:t>Why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does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the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decay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happen</a:t>
            </a:r>
            <a:r>
              <a:rPr lang="hu-HU" i="1" u="sng" dirty="0">
                <a:latin typeface="Book Antiqua" panose="02040602050305030304" pitchFamily="18" charset="0"/>
              </a:rPr>
              <a:t>?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85EB11E3-BC65-04B8-F01F-136234A8C1D7}"/>
              </a:ext>
            </a:extLst>
          </p:cNvPr>
          <p:cNvSpPr txBox="1"/>
          <p:nvPr/>
        </p:nvSpPr>
        <p:spPr>
          <a:xfrm>
            <a:off x="181713" y="2942280"/>
            <a:ext cx="485657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The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products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more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tightly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bound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than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parent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Check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binding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difference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Characterizing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desintegration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)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half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  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varies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from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micro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seconds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billion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years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…)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hu-HU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Geiger-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Nuttal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law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(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empirical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…)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B7F448CC-C272-50B2-3C19-FD921719B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16</a:t>
            </a:fld>
            <a:endParaRPr lang="hu-HU"/>
          </a:p>
        </p:txBody>
      </p:sp>
      <p:pic>
        <p:nvPicPr>
          <p:cNvPr id="23" name="Kép 22">
            <a:extLst>
              <a:ext uri="{FF2B5EF4-FFF2-40B4-BE49-F238E27FC236}">
                <a16:creationId xmlns:a16="http://schemas.microsoft.com/office/drawing/2014/main" id="{BB7723AF-3F9B-62EB-BEC9-B1CEDF1FF4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121" y="5034032"/>
            <a:ext cx="1809816" cy="504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29" name="Csoportba foglalás 28">
            <a:extLst>
              <a:ext uri="{FF2B5EF4-FFF2-40B4-BE49-F238E27FC236}">
                <a16:creationId xmlns:a16="http://schemas.microsoft.com/office/drawing/2014/main" id="{96966A70-2B5D-B52C-ABC6-F70620C963BD}"/>
              </a:ext>
            </a:extLst>
          </p:cNvPr>
          <p:cNvGrpSpPr/>
          <p:nvPr/>
        </p:nvGrpSpPr>
        <p:grpSpPr>
          <a:xfrm>
            <a:off x="7305397" y="1772280"/>
            <a:ext cx="4427562" cy="2340000"/>
            <a:chOff x="7305397" y="1772280"/>
            <a:chExt cx="4427562" cy="2340000"/>
          </a:xfrm>
        </p:grpSpPr>
        <p:pic>
          <p:nvPicPr>
            <p:cNvPr id="8" name="Kép 7">
              <a:extLst>
                <a:ext uri="{FF2B5EF4-FFF2-40B4-BE49-F238E27FC236}">
                  <a16:creationId xmlns:a16="http://schemas.microsoft.com/office/drawing/2014/main" id="{9ED57F61-E796-371D-F139-22BDCC7DBA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05397" y="1772280"/>
              <a:ext cx="4427562" cy="2340000"/>
            </a:xfrm>
            <a:prstGeom prst="rect">
              <a:avLst/>
            </a:prstGeom>
          </p:spPr>
        </p:pic>
        <p:sp>
          <p:nvSpPr>
            <p:cNvPr id="28" name="Szövegdoboz 27">
              <a:extLst>
                <a:ext uri="{FF2B5EF4-FFF2-40B4-BE49-F238E27FC236}">
                  <a16:creationId xmlns:a16="http://schemas.microsoft.com/office/drawing/2014/main" id="{41E9081E-66F4-C02E-A2A2-5B867F598B0B}"/>
                </a:ext>
              </a:extLst>
            </p:cNvPr>
            <p:cNvSpPr txBox="1"/>
            <p:nvPr/>
          </p:nvSpPr>
          <p:spPr>
            <a:xfrm>
              <a:off x="9514994" y="3731545"/>
              <a:ext cx="327334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800" dirty="0"/>
                <a:t>1/2</a:t>
              </a:r>
            </a:p>
          </p:txBody>
        </p:sp>
      </p:grpSp>
      <p:pic>
        <p:nvPicPr>
          <p:cNvPr id="21" name="Kép 20">
            <a:extLst>
              <a:ext uri="{FF2B5EF4-FFF2-40B4-BE49-F238E27FC236}">
                <a16:creationId xmlns:a16="http://schemas.microsoft.com/office/drawing/2014/main" id="{1AA7929E-D327-00A1-9631-EDCA5391064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7128" y="3670322"/>
            <a:ext cx="3170412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00757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0460F-A5B3-2F59-52B0-CD477248C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D252AA3-D257-E6D0-331F-3CA6CA83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Alpha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sz="24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indtroduction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)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5BCAC220-10EA-F5B5-A941-3DF2AE14CDC4}"/>
              </a:ext>
            </a:extLst>
          </p:cNvPr>
          <p:cNvSpPr txBox="1"/>
          <p:nvPr/>
        </p:nvSpPr>
        <p:spPr>
          <a:xfrm>
            <a:off x="8019183" y="2633024"/>
            <a:ext cx="38833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Alpha-particle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emission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cannot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be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understood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by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classical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physics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!!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grpSp>
        <p:nvGrpSpPr>
          <p:cNvPr id="4" name="Csoportba foglalás 3">
            <a:extLst>
              <a:ext uri="{FF2B5EF4-FFF2-40B4-BE49-F238E27FC236}">
                <a16:creationId xmlns:a16="http://schemas.microsoft.com/office/drawing/2014/main" id="{876D305C-B2DA-3254-376F-625FD88D5CC0}"/>
              </a:ext>
            </a:extLst>
          </p:cNvPr>
          <p:cNvGrpSpPr/>
          <p:nvPr/>
        </p:nvGrpSpPr>
        <p:grpSpPr>
          <a:xfrm>
            <a:off x="587440" y="2078423"/>
            <a:ext cx="2077581" cy="419233"/>
            <a:chOff x="1230757" y="2630608"/>
            <a:chExt cx="2077581" cy="41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01D19053-4547-B942-5904-0F2B85E87833}"/>
                    </a:ext>
                  </a:extLst>
                </p:cNvPr>
                <p:cNvSpPr txBox="1"/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  <m:r>
                          <a:rPr lang="hu-H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8" name="Szövegdoboz 17">
                  <a:extLst>
                    <a:ext uri="{FF2B5EF4-FFF2-40B4-BE49-F238E27FC236}">
                      <a16:creationId xmlns:a16="http://schemas.microsoft.com/office/drawing/2014/main" id="{01D19053-4547-B942-5904-0F2B85E878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512AC3F0-6A1E-9C58-A4C7-1F9E5AE4168A}"/>
                    </a:ext>
                  </a:extLst>
                </p:cNvPr>
                <p:cNvSpPr/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𝐻𝑒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9" name="Téglalap 18">
                  <a:extLst>
                    <a:ext uri="{FF2B5EF4-FFF2-40B4-BE49-F238E27FC236}">
                      <a16:creationId xmlns:a16="http://schemas.microsoft.com/office/drawing/2014/main" id="{512AC3F0-6A1E-9C58-A4C7-1F9E5AE4168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91A996A9-2307-3471-356E-B3F73DEA313B}"/>
                    </a:ext>
                  </a:extLst>
                </p:cNvPr>
                <p:cNvSpPr/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20" name="Téglalap 19">
                  <a:extLst>
                    <a:ext uri="{FF2B5EF4-FFF2-40B4-BE49-F238E27FC236}">
                      <a16:creationId xmlns:a16="http://schemas.microsoft.com/office/drawing/2014/main" id="{91A996A9-2307-3471-356E-B3F73DEA313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5" name="Kép 24" descr="A képen szöveg, diagram, sor, Diagram látható&#10;&#10;Előfordulhat, hogy a mesterséges intelligencia által létrehozott tartalom helytelen.">
            <a:extLst>
              <a:ext uri="{FF2B5EF4-FFF2-40B4-BE49-F238E27FC236}">
                <a16:creationId xmlns:a16="http://schemas.microsoft.com/office/drawing/2014/main" id="{552BCDCE-1552-2BEA-333B-D6C2793756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9905" y="3414724"/>
            <a:ext cx="2160000" cy="2368110"/>
          </a:xfrm>
          <a:prstGeom prst="rect">
            <a:avLst/>
          </a:prstGeom>
        </p:spPr>
      </p:pic>
      <p:sp>
        <p:nvSpPr>
          <p:cNvPr id="30" name="Szövegdoboz 29">
            <a:extLst>
              <a:ext uri="{FF2B5EF4-FFF2-40B4-BE49-F238E27FC236}">
                <a16:creationId xmlns:a16="http://schemas.microsoft.com/office/drawing/2014/main" id="{53D5C9D8-2197-0386-1091-4C7199AA5223}"/>
              </a:ext>
            </a:extLst>
          </p:cNvPr>
          <p:cNvSpPr txBox="1"/>
          <p:nvPr/>
        </p:nvSpPr>
        <p:spPr>
          <a:xfrm>
            <a:off x="8019183" y="5714588"/>
            <a:ext cx="37027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latin typeface="Book Antiqua" panose="02040602050305030304" pitchFamily="18" charset="0"/>
              </a:rPr>
              <a:t>A </a:t>
            </a:r>
            <a:r>
              <a:rPr lang="hu-HU" dirty="0" err="1">
                <a:latin typeface="Book Antiqua" panose="02040602050305030304" pitchFamily="18" charset="0"/>
              </a:rPr>
              <a:t>new</a:t>
            </a:r>
            <a:r>
              <a:rPr lang="hu-HU" dirty="0">
                <a:latin typeface="Book Antiqua" panose="02040602050305030304" pitchFamily="18" charset="0"/>
              </a:rPr>
              <a:t>, </a:t>
            </a:r>
            <a:r>
              <a:rPr lang="hu-HU" dirty="0" err="1">
                <a:latin typeface="Book Antiqua" panose="02040602050305030304" pitchFamily="18" charset="0"/>
              </a:rPr>
              <a:t>pure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quantum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process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dirty="0" err="1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tunneling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B31854B1-B1EC-03B5-2591-4C3EAE324124}"/>
              </a:ext>
            </a:extLst>
          </p:cNvPr>
          <p:cNvSpPr txBox="1"/>
          <p:nvPr/>
        </p:nvSpPr>
        <p:spPr>
          <a:xfrm>
            <a:off x="7561694" y="2040781"/>
            <a:ext cx="3214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u="sng" dirty="0" err="1">
                <a:latin typeface="Book Antiqua" panose="02040602050305030304" pitchFamily="18" charset="0"/>
              </a:rPr>
              <a:t>How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can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the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decay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happen</a:t>
            </a:r>
            <a:r>
              <a:rPr lang="hu-HU" u="sng" dirty="0">
                <a:latin typeface="Book Antiqua" panose="02040602050305030304" pitchFamily="18" charset="0"/>
              </a:rPr>
              <a:t>?</a:t>
            </a:r>
            <a:endParaRPr lang="en-US" b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2F4363EE-BB19-670F-AC1C-A6A00716C3E4}"/>
              </a:ext>
            </a:extLst>
          </p:cNvPr>
          <p:cNvSpPr txBox="1"/>
          <p:nvPr/>
        </p:nvSpPr>
        <p:spPr>
          <a:xfrm>
            <a:off x="3553453" y="2040781"/>
            <a:ext cx="343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u="sng" dirty="0" err="1">
                <a:latin typeface="Book Antiqua" panose="02040602050305030304" pitchFamily="18" charset="0"/>
              </a:rPr>
              <a:t>Why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does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the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decay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happen</a:t>
            </a:r>
            <a:r>
              <a:rPr lang="hu-HU" i="1" u="sng" dirty="0">
                <a:latin typeface="Book Antiqua" panose="02040602050305030304" pitchFamily="18" charset="0"/>
              </a:rPr>
              <a:t>?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grpSp>
        <p:nvGrpSpPr>
          <p:cNvPr id="10" name="Csoportba foglalás 9">
            <a:extLst>
              <a:ext uri="{FF2B5EF4-FFF2-40B4-BE49-F238E27FC236}">
                <a16:creationId xmlns:a16="http://schemas.microsoft.com/office/drawing/2014/main" id="{8B0E1194-A247-B788-792F-2B0A5A785E01}"/>
              </a:ext>
            </a:extLst>
          </p:cNvPr>
          <p:cNvGrpSpPr/>
          <p:nvPr/>
        </p:nvGrpSpPr>
        <p:grpSpPr>
          <a:xfrm>
            <a:off x="587440" y="2078423"/>
            <a:ext cx="2077581" cy="419233"/>
            <a:chOff x="1230757" y="2630608"/>
            <a:chExt cx="2077581" cy="419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Szövegdoboz 10">
                  <a:extLst>
                    <a:ext uri="{FF2B5EF4-FFF2-40B4-BE49-F238E27FC236}">
                      <a16:creationId xmlns:a16="http://schemas.microsoft.com/office/drawing/2014/main" id="{FD1147C6-0A7D-5D82-FB38-4034DC47690E}"/>
                    </a:ext>
                  </a:extLst>
                </p:cNvPr>
                <p:cNvSpPr txBox="1"/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sub>
                          <m:sup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  <m:e>
                            <m:r>
                              <a:rPr lang="hu-HU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sPre>
                        <m:r>
                          <a:rPr lang="hu-HU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1" name="Szövegdoboz 10">
                  <a:extLst>
                    <a:ext uri="{FF2B5EF4-FFF2-40B4-BE49-F238E27FC236}">
                      <a16:creationId xmlns:a16="http://schemas.microsoft.com/office/drawing/2014/main" id="{FD1147C6-0A7D-5D82-FB38-4034DC4769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0757" y="2630608"/>
                  <a:ext cx="785023" cy="406137"/>
                </a:xfrm>
                <a:prstGeom prst="rect">
                  <a:avLst/>
                </a:prstGeom>
                <a:blipFill>
                  <a:blip r:embed="rId2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églalap 11">
                  <a:extLst>
                    <a:ext uri="{FF2B5EF4-FFF2-40B4-BE49-F238E27FC236}">
                      <a16:creationId xmlns:a16="http://schemas.microsoft.com/office/drawing/2014/main" id="{A4F92D80-2E23-EDC5-A915-9E0D68DD6BF8}"/>
                    </a:ext>
                  </a:extLst>
                </p:cNvPr>
                <p:cNvSpPr/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sz="2000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𝐻𝑒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2" name="Téglalap 11">
                  <a:extLst>
                    <a:ext uri="{FF2B5EF4-FFF2-40B4-BE49-F238E27FC236}">
                      <a16:creationId xmlns:a16="http://schemas.microsoft.com/office/drawing/2014/main" id="{A4F92D80-2E23-EDC5-A915-9E0D68DD6B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5021" y="2632706"/>
                  <a:ext cx="643317" cy="402931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églalap 12">
                  <a:extLst>
                    <a:ext uri="{FF2B5EF4-FFF2-40B4-BE49-F238E27FC236}">
                      <a16:creationId xmlns:a16="http://schemas.microsoft.com/office/drawing/2014/main" id="{F5A1D587-87BC-F60B-196E-369D0C00FC50}"/>
                    </a:ext>
                  </a:extLst>
                </p:cNvPr>
                <p:cNvSpPr/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  <m:sup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−4</m:t>
                            </m:r>
                          </m:sup>
                          <m:e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  <m:r>
                              <a:rPr lang="hu-HU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</m:e>
                        </m:sPre>
                      </m:oMath>
                    </m:oMathPara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13" name="Téglalap 12">
                  <a:extLst>
                    <a:ext uri="{FF2B5EF4-FFF2-40B4-BE49-F238E27FC236}">
                      <a16:creationId xmlns:a16="http://schemas.microsoft.com/office/drawing/2014/main" id="{F5A1D587-87BC-F60B-196E-369D0C00FC5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51075" y="2643704"/>
                  <a:ext cx="961352" cy="406137"/>
                </a:xfrm>
                <a:prstGeom prst="rect">
                  <a:avLst/>
                </a:prstGeom>
                <a:blipFill>
                  <a:blip r:embed="rId4"/>
                  <a:stretch>
                    <a:fillRect b="-149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Csoportba foglalás 13">
            <a:extLst>
              <a:ext uri="{FF2B5EF4-FFF2-40B4-BE49-F238E27FC236}">
                <a16:creationId xmlns:a16="http://schemas.microsoft.com/office/drawing/2014/main" id="{9E4651C0-8046-5DBB-7568-AC62718E28B5}"/>
              </a:ext>
            </a:extLst>
          </p:cNvPr>
          <p:cNvGrpSpPr/>
          <p:nvPr/>
        </p:nvGrpSpPr>
        <p:grpSpPr>
          <a:xfrm>
            <a:off x="359693" y="4823203"/>
            <a:ext cx="4772701" cy="1158610"/>
            <a:chOff x="-35906" y="3924553"/>
            <a:chExt cx="4772701" cy="1158610"/>
          </a:xfrm>
        </p:grpSpPr>
        <p:sp>
          <p:nvSpPr>
            <p:cNvPr id="16" name="Szövegdoboz 15">
              <a:extLst>
                <a:ext uri="{FF2B5EF4-FFF2-40B4-BE49-F238E27FC236}">
                  <a16:creationId xmlns:a16="http://schemas.microsoft.com/office/drawing/2014/main" id="{3778A2A5-264B-0737-B955-F6FEE797BAA9}"/>
                </a:ext>
              </a:extLst>
            </p:cNvPr>
            <p:cNvSpPr txBox="1"/>
            <p:nvPr/>
          </p:nvSpPr>
          <p:spPr>
            <a:xfrm>
              <a:off x="-35906" y="3924553"/>
              <a:ext cx="30203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sz="1600" b="1" dirty="0" err="1">
                  <a:latin typeface="Book Antiqua" panose="02040602050305030304" pitchFamily="18" charset="0"/>
                </a:rPr>
                <a:t>Disintegration</a:t>
              </a:r>
              <a:r>
                <a:rPr lang="hu-HU" sz="1600" b="1" dirty="0">
                  <a:latin typeface="Book Antiqua" panose="02040602050305030304" pitchFamily="18" charset="0"/>
                </a:rPr>
                <a:t> (</a:t>
              </a:r>
              <a:r>
                <a:rPr lang="hu-HU" sz="1600" b="1" dirty="0" err="1">
                  <a:latin typeface="Book Antiqua" panose="02040602050305030304" pitchFamily="18" charset="0"/>
                </a:rPr>
                <a:t>decay</a:t>
              </a:r>
              <a:r>
                <a:rPr lang="hu-HU" sz="1600" b="1" dirty="0">
                  <a:latin typeface="Book Antiqua" panose="02040602050305030304" pitchFamily="18" charset="0"/>
                </a:rPr>
                <a:t>) </a:t>
              </a:r>
              <a:r>
                <a:rPr lang="hu-HU" sz="1600" b="1" dirty="0" err="1">
                  <a:latin typeface="Book Antiqua" panose="02040602050305030304" pitchFamily="18" charset="0"/>
                </a:rPr>
                <a:t>energy</a:t>
              </a:r>
              <a:r>
                <a:rPr lang="hu-HU" sz="1600" b="1" dirty="0">
                  <a:latin typeface="Book Antiqua" panose="02040602050305030304" pitchFamily="18" charset="0"/>
                </a:rPr>
                <a:t>:</a:t>
              </a:r>
              <a:endParaRPr lang="en-US" sz="1600" b="1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Szövegdoboz 16">
                  <a:extLst>
                    <a:ext uri="{FF2B5EF4-FFF2-40B4-BE49-F238E27FC236}">
                      <a16:creationId xmlns:a16="http://schemas.microsoft.com/office/drawing/2014/main" id="{1352BF76-C427-671E-3E38-EFE730B342E1}"/>
                    </a:ext>
                  </a:extLst>
                </p:cNvPr>
                <p:cNvSpPr txBox="1"/>
                <p:nvPr/>
              </p:nvSpPr>
              <p:spPr>
                <a:xfrm>
                  <a:off x="60066" y="4415416"/>
                  <a:ext cx="4676729" cy="667747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𝛼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</m:d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d>
                          <m:d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−4,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𝑀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𝑎𝑙𝑝h𝑎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hu-HU" b="0" i="1" dirty="0">
                    <a:latin typeface="Cambria Math" panose="02040503050406030204" pitchFamily="18" charset="0"/>
                  </a:endParaRPr>
                </a:p>
                <a:p>
                  <a:r>
                    <a:rPr lang="hu-HU" b="0" dirty="0"/>
                    <a:t>= </a:t>
                  </a:r>
                  <a14:m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𝐵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−4,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+28,3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𝑀𝑒𝑉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)&gt;0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Szövegdoboz 16">
                  <a:extLst>
                    <a:ext uri="{FF2B5EF4-FFF2-40B4-BE49-F238E27FC236}">
                      <a16:creationId xmlns:a16="http://schemas.microsoft.com/office/drawing/2014/main" id="{1352BF76-C427-671E-3E38-EFE730B34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066" y="4415416"/>
                  <a:ext cx="4676729" cy="667747"/>
                </a:xfrm>
                <a:prstGeom prst="rect">
                  <a:avLst/>
                </a:prstGeom>
                <a:blipFill>
                  <a:blip r:embed="rId6"/>
                  <a:stretch>
                    <a:fillRect l="-1040" b="-13514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Szövegdoboz 23">
            <a:extLst>
              <a:ext uri="{FF2B5EF4-FFF2-40B4-BE49-F238E27FC236}">
                <a16:creationId xmlns:a16="http://schemas.microsoft.com/office/drawing/2014/main" id="{E8310E5B-7ED1-FBEE-B2B3-B6E2A0C0954E}"/>
              </a:ext>
            </a:extLst>
          </p:cNvPr>
          <p:cNvSpPr txBox="1"/>
          <p:nvPr/>
        </p:nvSpPr>
        <p:spPr>
          <a:xfrm>
            <a:off x="3553453" y="2040781"/>
            <a:ext cx="3434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i="1" u="sng" dirty="0" err="1">
                <a:latin typeface="Book Antiqua" panose="02040602050305030304" pitchFamily="18" charset="0"/>
              </a:rPr>
              <a:t>Why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does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the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decay</a:t>
            </a:r>
            <a:r>
              <a:rPr lang="hu-HU" i="1" u="sng" dirty="0">
                <a:latin typeface="Book Antiqua" panose="02040602050305030304" pitchFamily="18" charset="0"/>
              </a:rPr>
              <a:t> </a:t>
            </a:r>
            <a:r>
              <a:rPr lang="hu-HU" i="1" u="sng" dirty="0" err="1">
                <a:latin typeface="Book Antiqua" panose="02040602050305030304" pitchFamily="18" charset="0"/>
              </a:rPr>
              <a:t>happen</a:t>
            </a:r>
            <a:r>
              <a:rPr lang="hu-HU" i="1" u="sng" dirty="0">
                <a:latin typeface="Book Antiqua" panose="02040602050305030304" pitchFamily="18" charset="0"/>
              </a:rPr>
              <a:t>?</a:t>
            </a:r>
            <a:endParaRPr lang="en-US" b="1" i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pic>
        <p:nvPicPr>
          <p:cNvPr id="26" name="Kép 25">
            <a:extLst>
              <a:ext uri="{FF2B5EF4-FFF2-40B4-BE49-F238E27FC236}">
                <a16:creationId xmlns:a16="http://schemas.microsoft.com/office/drawing/2014/main" id="{15804B00-91D0-80A3-6BE1-91873093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3453" y="4693757"/>
            <a:ext cx="3095997" cy="468000"/>
          </a:xfrm>
          <a:prstGeom prst="rect">
            <a:avLst/>
          </a:prstGeom>
        </p:spPr>
      </p:pic>
      <p:sp>
        <p:nvSpPr>
          <p:cNvPr id="27" name="Szövegdoboz 26">
            <a:extLst>
              <a:ext uri="{FF2B5EF4-FFF2-40B4-BE49-F238E27FC236}">
                <a16:creationId xmlns:a16="http://schemas.microsoft.com/office/drawing/2014/main" id="{26E67E2E-0711-55B0-1722-C86940FFF1F6}"/>
              </a:ext>
            </a:extLst>
          </p:cNvPr>
          <p:cNvSpPr txBox="1"/>
          <p:nvPr/>
        </p:nvSpPr>
        <p:spPr>
          <a:xfrm>
            <a:off x="587439" y="2677803"/>
            <a:ext cx="669389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The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products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more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tightly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bound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than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parent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Check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binding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difference</a:t>
            </a: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Characterizing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desintegration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) </a:t>
            </a: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Q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half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  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varies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from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micro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seconds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to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billion</a:t>
            </a:r>
            <a:r>
              <a:rPr lang="hu-HU" i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years</a:t>
            </a:r>
            <a:r>
              <a:rPr lang="hu-HU" dirty="0">
                <a:solidFill>
                  <a:schemeClr val="accent1"/>
                </a:solidFill>
                <a:latin typeface="Book Antiqua" panose="02040602050305030304" pitchFamily="18" charset="0"/>
              </a:rPr>
              <a:t>…)</a:t>
            </a:r>
            <a:endParaRPr lang="en-US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5020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68753-8097-418A-1FC6-0F2F320FF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756401-8001-E989-2D82-BFC63729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Alpha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sz="24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indtroduction</a:t>
            </a:r>
            <a:r>
              <a:rPr lang="hu-HU" sz="2400" dirty="0">
                <a:solidFill>
                  <a:schemeClr val="accent1"/>
                </a:solidFill>
                <a:latin typeface="Book Antiqua" panose="02040602050305030304" pitchFamily="18" charset="0"/>
              </a:rPr>
              <a:t>)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33B6D176-C701-4ACB-9A8F-E95438CFDD8A}"/>
              </a:ext>
            </a:extLst>
          </p:cNvPr>
          <p:cNvSpPr txBox="1"/>
          <p:nvPr/>
        </p:nvSpPr>
        <p:spPr>
          <a:xfrm>
            <a:off x="419947" y="1940530"/>
            <a:ext cx="16394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EXAMPLE:</a:t>
            </a:r>
            <a:endParaRPr lang="en-US" sz="2000" b="1" u="sng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9EEB7D26-91A6-C129-812C-02227B06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417" y="2651934"/>
            <a:ext cx="1438275" cy="1438275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E5566479-FE9B-84E3-A9F0-174731CDA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848" y="2340640"/>
            <a:ext cx="6349759" cy="2124000"/>
          </a:xfrm>
          <a:prstGeom prst="rect">
            <a:avLst/>
          </a:prstGeom>
        </p:spPr>
      </p:pic>
      <p:cxnSp>
        <p:nvCxnSpPr>
          <p:cNvPr id="11" name="Egyenes összekötő nyíllal 10">
            <a:extLst>
              <a:ext uri="{FF2B5EF4-FFF2-40B4-BE49-F238E27FC236}">
                <a16:creationId xmlns:a16="http://schemas.microsoft.com/office/drawing/2014/main" id="{31113233-2A0C-301B-474F-57CF24FAD917}"/>
              </a:ext>
            </a:extLst>
          </p:cNvPr>
          <p:cNvCxnSpPr>
            <a:cxnSpLocks/>
          </p:cNvCxnSpPr>
          <p:nvPr/>
        </p:nvCxnSpPr>
        <p:spPr>
          <a:xfrm flipH="1" flipV="1">
            <a:off x="5462304" y="2886811"/>
            <a:ext cx="301683" cy="23157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366EC56C-5D59-CB24-F9CB-B8EFDEDFE4EA}"/>
              </a:ext>
            </a:extLst>
          </p:cNvPr>
          <p:cNvSpPr txBox="1"/>
          <p:nvPr/>
        </p:nvSpPr>
        <p:spPr>
          <a:xfrm>
            <a:off x="4866784" y="5119721"/>
            <a:ext cx="6228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difference</a:t>
            </a:r>
            <a:r>
              <a:rPr lang="hu-HU" b="1" dirty="0">
                <a:latin typeface="Book Antiqua" panose="02040602050305030304" pitchFamily="18" charset="0"/>
              </a:rPr>
              <a:t> in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masses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two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alpha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particles</a:t>
            </a:r>
            <a:r>
              <a:rPr lang="hu-HU" b="1" dirty="0">
                <a:latin typeface="Book Antiqua" panose="02040602050305030304" pitchFamily="18" charset="0"/>
              </a:rPr>
              <a:t> and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beryllium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r>
              <a:rPr lang="hu-HU" b="1" dirty="0">
                <a:latin typeface="Book Antiqua" panose="02040602050305030304" pitchFamily="18" charset="0"/>
              </a:rPr>
              <a:t>: </a:t>
            </a:r>
            <a:r>
              <a:rPr lang="hu-HU" b="1" i="1" dirty="0" err="1">
                <a:latin typeface="Book Antiqua" panose="02040602050305030304" pitchFamily="18" charset="0"/>
              </a:rPr>
              <a:t>negative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means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unstable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against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decay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to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two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alphas</a:t>
            </a:r>
            <a:endParaRPr lang="hu-HU" b="1" i="1" dirty="0">
              <a:latin typeface="Book Antiqua" panose="02040602050305030304" pitchFamily="18" charset="0"/>
            </a:endParaRPr>
          </a:p>
        </p:txBody>
      </p:sp>
      <p:pic>
        <p:nvPicPr>
          <p:cNvPr id="17" name="Kép 16">
            <a:extLst>
              <a:ext uri="{FF2B5EF4-FFF2-40B4-BE49-F238E27FC236}">
                <a16:creationId xmlns:a16="http://schemas.microsoft.com/office/drawing/2014/main" id="{C620614D-04DB-9DD2-47A6-1A35BB26B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182" y="4401503"/>
            <a:ext cx="1438275" cy="1438275"/>
          </a:xfrm>
          <a:prstGeom prst="rect">
            <a:avLst/>
          </a:prstGeom>
        </p:spPr>
      </p:pic>
      <p:pic>
        <p:nvPicPr>
          <p:cNvPr id="26" name="Kép 25">
            <a:extLst>
              <a:ext uri="{FF2B5EF4-FFF2-40B4-BE49-F238E27FC236}">
                <a16:creationId xmlns:a16="http://schemas.microsoft.com/office/drawing/2014/main" id="{E826DAF9-C332-718A-3DC7-39503AC44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2515" y="4401503"/>
            <a:ext cx="1438275" cy="1438275"/>
          </a:xfrm>
          <a:prstGeom prst="rect">
            <a:avLst/>
          </a:prstGeom>
        </p:spPr>
      </p:pic>
      <p:cxnSp>
        <p:nvCxnSpPr>
          <p:cNvPr id="28" name="Egyenes összekötő nyíllal 27">
            <a:extLst>
              <a:ext uri="{FF2B5EF4-FFF2-40B4-BE49-F238E27FC236}">
                <a16:creationId xmlns:a16="http://schemas.microsoft.com/office/drawing/2014/main" id="{DC70FC7B-722B-C8FB-AA3B-D6741EE24C4B}"/>
              </a:ext>
            </a:extLst>
          </p:cNvPr>
          <p:cNvCxnSpPr/>
          <p:nvPr/>
        </p:nvCxnSpPr>
        <p:spPr>
          <a:xfrm flipH="1">
            <a:off x="1239664" y="4090209"/>
            <a:ext cx="352069" cy="31129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Egyenes összekötő nyíllal 28">
            <a:extLst>
              <a:ext uri="{FF2B5EF4-FFF2-40B4-BE49-F238E27FC236}">
                <a16:creationId xmlns:a16="http://schemas.microsoft.com/office/drawing/2014/main" id="{88532932-9003-33B6-8246-C2F8CF2DF23B}"/>
              </a:ext>
            </a:extLst>
          </p:cNvPr>
          <p:cNvCxnSpPr>
            <a:cxnSpLocks/>
          </p:cNvCxnSpPr>
          <p:nvPr/>
        </p:nvCxnSpPr>
        <p:spPr>
          <a:xfrm>
            <a:off x="2677939" y="4099573"/>
            <a:ext cx="341839" cy="30193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lipszis 32">
            <a:extLst>
              <a:ext uri="{FF2B5EF4-FFF2-40B4-BE49-F238E27FC236}">
                <a16:creationId xmlns:a16="http://schemas.microsoft.com/office/drawing/2014/main" id="{0A7F373D-1F1C-E1CE-27EF-D8540533250A}"/>
              </a:ext>
            </a:extLst>
          </p:cNvPr>
          <p:cNvSpPr/>
          <p:nvPr/>
        </p:nvSpPr>
        <p:spPr>
          <a:xfrm>
            <a:off x="9721743" y="3743355"/>
            <a:ext cx="1581150" cy="546909"/>
          </a:xfrm>
          <a:prstGeom prst="ellipse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34" name="Szövegdoboz 33">
            <a:extLst>
              <a:ext uri="{FF2B5EF4-FFF2-40B4-BE49-F238E27FC236}">
                <a16:creationId xmlns:a16="http://schemas.microsoft.com/office/drawing/2014/main" id="{A56CFB3C-B21A-13F4-F467-5DA1B81989C5}"/>
              </a:ext>
            </a:extLst>
          </p:cNvPr>
          <p:cNvSpPr txBox="1"/>
          <p:nvPr/>
        </p:nvSpPr>
        <p:spPr>
          <a:xfrm>
            <a:off x="9721743" y="4381827"/>
            <a:ext cx="17942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happens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spontaneously</a:t>
            </a:r>
            <a:r>
              <a:rPr lang="hu-HU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18</a:t>
            </a:fld>
            <a:endParaRPr lang="hu-HU"/>
          </a:p>
        </p:txBody>
      </p:sp>
      <p:sp>
        <p:nvSpPr>
          <p:cNvPr id="4" name="Téglalap: lekerekített 3">
            <a:extLst>
              <a:ext uri="{FF2B5EF4-FFF2-40B4-BE49-F238E27FC236}">
                <a16:creationId xmlns:a16="http://schemas.microsoft.com/office/drawing/2014/main" id="{11451886-008E-2A0B-5E23-E85A3C6537C1}"/>
              </a:ext>
            </a:extLst>
          </p:cNvPr>
          <p:cNvSpPr/>
          <p:nvPr/>
        </p:nvSpPr>
        <p:spPr>
          <a:xfrm>
            <a:off x="5392112" y="2463421"/>
            <a:ext cx="181069" cy="298765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4BD7FD9-5E0F-9EE8-CF99-46D1AEAAB2D3}"/>
              </a:ext>
            </a:extLst>
          </p:cNvPr>
          <p:cNvSpPr txBox="1"/>
          <p:nvPr/>
        </p:nvSpPr>
        <p:spPr>
          <a:xfrm>
            <a:off x="5244653" y="2328769"/>
            <a:ext cx="3016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>
                <a:latin typeface="Symbol" panose="05050102010706020507" pitchFamily="18" charset="2"/>
              </a:rPr>
              <a:t>D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D612962B-A967-2416-E8D4-A418368362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4122" y="2010287"/>
            <a:ext cx="2935060" cy="324000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78650ED9-65AB-49C3-735A-AFC73D7202E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8304" y="2044081"/>
            <a:ext cx="1008000" cy="216000"/>
          </a:xfrm>
          <a:prstGeom prst="rect">
            <a:avLst/>
          </a:prstGeom>
        </p:spPr>
      </p:pic>
      <p:sp>
        <p:nvSpPr>
          <p:cNvPr id="14" name="Szabadkézi sokszög: alakzat 13">
            <a:extLst>
              <a:ext uri="{FF2B5EF4-FFF2-40B4-BE49-F238E27FC236}">
                <a16:creationId xmlns:a16="http://schemas.microsoft.com/office/drawing/2014/main" id="{2CCE3E4E-FCDA-4718-1719-6F17AD97C201}"/>
              </a:ext>
            </a:extLst>
          </p:cNvPr>
          <p:cNvSpPr/>
          <p:nvPr/>
        </p:nvSpPr>
        <p:spPr>
          <a:xfrm>
            <a:off x="6096000" y="1828923"/>
            <a:ext cx="292139" cy="402502"/>
          </a:xfrm>
          <a:custGeom>
            <a:avLst/>
            <a:gdLst>
              <a:gd name="connsiteX0" fmla="*/ 1468 w 292139"/>
              <a:gd name="connsiteY0" fmla="*/ 236169 h 402502"/>
              <a:gd name="connsiteX1" fmla="*/ 43858 w 292139"/>
              <a:gd name="connsiteY1" fmla="*/ 393616 h 402502"/>
              <a:gd name="connsiteX2" fmla="*/ 292139 w 292139"/>
              <a:gd name="connsiteY2" fmla="*/ 0 h 402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92139" h="402502">
                <a:moveTo>
                  <a:pt x="1468" y="236169"/>
                </a:moveTo>
                <a:cubicBezTo>
                  <a:pt x="-1560" y="334573"/>
                  <a:pt x="-4587" y="432978"/>
                  <a:pt x="43858" y="393616"/>
                </a:cubicBezTo>
                <a:cubicBezTo>
                  <a:pt x="92303" y="354255"/>
                  <a:pt x="192221" y="177127"/>
                  <a:pt x="292139" y="0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5" name="Szövegdoboz 14">
            <a:extLst>
              <a:ext uri="{FF2B5EF4-FFF2-40B4-BE49-F238E27FC236}">
                <a16:creationId xmlns:a16="http://schemas.microsoft.com/office/drawing/2014/main" id="{A04746AC-90D1-0E08-8EE0-8A89788CBB3C}"/>
              </a:ext>
            </a:extLst>
          </p:cNvPr>
          <p:cNvSpPr txBox="1"/>
          <p:nvPr/>
        </p:nvSpPr>
        <p:spPr>
          <a:xfrm>
            <a:off x="6331561" y="1998471"/>
            <a:ext cx="518603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100" dirty="0" err="1">
                <a:latin typeface="Book Antiqua" panose="02040602050305030304" pitchFamily="18" charset="0"/>
              </a:rPr>
              <a:t>Positive</a:t>
            </a:r>
            <a:r>
              <a:rPr lang="hu-HU" sz="1100" dirty="0">
                <a:latin typeface="Book Antiqua" panose="02040602050305030304" pitchFamily="18" charset="0"/>
              </a:rPr>
              <a:t> </a:t>
            </a:r>
            <a:r>
              <a:rPr lang="hu-HU" sz="1100" dirty="0" err="1">
                <a:latin typeface="Book Antiqua" panose="02040602050305030304" pitchFamily="18" charset="0"/>
              </a:rPr>
              <a:t>binding</a:t>
            </a:r>
            <a:r>
              <a:rPr lang="hu-HU" sz="1100" dirty="0">
                <a:latin typeface="Book Antiqua" panose="02040602050305030304" pitchFamily="18" charset="0"/>
              </a:rPr>
              <a:t> </a:t>
            </a:r>
            <a:r>
              <a:rPr lang="hu-HU" sz="1100" dirty="0" err="1">
                <a:latin typeface="Book Antiqua" panose="02040602050305030304" pitchFamily="18" charset="0"/>
              </a:rPr>
              <a:t>energy</a:t>
            </a:r>
            <a:r>
              <a:rPr lang="hu-HU" sz="1100" dirty="0">
                <a:latin typeface="Book Antiqua" panose="02040602050305030304" pitchFamily="18" charset="0"/>
              </a:rPr>
              <a:t> </a:t>
            </a:r>
            <a:r>
              <a:rPr lang="hu-HU" sz="800" i="1" dirty="0">
                <a:latin typeface="Book Antiqua" panose="02040602050305030304" pitchFamily="18" charset="0"/>
              </a:rPr>
              <a:t>(</a:t>
            </a:r>
            <a:r>
              <a:rPr lang="hu-HU" sz="800" i="1" dirty="0" err="1">
                <a:latin typeface="Book Antiqua" panose="02040602050305030304" pitchFamily="18" charset="0"/>
              </a:rPr>
              <a:t>mass</a:t>
            </a:r>
            <a:r>
              <a:rPr lang="hu-HU" sz="800" i="1" dirty="0">
                <a:latin typeface="Book Antiqua" panose="02040602050305030304" pitchFamily="18" charset="0"/>
              </a:rPr>
              <a:t> of free </a:t>
            </a:r>
            <a:r>
              <a:rPr lang="hu-HU" sz="800" i="1" dirty="0" err="1">
                <a:latin typeface="Book Antiqua" panose="02040602050305030304" pitchFamily="18" charset="0"/>
              </a:rPr>
              <a:t>parts</a:t>
            </a:r>
            <a:r>
              <a:rPr lang="hu-HU" sz="800" i="1" dirty="0">
                <a:latin typeface="Book Antiqua" panose="02040602050305030304" pitchFamily="18" charset="0"/>
              </a:rPr>
              <a:t> </a:t>
            </a:r>
            <a:r>
              <a:rPr lang="hu-HU" sz="800" i="1" dirty="0" err="1">
                <a:latin typeface="Book Antiqua" panose="02040602050305030304" pitchFamily="18" charset="0"/>
              </a:rPr>
              <a:t>minus</a:t>
            </a:r>
            <a:r>
              <a:rPr lang="hu-HU" sz="800" i="1" dirty="0">
                <a:latin typeface="Book Antiqua" panose="02040602050305030304" pitchFamily="18" charset="0"/>
              </a:rPr>
              <a:t> </a:t>
            </a:r>
            <a:r>
              <a:rPr lang="hu-HU" sz="800" i="1" dirty="0" err="1">
                <a:latin typeface="Book Antiqua" panose="02040602050305030304" pitchFamily="18" charset="0"/>
              </a:rPr>
              <a:t>mass</a:t>
            </a:r>
            <a:r>
              <a:rPr lang="hu-HU" sz="800" i="1" dirty="0">
                <a:latin typeface="Book Antiqua" panose="02040602050305030304" pitchFamily="18" charset="0"/>
              </a:rPr>
              <a:t> of </a:t>
            </a:r>
            <a:r>
              <a:rPr lang="hu-HU" sz="800" i="1" dirty="0" err="1">
                <a:latin typeface="Book Antiqua" panose="02040602050305030304" pitchFamily="18" charset="0"/>
              </a:rPr>
              <a:t>bound</a:t>
            </a:r>
            <a:r>
              <a:rPr lang="hu-HU" sz="800" i="1" dirty="0">
                <a:latin typeface="Book Antiqua" panose="02040602050305030304" pitchFamily="18" charset="0"/>
              </a:rPr>
              <a:t>): </a:t>
            </a:r>
            <a:r>
              <a:rPr lang="hu-HU" sz="1100" b="1" dirty="0" err="1">
                <a:latin typeface="Book Antiqua" panose="02040602050305030304" pitchFamily="18" charset="0"/>
              </a:rPr>
              <a:t>could</a:t>
            </a:r>
            <a:r>
              <a:rPr lang="hu-HU" sz="1100" b="1" dirty="0">
                <a:latin typeface="Book Antiqua" panose="02040602050305030304" pitchFamily="18" charset="0"/>
              </a:rPr>
              <a:t> be a </a:t>
            </a:r>
            <a:r>
              <a:rPr lang="hu-HU" sz="1100" b="1" dirty="0" err="1">
                <a:latin typeface="Book Antiqua" panose="02040602050305030304" pitchFamily="18" charset="0"/>
              </a:rPr>
              <a:t>bound</a:t>
            </a:r>
            <a:r>
              <a:rPr lang="hu-HU" sz="1100" b="1" dirty="0">
                <a:latin typeface="Book Antiqua" panose="02040602050305030304" pitchFamily="18" charset="0"/>
              </a:rPr>
              <a:t> </a:t>
            </a:r>
            <a:r>
              <a:rPr lang="hu-HU" sz="1100" b="1" dirty="0" err="1">
                <a:latin typeface="Book Antiqua" panose="02040602050305030304" pitchFamily="18" charset="0"/>
              </a:rPr>
              <a:t>system</a:t>
            </a:r>
            <a:endParaRPr lang="hu-HU" sz="1100" b="1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6546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046-517C-8D75-3A3A-57D839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5E0407-0E07-BC2C-B6B3-53352832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Beta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1909BBF-726E-1FBE-14DC-7F8B2E537F3E}"/>
              </a:ext>
            </a:extLst>
          </p:cNvPr>
          <p:cNvSpPr txBox="1"/>
          <p:nvPr/>
        </p:nvSpPr>
        <p:spPr>
          <a:xfrm>
            <a:off x="161679" y="2042802"/>
            <a:ext cx="965884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emitted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is a </a:t>
            </a:r>
            <a:r>
              <a:rPr lang="hu-HU" dirty="0" err="1">
                <a:latin typeface="Book Antiqua" panose="02040602050305030304" pitchFamily="18" charset="0"/>
              </a:rPr>
              <a:t>high-energy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electron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positron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beta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particles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cannot</a:t>
            </a:r>
            <a:r>
              <a:rPr lang="hu-HU" dirty="0">
                <a:latin typeface="Book Antiqua" panose="02040602050305030304" pitchFamily="18" charset="0"/>
              </a:rPr>
              <a:t> be </a:t>
            </a:r>
            <a:r>
              <a:rPr lang="hu-HU" dirty="0" err="1">
                <a:latin typeface="Book Antiqua" panose="02040602050305030304" pitchFamily="18" charset="0"/>
              </a:rPr>
              <a:t>bound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nuclues</a:t>
            </a:r>
            <a:r>
              <a:rPr lang="hu-HU" dirty="0">
                <a:latin typeface="Book Antiqua" panose="02040602050305030304" pitchFamily="18" charset="0"/>
              </a:rPr>
              <a:t>      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must be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created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at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moment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of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decay</a:t>
            </a:r>
            <a:endParaRPr lang="hu-HU" i="1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does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not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change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b="1" dirty="0">
                <a:latin typeface="Book Antiqua" panose="02040602050305030304" pitchFamily="18" charset="0"/>
              </a:rPr>
              <a:t>A=</a:t>
            </a:r>
            <a:r>
              <a:rPr lang="hu-HU" b="1" dirty="0" err="1">
                <a:latin typeface="Book Antiqua" panose="02040602050305030304" pitchFamily="18" charset="0"/>
              </a:rPr>
              <a:t>cst</a:t>
            </a:r>
            <a:r>
              <a:rPr lang="hu-HU" b="1" dirty="0">
                <a:latin typeface="Book Antiqua" panose="02040602050305030304" pitchFamily="18" charset="0"/>
              </a:rPr>
              <a:t>. </a:t>
            </a:r>
            <a:r>
              <a:rPr lang="hu-HU" b="1" dirty="0" err="1">
                <a:latin typeface="Book Antiqua" panose="02040602050305030304" pitchFamily="18" charset="0"/>
              </a:rPr>
              <a:t>isobar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transition</a:t>
            </a:r>
            <a:r>
              <a:rPr lang="hu-HU" dirty="0">
                <a:latin typeface="Book Antiqua" panose="02040602050305030304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changes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1 (</a:t>
            </a:r>
            <a:r>
              <a:rPr lang="hu-HU" dirty="0" err="1">
                <a:latin typeface="Book Antiqua" panose="02040602050305030304" pitchFamily="18" charset="0"/>
              </a:rPr>
              <a:t>either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increases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decreases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a </a:t>
            </a:r>
            <a:r>
              <a:rPr lang="hu-HU" b="1" dirty="0">
                <a:latin typeface="Book Antiqua" panose="02040602050305030304" pitchFamily="18" charset="0"/>
              </a:rPr>
              <a:t>neutron      proton </a:t>
            </a:r>
            <a:r>
              <a:rPr lang="hu-HU" b="1" dirty="0" err="1">
                <a:latin typeface="Book Antiqua" panose="02040602050305030304" pitchFamily="18" charset="0"/>
              </a:rPr>
              <a:t>state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transition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inside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a </a:t>
            </a:r>
            <a:r>
              <a:rPr lang="hu-HU" dirty="0" err="1">
                <a:latin typeface="Book Antiqua" panose="02040602050305030304" pitchFamily="18" charset="0"/>
              </a:rPr>
              <a:t>beta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has an </a:t>
            </a:r>
            <a:r>
              <a:rPr lang="hu-HU" dirty="0" err="1">
                <a:latin typeface="Book Antiqua" panose="02040602050305030304" pitchFamily="18" charset="0"/>
              </a:rPr>
              <a:t>excess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neutrons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>
              <a:latin typeface="Book Antiqua" panose="02040602050305030304" pitchFamily="18" charset="0"/>
            </a:endParaRPr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0CD300CF-FE61-4CFB-B031-2A0D74D97FB1}"/>
              </a:ext>
            </a:extLst>
          </p:cNvPr>
          <p:cNvCxnSpPr/>
          <p:nvPr/>
        </p:nvCxnSpPr>
        <p:spPr>
          <a:xfrm>
            <a:off x="2033732" y="3342863"/>
            <a:ext cx="26670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5131394F-E723-3B75-E0C2-E3051745F429}"/>
              </a:ext>
            </a:extLst>
          </p:cNvPr>
          <p:cNvCxnSpPr/>
          <p:nvPr/>
        </p:nvCxnSpPr>
        <p:spPr>
          <a:xfrm>
            <a:off x="4215246" y="2512168"/>
            <a:ext cx="2667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>
            <a:extLst>
              <a:ext uri="{FF2B5EF4-FFF2-40B4-BE49-F238E27FC236}">
                <a16:creationId xmlns:a16="http://schemas.microsoft.com/office/drawing/2014/main" id="{C5C4D6D1-7782-5FE4-72C5-EFBCFA45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0" y="1910593"/>
            <a:ext cx="2062494" cy="1908000"/>
          </a:xfrm>
          <a:prstGeom prst="rect">
            <a:avLst/>
          </a:prstGeom>
        </p:spPr>
      </p:pic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321B58DE-554C-8218-C356-CC7462FB2648}"/>
              </a:ext>
            </a:extLst>
          </p:cNvPr>
          <p:cNvCxnSpPr>
            <a:cxnSpLocks/>
          </p:cNvCxnSpPr>
          <p:nvPr/>
        </p:nvCxnSpPr>
        <p:spPr>
          <a:xfrm>
            <a:off x="9896475" y="2512168"/>
            <a:ext cx="431172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8B4846D3-A8E9-E076-47BF-4DFDDD71568F}"/>
              </a:ext>
            </a:extLst>
          </p:cNvPr>
          <p:cNvCxnSpPr>
            <a:cxnSpLocks/>
          </p:cNvCxnSpPr>
          <p:nvPr/>
        </p:nvCxnSpPr>
        <p:spPr>
          <a:xfrm flipH="1">
            <a:off x="10610850" y="2590800"/>
            <a:ext cx="419100" cy="7595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19</a:t>
            </a:fld>
            <a:endParaRPr lang="hu-HU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2C729B44-7908-3C1B-0606-242F0365804E}"/>
              </a:ext>
            </a:extLst>
          </p:cNvPr>
          <p:cNvSpPr txBox="1"/>
          <p:nvPr/>
        </p:nvSpPr>
        <p:spPr>
          <a:xfrm>
            <a:off x="9722882" y="3119535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Symbol" panose="05050102010706020507" pitchFamily="18" charset="2"/>
              </a:rPr>
              <a:t>b</a:t>
            </a:r>
            <a:r>
              <a:rPr lang="hu-HU" sz="2400" b="1" baseline="30000" dirty="0">
                <a:solidFill>
                  <a:srgbClr val="0070C0"/>
                </a:solidFill>
              </a:rPr>
              <a:t>-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F9E16B86-5D6E-7C36-FAC9-CCAF6E2DB655}"/>
              </a:ext>
            </a:extLst>
          </p:cNvPr>
          <p:cNvSpPr txBox="1"/>
          <p:nvPr/>
        </p:nvSpPr>
        <p:spPr>
          <a:xfrm>
            <a:off x="10885413" y="3061936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Symbol" panose="05050102010706020507" pitchFamily="18" charset="2"/>
              </a:rPr>
              <a:t>b</a:t>
            </a:r>
            <a:r>
              <a:rPr lang="hu-HU" sz="2400" b="1" baseline="30000" dirty="0">
                <a:solidFill>
                  <a:srgbClr val="0070C0"/>
                </a:solidFill>
              </a:rPr>
              <a:t>+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092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046-517C-8D75-3A3A-57D839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5E0407-0E07-BC2C-B6B3-53352832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Beta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1909BBF-726E-1FBE-14DC-7F8B2E537F3E}"/>
              </a:ext>
            </a:extLst>
          </p:cNvPr>
          <p:cNvSpPr txBox="1"/>
          <p:nvPr/>
        </p:nvSpPr>
        <p:spPr>
          <a:xfrm>
            <a:off x="161679" y="2042802"/>
            <a:ext cx="965884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emitted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is a </a:t>
            </a:r>
            <a:r>
              <a:rPr lang="hu-HU" dirty="0" err="1">
                <a:latin typeface="Book Antiqua" panose="02040602050305030304" pitchFamily="18" charset="0"/>
              </a:rPr>
              <a:t>high-energy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electron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positron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beta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particles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cannot</a:t>
            </a:r>
            <a:r>
              <a:rPr lang="hu-HU" dirty="0">
                <a:latin typeface="Book Antiqua" panose="02040602050305030304" pitchFamily="18" charset="0"/>
              </a:rPr>
              <a:t> be </a:t>
            </a:r>
            <a:r>
              <a:rPr lang="hu-HU" dirty="0" err="1">
                <a:latin typeface="Book Antiqua" panose="02040602050305030304" pitchFamily="18" charset="0"/>
              </a:rPr>
              <a:t>bound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nuclues</a:t>
            </a:r>
            <a:r>
              <a:rPr lang="hu-HU" dirty="0">
                <a:latin typeface="Book Antiqua" panose="02040602050305030304" pitchFamily="18" charset="0"/>
              </a:rPr>
              <a:t>      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must be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created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at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moment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of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decay</a:t>
            </a:r>
            <a:endParaRPr lang="hu-HU" i="1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does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not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change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b="1" dirty="0">
                <a:latin typeface="Book Antiqua" panose="02040602050305030304" pitchFamily="18" charset="0"/>
              </a:rPr>
              <a:t>A=</a:t>
            </a:r>
            <a:r>
              <a:rPr lang="hu-HU" b="1" dirty="0" err="1">
                <a:latin typeface="Book Antiqua" panose="02040602050305030304" pitchFamily="18" charset="0"/>
              </a:rPr>
              <a:t>cst</a:t>
            </a:r>
            <a:r>
              <a:rPr lang="hu-HU" b="1" dirty="0">
                <a:latin typeface="Book Antiqua" panose="02040602050305030304" pitchFamily="18" charset="0"/>
              </a:rPr>
              <a:t>. </a:t>
            </a:r>
            <a:r>
              <a:rPr lang="hu-HU" b="1" dirty="0" err="1">
                <a:latin typeface="Book Antiqua" panose="02040602050305030304" pitchFamily="18" charset="0"/>
              </a:rPr>
              <a:t>isobar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transition</a:t>
            </a:r>
            <a:r>
              <a:rPr lang="hu-HU" dirty="0">
                <a:latin typeface="Book Antiqua" panose="02040602050305030304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changes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1 (</a:t>
            </a:r>
            <a:r>
              <a:rPr lang="hu-HU" dirty="0" err="1">
                <a:latin typeface="Book Antiqua" panose="02040602050305030304" pitchFamily="18" charset="0"/>
              </a:rPr>
              <a:t>either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increases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decreases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a </a:t>
            </a:r>
            <a:r>
              <a:rPr lang="hu-HU" b="1" dirty="0">
                <a:latin typeface="Book Antiqua" panose="02040602050305030304" pitchFamily="18" charset="0"/>
              </a:rPr>
              <a:t>neutron      proton </a:t>
            </a:r>
            <a:r>
              <a:rPr lang="hu-HU" b="1" dirty="0" err="1">
                <a:latin typeface="Book Antiqua" panose="02040602050305030304" pitchFamily="18" charset="0"/>
              </a:rPr>
              <a:t>state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transition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inside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a </a:t>
            </a:r>
            <a:r>
              <a:rPr lang="hu-HU" dirty="0" err="1">
                <a:latin typeface="Book Antiqua" panose="02040602050305030304" pitchFamily="18" charset="0"/>
              </a:rPr>
              <a:t>beta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has an </a:t>
            </a:r>
            <a:r>
              <a:rPr lang="hu-HU" dirty="0" err="1">
                <a:latin typeface="Book Antiqua" panose="02040602050305030304" pitchFamily="18" charset="0"/>
              </a:rPr>
              <a:t>excess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neutrons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latin typeface="Book Antiqua" panose="02040602050305030304" pitchFamily="18" charset="0"/>
              </a:rPr>
              <a:t>Measure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spectrum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beta </a:t>
            </a:r>
            <a:r>
              <a:rPr lang="hu-HU" b="1" dirty="0" err="1">
                <a:latin typeface="Book Antiqua" panose="02040602050305030304" pitchFamily="18" charset="0"/>
              </a:rPr>
              <a:t>particles</a:t>
            </a:r>
            <a:r>
              <a:rPr lang="hu-HU" b="1" dirty="0">
                <a:latin typeface="Book Antiqua" panose="02040602050305030304" pitchFamily="18" charset="0"/>
              </a:rPr>
              <a:t> (Q-</a:t>
            </a:r>
            <a:r>
              <a:rPr lang="hu-HU" b="1" dirty="0" err="1">
                <a:latin typeface="Book Antiqua" panose="02040602050305030304" pitchFamily="18" charset="0"/>
              </a:rPr>
              <a:t>value</a:t>
            </a:r>
            <a:r>
              <a:rPr lang="hu-HU" b="1" dirty="0">
                <a:latin typeface="Book Antiqua" panose="02040602050305030304" pitchFamily="18" charset="0"/>
              </a:rPr>
              <a:t>, </a:t>
            </a:r>
            <a:r>
              <a:rPr lang="hu-HU" b="1" dirty="0" err="1">
                <a:latin typeface="Book Antiqua" panose="02040602050305030304" pitchFamily="18" charset="0"/>
              </a:rPr>
              <a:t>kinetic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system</a:t>
            </a:r>
            <a:r>
              <a:rPr lang="hu-HU" b="1" dirty="0">
                <a:latin typeface="Book Antiqua" panose="02040602050305030304" pitchFamily="18" charset="0"/>
              </a:rPr>
              <a:t> (</a:t>
            </a:r>
            <a:r>
              <a:rPr lang="hu-HU" b="1" dirty="0" err="1">
                <a:latin typeface="Book Antiqua" panose="02040602050305030304" pitchFamily="18" charset="0"/>
              </a:rPr>
              <a:t>recoil</a:t>
            </a:r>
            <a:r>
              <a:rPr lang="hu-HU" b="1" dirty="0">
                <a:latin typeface="Book Antiqua" panose="02040602050305030304" pitchFamily="18" charset="0"/>
              </a:rPr>
              <a:t> is </a:t>
            </a:r>
            <a:r>
              <a:rPr lang="hu-HU" b="1" dirty="0" err="1">
                <a:latin typeface="Book Antiqua" panose="02040602050305030304" pitchFamily="18" charset="0"/>
              </a:rPr>
              <a:t>negligible</a:t>
            </a:r>
            <a:r>
              <a:rPr lang="hu-HU" b="1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it </a:t>
            </a:r>
            <a:r>
              <a:rPr lang="hu-HU" dirty="0" err="1">
                <a:latin typeface="Book Antiqua" panose="02040602050305030304" pitchFamily="18" charset="0"/>
              </a:rPr>
              <a:t>should</a:t>
            </a:r>
            <a:r>
              <a:rPr lang="hu-HU" dirty="0">
                <a:latin typeface="Book Antiqua" panose="02040602050305030304" pitchFamily="18" charset="0"/>
              </a:rPr>
              <a:t> be: a </a:t>
            </a:r>
            <a:r>
              <a:rPr lang="hu-HU" dirty="0" err="1">
                <a:latin typeface="Book Antiqua" panose="02040602050305030304" pitchFamily="18" charset="0"/>
              </a:rPr>
              <a:t>certain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type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     a </a:t>
            </a:r>
            <a:r>
              <a:rPr lang="hu-HU" i="1" dirty="0" err="1">
                <a:latin typeface="Book Antiqua" panose="02040602050305030304" pitchFamily="18" charset="0"/>
              </a:rPr>
              <a:t>determined</a:t>
            </a:r>
            <a:r>
              <a:rPr lang="hu-HU" i="1" dirty="0">
                <a:latin typeface="Book Antiqua" panose="02040602050305030304" pitchFamily="18" charset="0"/>
              </a:rPr>
              <a:t> beta </a:t>
            </a:r>
            <a:r>
              <a:rPr lang="hu-HU" i="1" dirty="0" err="1">
                <a:latin typeface="Book Antiqua" panose="02040602050305030304" pitchFamily="18" charset="0"/>
              </a:rPr>
              <a:t>energy</a:t>
            </a:r>
            <a:endParaRPr lang="hu-HU" dirty="0">
              <a:latin typeface="Book Antiqua" panose="02040602050305030304" pitchFamily="18" charset="0"/>
            </a:endParaRPr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0CD300CF-FE61-4CFB-B031-2A0D74D97FB1}"/>
              </a:ext>
            </a:extLst>
          </p:cNvPr>
          <p:cNvCxnSpPr/>
          <p:nvPr/>
        </p:nvCxnSpPr>
        <p:spPr>
          <a:xfrm>
            <a:off x="2033732" y="3342863"/>
            <a:ext cx="26670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5131394F-E723-3B75-E0C2-E3051745F429}"/>
              </a:ext>
            </a:extLst>
          </p:cNvPr>
          <p:cNvCxnSpPr/>
          <p:nvPr/>
        </p:nvCxnSpPr>
        <p:spPr>
          <a:xfrm>
            <a:off x="4215246" y="2512168"/>
            <a:ext cx="2667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>
            <a:extLst>
              <a:ext uri="{FF2B5EF4-FFF2-40B4-BE49-F238E27FC236}">
                <a16:creationId xmlns:a16="http://schemas.microsoft.com/office/drawing/2014/main" id="{C5C4D6D1-7782-5FE4-72C5-EFBCFA45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0" y="1910593"/>
            <a:ext cx="2062494" cy="1908000"/>
          </a:xfrm>
          <a:prstGeom prst="rect">
            <a:avLst/>
          </a:prstGeom>
        </p:spPr>
      </p:pic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321B58DE-554C-8218-C356-CC7462FB2648}"/>
              </a:ext>
            </a:extLst>
          </p:cNvPr>
          <p:cNvCxnSpPr>
            <a:cxnSpLocks/>
          </p:cNvCxnSpPr>
          <p:nvPr/>
        </p:nvCxnSpPr>
        <p:spPr>
          <a:xfrm>
            <a:off x="9896475" y="2512168"/>
            <a:ext cx="431172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8B4846D3-A8E9-E076-47BF-4DFDDD71568F}"/>
              </a:ext>
            </a:extLst>
          </p:cNvPr>
          <p:cNvCxnSpPr>
            <a:cxnSpLocks/>
          </p:cNvCxnSpPr>
          <p:nvPr/>
        </p:nvCxnSpPr>
        <p:spPr>
          <a:xfrm flipH="1">
            <a:off x="10610850" y="2590800"/>
            <a:ext cx="419100" cy="7595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nyíllal 5"/>
          <p:cNvCxnSpPr/>
          <p:nvPr/>
        </p:nvCxnSpPr>
        <p:spPr>
          <a:xfrm>
            <a:off x="4797135" y="4978402"/>
            <a:ext cx="258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1832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046-517C-8D75-3A3A-57D839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5E0407-0E07-BC2C-B6B3-53352832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Beta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1909BBF-726E-1FBE-14DC-7F8B2E537F3E}"/>
              </a:ext>
            </a:extLst>
          </p:cNvPr>
          <p:cNvSpPr txBox="1"/>
          <p:nvPr/>
        </p:nvSpPr>
        <p:spPr>
          <a:xfrm>
            <a:off x="161679" y="2042802"/>
            <a:ext cx="965884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emitted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particle</a:t>
            </a:r>
            <a:r>
              <a:rPr lang="hu-HU" dirty="0">
                <a:latin typeface="Book Antiqua" panose="02040602050305030304" pitchFamily="18" charset="0"/>
              </a:rPr>
              <a:t> is a </a:t>
            </a:r>
            <a:r>
              <a:rPr lang="hu-HU" dirty="0" err="1">
                <a:latin typeface="Book Antiqua" panose="02040602050305030304" pitchFamily="18" charset="0"/>
              </a:rPr>
              <a:t>high-energy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electron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positron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beta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particles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cannot</a:t>
            </a:r>
            <a:r>
              <a:rPr lang="hu-HU" dirty="0">
                <a:latin typeface="Book Antiqua" panose="02040602050305030304" pitchFamily="18" charset="0"/>
              </a:rPr>
              <a:t> be </a:t>
            </a:r>
            <a:r>
              <a:rPr lang="hu-HU" dirty="0" err="1">
                <a:latin typeface="Book Antiqua" panose="02040602050305030304" pitchFamily="18" charset="0"/>
              </a:rPr>
              <a:t>bound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nuclues</a:t>
            </a:r>
            <a:r>
              <a:rPr lang="hu-HU" dirty="0">
                <a:latin typeface="Book Antiqua" panose="02040602050305030304" pitchFamily="18" charset="0"/>
              </a:rPr>
              <a:t>      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must be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created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at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the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moment</a:t>
            </a:r>
            <a:r>
              <a:rPr lang="hu-HU" i="1" dirty="0">
                <a:solidFill>
                  <a:srgbClr val="00B0F0"/>
                </a:solidFill>
                <a:latin typeface="Book Antiqua" panose="02040602050305030304" pitchFamily="18" charset="0"/>
              </a:rPr>
              <a:t> of </a:t>
            </a:r>
            <a:r>
              <a:rPr lang="hu-HU" i="1" dirty="0" err="1">
                <a:solidFill>
                  <a:srgbClr val="00B0F0"/>
                </a:solidFill>
                <a:latin typeface="Book Antiqua" panose="02040602050305030304" pitchFamily="18" charset="0"/>
              </a:rPr>
              <a:t>decay</a:t>
            </a:r>
            <a:endParaRPr lang="hu-HU" i="1" dirty="0">
              <a:solidFill>
                <a:srgbClr val="00B0F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does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not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change</a:t>
            </a:r>
            <a:r>
              <a:rPr lang="hu-HU" dirty="0">
                <a:latin typeface="Book Antiqua" panose="02040602050305030304" pitchFamily="18" charset="0"/>
              </a:rPr>
              <a:t> (</a:t>
            </a:r>
            <a:r>
              <a:rPr lang="hu-HU" b="1" dirty="0">
                <a:latin typeface="Book Antiqua" panose="02040602050305030304" pitchFamily="18" charset="0"/>
              </a:rPr>
              <a:t>A=</a:t>
            </a:r>
            <a:r>
              <a:rPr lang="hu-HU" b="1" dirty="0" err="1">
                <a:latin typeface="Book Antiqua" panose="02040602050305030304" pitchFamily="18" charset="0"/>
              </a:rPr>
              <a:t>cst</a:t>
            </a:r>
            <a:r>
              <a:rPr lang="hu-HU" b="1" dirty="0">
                <a:latin typeface="Book Antiqua" panose="02040602050305030304" pitchFamily="18" charset="0"/>
              </a:rPr>
              <a:t>. </a:t>
            </a:r>
            <a:r>
              <a:rPr lang="hu-HU" b="1" dirty="0" err="1">
                <a:latin typeface="Book Antiqua" panose="02040602050305030304" pitchFamily="18" charset="0"/>
              </a:rPr>
              <a:t>isobar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transition</a:t>
            </a:r>
            <a:r>
              <a:rPr lang="hu-HU" dirty="0">
                <a:latin typeface="Book Antiqua" panose="02040602050305030304" pitchFamily="18" charset="0"/>
              </a:rPr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atomic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number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changes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1 (</a:t>
            </a:r>
            <a:r>
              <a:rPr lang="hu-HU" dirty="0" err="1">
                <a:latin typeface="Book Antiqua" panose="02040602050305030304" pitchFamily="18" charset="0"/>
              </a:rPr>
              <a:t>either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increases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decreases</a:t>
            </a:r>
            <a:r>
              <a:rPr lang="hu-HU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a </a:t>
            </a:r>
            <a:r>
              <a:rPr lang="hu-HU" b="1" dirty="0">
                <a:latin typeface="Book Antiqua" panose="02040602050305030304" pitchFamily="18" charset="0"/>
              </a:rPr>
              <a:t>neutron      proton </a:t>
            </a:r>
            <a:r>
              <a:rPr lang="hu-HU" b="1" dirty="0" err="1">
                <a:latin typeface="Book Antiqua" panose="02040602050305030304" pitchFamily="18" charset="0"/>
              </a:rPr>
              <a:t>state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transition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inside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nucleus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a </a:t>
            </a:r>
            <a:r>
              <a:rPr lang="hu-HU" dirty="0" err="1">
                <a:latin typeface="Book Antiqua" panose="02040602050305030304" pitchFamily="18" charset="0"/>
              </a:rPr>
              <a:t>beta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has an </a:t>
            </a:r>
            <a:r>
              <a:rPr lang="hu-HU" dirty="0" err="1">
                <a:latin typeface="Book Antiqua" panose="02040602050305030304" pitchFamily="18" charset="0"/>
              </a:rPr>
              <a:t>excess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neutrons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protons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latin typeface="Book Antiqua" panose="02040602050305030304" pitchFamily="18" charset="0"/>
              </a:rPr>
              <a:t>Measure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spectrum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beta </a:t>
            </a:r>
            <a:r>
              <a:rPr lang="hu-HU" b="1" dirty="0" err="1">
                <a:latin typeface="Book Antiqua" panose="02040602050305030304" pitchFamily="18" charset="0"/>
              </a:rPr>
              <a:t>particles</a:t>
            </a:r>
            <a:r>
              <a:rPr lang="hu-HU" b="1" dirty="0">
                <a:latin typeface="Book Antiqua" panose="02040602050305030304" pitchFamily="18" charset="0"/>
              </a:rPr>
              <a:t> (Q-</a:t>
            </a:r>
            <a:r>
              <a:rPr lang="hu-HU" b="1" dirty="0" err="1">
                <a:latin typeface="Book Antiqua" panose="02040602050305030304" pitchFamily="18" charset="0"/>
              </a:rPr>
              <a:t>value</a:t>
            </a:r>
            <a:r>
              <a:rPr lang="hu-HU" b="1" dirty="0">
                <a:latin typeface="Book Antiqua" panose="02040602050305030304" pitchFamily="18" charset="0"/>
              </a:rPr>
              <a:t>, </a:t>
            </a:r>
            <a:r>
              <a:rPr lang="hu-HU" b="1" dirty="0" err="1">
                <a:latin typeface="Book Antiqua" panose="02040602050305030304" pitchFamily="18" charset="0"/>
              </a:rPr>
              <a:t>kinetic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energy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the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system</a:t>
            </a:r>
            <a:r>
              <a:rPr lang="hu-HU" b="1" dirty="0">
                <a:latin typeface="Book Antiqua" panose="02040602050305030304" pitchFamily="18" charset="0"/>
              </a:rPr>
              <a:t> (</a:t>
            </a:r>
            <a:r>
              <a:rPr lang="hu-HU" b="1" dirty="0" err="1">
                <a:latin typeface="Book Antiqua" panose="02040602050305030304" pitchFamily="18" charset="0"/>
              </a:rPr>
              <a:t>recoil</a:t>
            </a:r>
            <a:r>
              <a:rPr lang="hu-HU" b="1" dirty="0">
                <a:latin typeface="Book Antiqua" panose="02040602050305030304" pitchFamily="18" charset="0"/>
              </a:rPr>
              <a:t> is </a:t>
            </a:r>
            <a:r>
              <a:rPr lang="hu-HU" b="1" dirty="0" err="1">
                <a:latin typeface="Book Antiqua" panose="02040602050305030304" pitchFamily="18" charset="0"/>
              </a:rPr>
              <a:t>negligible</a:t>
            </a:r>
            <a:r>
              <a:rPr lang="hu-HU" b="1" dirty="0">
                <a:latin typeface="Book Antiqua" panose="02040602050305030304" pitchFamily="18" charset="0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dirty="0">
                <a:latin typeface="Book Antiqua" panose="02040602050305030304" pitchFamily="18" charset="0"/>
              </a:rPr>
              <a:t>it </a:t>
            </a:r>
            <a:r>
              <a:rPr lang="hu-HU" dirty="0" err="1">
                <a:latin typeface="Book Antiqua" panose="02040602050305030304" pitchFamily="18" charset="0"/>
              </a:rPr>
              <a:t>should</a:t>
            </a:r>
            <a:r>
              <a:rPr lang="hu-HU" dirty="0">
                <a:latin typeface="Book Antiqua" panose="02040602050305030304" pitchFamily="18" charset="0"/>
              </a:rPr>
              <a:t> be: a </a:t>
            </a:r>
            <a:r>
              <a:rPr lang="hu-HU" dirty="0" err="1">
                <a:latin typeface="Book Antiqua" panose="02040602050305030304" pitchFamily="18" charset="0"/>
              </a:rPr>
              <a:t>certain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type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r>
              <a:rPr lang="hu-HU" dirty="0">
                <a:latin typeface="Book Antiqua" panose="02040602050305030304" pitchFamily="18" charset="0"/>
              </a:rPr>
              <a:t>      a </a:t>
            </a:r>
            <a:r>
              <a:rPr lang="hu-HU" i="1" dirty="0" err="1">
                <a:latin typeface="Book Antiqua" panose="02040602050305030304" pitchFamily="18" charset="0"/>
              </a:rPr>
              <a:t>determined</a:t>
            </a:r>
            <a:r>
              <a:rPr lang="hu-HU" i="1" dirty="0">
                <a:latin typeface="Book Antiqua" panose="02040602050305030304" pitchFamily="18" charset="0"/>
              </a:rPr>
              <a:t> beta </a:t>
            </a:r>
            <a:r>
              <a:rPr lang="hu-HU" i="1" dirty="0" err="1">
                <a:latin typeface="Book Antiqua" panose="02040602050305030304" pitchFamily="18" charset="0"/>
              </a:rPr>
              <a:t>energy</a:t>
            </a:r>
            <a:endParaRPr lang="hu-HU" i="1" dirty="0">
              <a:latin typeface="Book Antiqua" panose="0204060205030503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sng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result</a:t>
            </a:r>
            <a:r>
              <a:rPr lang="hu-HU" b="1" u="sng" dirty="0">
                <a:solidFill>
                  <a:schemeClr val="accent1"/>
                </a:solidFill>
                <a:latin typeface="Book Antiqua" panose="02040602050305030304" pitchFamily="18" charset="0"/>
              </a:rPr>
              <a:t>: </a:t>
            </a:r>
            <a:r>
              <a:rPr lang="hu-HU" b="1" u="sng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continuous</a:t>
            </a:r>
            <a:r>
              <a:rPr lang="hu-HU" b="1" u="sng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spectrum</a:t>
            </a:r>
            <a:r>
              <a:rPr lang="hu-HU" b="1" u="sng" dirty="0">
                <a:solidFill>
                  <a:schemeClr val="accent1"/>
                </a:solidFill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4" name="Egyenes összekötő nyíllal 3">
            <a:extLst>
              <a:ext uri="{FF2B5EF4-FFF2-40B4-BE49-F238E27FC236}">
                <a16:creationId xmlns:a16="http://schemas.microsoft.com/office/drawing/2014/main" id="{0CD300CF-FE61-4CFB-B031-2A0D74D97FB1}"/>
              </a:ext>
            </a:extLst>
          </p:cNvPr>
          <p:cNvCxnSpPr/>
          <p:nvPr/>
        </p:nvCxnSpPr>
        <p:spPr>
          <a:xfrm>
            <a:off x="2024495" y="3350368"/>
            <a:ext cx="266700" cy="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>
            <a:extLst>
              <a:ext uri="{FF2B5EF4-FFF2-40B4-BE49-F238E27FC236}">
                <a16:creationId xmlns:a16="http://schemas.microsoft.com/office/drawing/2014/main" id="{5131394F-E723-3B75-E0C2-E3051745F429}"/>
              </a:ext>
            </a:extLst>
          </p:cNvPr>
          <p:cNvCxnSpPr/>
          <p:nvPr/>
        </p:nvCxnSpPr>
        <p:spPr>
          <a:xfrm>
            <a:off x="4215246" y="2512168"/>
            <a:ext cx="266700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>
            <a:extLst>
              <a:ext uri="{FF2B5EF4-FFF2-40B4-BE49-F238E27FC236}">
                <a16:creationId xmlns:a16="http://schemas.microsoft.com/office/drawing/2014/main" id="{C5C4D6D1-7782-5FE4-72C5-EFBCFA45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91650" y="1910593"/>
            <a:ext cx="2062494" cy="1908000"/>
          </a:xfrm>
          <a:prstGeom prst="rect">
            <a:avLst/>
          </a:prstGeom>
        </p:spPr>
      </p:pic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321B58DE-554C-8218-C356-CC7462FB2648}"/>
              </a:ext>
            </a:extLst>
          </p:cNvPr>
          <p:cNvCxnSpPr>
            <a:cxnSpLocks/>
          </p:cNvCxnSpPr>
          <p:nvPr/>
        </p:nvCxnSpPr>
        <p:spPr>
          <a:xfrm>
            <a:off x="9896475" y="2512168"/>
            <a:ext cx="431172" cy="8382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8B4846D3-A8E9-E076-47BF-4DFDDD71568F}"/>
              </a:ext>
            </a:extLst>
          </p:cNvPr>
          <p:cNvCxnSpPr>
            <a:cxnSpLocks/>
          </p:cNvCxnSpPr>
          <p:nvPr/>
        </p:nvCxnSpPr>
        <p:spPr>
          <a:xfrm flipH="1">
            <a:off x="10610850" y="2590800"/>
            <a:ext cx="419100" cy="75956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Egyenes összekötő nyíllal 5"/>
          <p:cNvCxnSpPr/>
          <p:nvPr/>
        </p:nvCxnSpPr>
        <p:spPr>
          <a:xfrm>
            <a:off x="4797135" y="4978402"/>
            <a:ext cx="2586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Kép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5809" y="3818593"/>
            <a:ext cx="2509181" cy="2376000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246" y="5316889"/>
            <a:ext cx="2019300" cy="895350"/>
          </a:xfrm>
          <a:prstGeom prst="rect">
            <a:avLst/>
          </a:prstGeom>
        </p:spPr>
      </p:pic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31362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046-517C-8D75-3A3A-57D839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5E0407-0E07-BC2C-B6B3-53352832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Beta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1909BBF-726E-1FBE-14DC-7F8B2E537F3E}"/>
              </a:ext>
            </a:extLst>
          </p:cNvPr>
          <p:cNvSpPr txBox="1"/>
          <p:nvPr/>
        </p:nvSpPr>
        <p:spPr>
          <a:xfrm>
            <a:off x="161679" y="2042802"/>
            <a:ext cx="965884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b="1" u="sng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continuous</a:t>
            </a:r>
            <a:r>
              <a:rPr lang="hu-HU" b="1" u="sng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spectrum</a:t>
            </a:r>
            <a:r>
              <a:rPr lang="hu-HU" b="1" u="sng" dirty="0">
                <a:solidFill>
                  <a:schemeClr val="accent1"/>
                </a:solidFill>
                <a:latin typeface="Book Antiqua" panose="02040602050305030304" pitchFamily="18" charset="0"/>
              </a:rPr>
              <a:t>!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conservation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violated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What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could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carry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away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missing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?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Pauli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: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another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particle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three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-body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problem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),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neutrino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(Fermi)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hu-H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Electrically</a:t>
            </a:r>
            <a:r>
              <a:rPr lang="hu-H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neutral</a:t>
            </a:r>
            <a:endParaRPr lang="hu-HU" sz="1600" i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hu-H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Lepton </a:t>
            </a:r>
            <a:r>
              <a:rPr lang="hu-H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type</a:t>
            </a:r>
            <a:endParaRPr lang="hu-HU" sz="1600" i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hu-H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Spin ½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hu-H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Tiny</a:t>
            </a:r>
            <a:r>
              <a:rPr lang="hu-H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mass</a:t>
            </a:r>
            <a:endParaRPr lang="hu-HU" sz="1600" i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hu-H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Weakly</a:t>
            </a:r>
            <a:r>
              <a:rPr lang="hu-HU" sz="16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16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interacting</a:t>
            </a:r>
            <a:endParaRPr lang="hu-HU" sz="1600" i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</p:txBody>
      </p:sp>
      <p:pic>
        <p:nvPicPr>
          <p:cNvPr id="11" name="Kép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991" y="1805066"/>
            <a:ext cx="2965397" cy="2808000"/>
          </a:xfrm>
          <a:prstGeom prst="rect">
            <a:avLst/>
          </a:prstGeom>
        </p:spPr>
      </p:pic>
      <p:pic>
        <p:nvPicPr>
          <p:cNvPr id="3" name="Kép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9417" y="3667268"/>
            <a:ext cx="3057525" cy="1038225"/>
          </a:xfrm>
          <a:prstGeom prst="rect">
            <a:avLst/>
          </a:prstGeom>
        </p:spPr>
      </p:pic>
      <p:cxnSp>
        <p:nvCxnSpPr>
          <p:cNvPr id="7" name="Egyenes összekötő nyíllal 6"/>
          <p:cNvCxnSpPr/>
          <p:nvPr/>
        </p:nvCxnSpPr>
        <p:spPr>
          <a:xfrm>
            <a:off x="4045527" y="4186380"/>
            <a:ext cx="9455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Kép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8062" y="5028235"/>
            <a:ext cx="2226123" cy="360000"/>
          </a:xfrm>
          <a:prstGeom prst="rect">
            <a:avLst/>
          </a:prstGeom>
        </p:spPr>
      </p:pic>
      <p:pic>
        <p:nvPicPr>
          <p:cNvPr id="13" name="Kép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3179" y="5620327"/>
            <a:ext cx="3195000" cy="360000"/>
          </a:xfrm>
          <a:prstGeom prst="rect">
            <a:avLst/>
          </a:prstGeom>
        </p:spPr>
      </p:pic>
      <p:sp>
        <p:nvSpPr>
          <p:cNvPr id="15" name="Szövegdoboz 14"/>
          <p:cNvSpPr txBox="1"/>
          <p:nvPr/>
        </p:nvSpPr>
        <p:spPr>
          <a:xfrm>
            <a:off x="2807855" y="4977402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Symbol" panose="05050102010706020507" pitchFamily="18" charset="2"/>
              </a:rPr>
              <a:t>b</a:t>
            </a:r>
            <a:r>
              <a:rPr lang="hu-HU" sz="2400" b="1" baseline="30000" dirty="0">
                <a:solidFill>
                  <a:srgbClr val="0070C0"/>
                </a:solidFill>
              </a:rPr>
              <a:t>-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  <p:sp>
        <p:nvSpPr>
          <p:cNvPr id="18" name="Szövegdoboz 17"/>
          <p:cNvSpPr txBox="1"/>
          <p:nvPr/>
        </p:nvSpPr>
        <p:spPr>
          <a:xfrm>
            <a:off x="2807855" y="551866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Symbol" panose="05050102010706020507" pitchFamily="18" charset="2"/>
              </a:rPr>
              <a:t>b</a:t>
            </a:r>
            <a:r>
              <a:rPr lang="hu-HU" sz="2400" b="1" baseline="30000" dirty="0">
                <a:solidFill>
                  <a:srgbClr val="0070C0"/>
                </a:solidFill>
              </a:rPr>
              <a:t>+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  <p:sp>
        <p:nvSpPr>
          <p:cNvPr id="19" name="Szövegdoboz 18"/>
          <p:cNvSpPr txBox="1"/>
          <p:nvPr/>
        </p:nvSpPr>
        <p:spPr>
          <a:xfrm>
            <a:off x="7686409" y="5208234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Book Antiqua" panose="02040602050305030304" pitchFamily="18" charset="0"/>
              </a:rPr>
              <a:t>EC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  <p:cxnSp>
        <p:nvCxnSpPr>
          <p:cNvPr id="21" name="Egyenes összekötő nyíllal 20"/>
          <p:cNvCxnSpPr/>
          <p:nvPr/>
        </p:nvCxnSpPr>
        <p:spPr>
          <a:xfrm flipH="1" flipV="1">
            <a:off x="5994400" y="5911273"/>
            <a:ext cx="304800" cy="1847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zövegdoboz 21"/>
          <p:cNvSpPr txBox="1"/>
          <p:nvPr/>
        </p:nvSpPr>
        <p:spPr>
          <a:xfrm>
            <a:off x="6299200" y="5988336"/>
            <a:ext cx="28280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treshold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! 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(</a:t>
            </a: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</a:t>
            </a:r>
            <a:r>
              <a:rPr lang="hu-HU" sz="1600" b="1" baseline="-250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electron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=</a:t>
            </a:r>
            <a:r>
              <a:rPr lang="hu-HU" sz="1600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m</a:t>
            </a:r>
            <a:r>
              <a:rPr lang="hu-HU" sz="1600" b="1" baseline="-25000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positron</a:t>
            </a:r>
            <a:r>
              <a:rPr lang="hu-HU" sz="1600" b="1" dirty="0">
                <a:solidFill>
                  <a:schemeClr val="accent1"/>
                </a:solidFill>
                <a:latin typeface="Book Antiqua" panose="02040602050305030304" pitchFamily="18" charset="0"/>
              </a:rPr>
              <a:t>)</a:t>
            </a:r>
            <a:endParaRPr lang="en-GB" sz="1600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pic>
        <p:nvPicPr>
          <p:cNvPr id="23" name="Kép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366" y="5093899"/>
            <a:ext cx="3271680" cy="576000"/>
          </a:xfrm>
          <a:prstGeom prst="rect">
            <a:avLst/>
          </a:prstGeom>
        </p:spPr>
      </p:pic>
      <p:sp>
        <p:nvSpPr>
          <p:cNvPr id="24" name="Szövegdoboz 23"/>
          <p:cNvSpPr txBox="1"/>
          <p:nvPr/>
        </p:nvSpPr>
        <p:spPr>
          <a:xfrm>
            <a:off x="8790421" y="5661794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beta-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type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weak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process</a:t>
            </a:r>
            <a:endParaRPr lang="en-GB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22</a:t>
            </a:fld>
            <a:endParaRPr lang="hu-HU"/>
          </a:p>
        </p:txBody>
      </p:sp>
      <p:pic>
        <p:nvPicPr>
          <p:cNvPr id="17" name="Picture 4" descr="When tritium decays, what happens to tritium oxide? - Quor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724" y="5188327"/>
            <a:ext cx="1779041" cy="79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6714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>
          <a:xfrm>
            <a:off x="10034302" y="6492875"/>
            <a:ext cx="1312025" cy="365125"/>
          </a:xfrm>
        </p:spPr>
        <p:txBody>
          <a:bodyPr/>
          <a:lstStyle/>
          <a:p>
            <a:fld id="{15978846-98C1-4CBB-9575-B60993681694}" type="slidenum">
              <a:rPr lang="hu-HU" smtClean="0"/>
              <a:t>23</a:t>
            </a:fld>
            <a:endParaRPr lang="hu-HU"/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 rotWithShape="1">
          <a:blip r:embed="rId2"/>
          <a:srcRect t="26331"/>
          <a:stretch/>
        </p:blipFill>
        <p:spPr>
          <a:xfrm>
            <a:off x="3493093" y="520107"/>
            <a:ext cx="7232458" cy="3553810"/>
          </a:xfrm>
          <a:prstGeom prst="rect">
            <a:avLst/>
          </a:prstGeom>
        </p:spPr>
      </p:pic>
      <p:pic>
        <p:nvPicPr>
          <p:cNvPr id="9" name="Kép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3093" y="4108397"/>
            <a:ext cx="5580000" cy="1730175"/>
          </a:xfrm>
          <a:prstGeom prst="rect">
            <a:avLst/>
          </a:prstGeom>
        </p:spPr>
      </p:pic>
      <p:sp>
        <p:nvSpPr>
          <p:cNvPr id="10" name="Téglalap 9"/>
          <p:cNvSpPr/>
          <p:nvPr/>
        </p:nvSpPr>
        <p:spPr>
          <a:xfrm>
            <a:off x="5868722" y="4456003"/>
            <a:ext cx="407505" cy="387626"/>
          </a:xfrm>
          <a:prstGeom prst="rect">
            <a:avLst/>
          </a:prstGeom>
          <a:solidFill>
            <a:srgbClr val="CCF8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zövegdoboz 5"/>
          <p:cNvSpPr txBox="1"/>
          <p:nvPr/>
        </p:nvSpPr>
        <p:spPr>
          <a:xfrm>
            <a:off x="5825291" y="4416751"/>
            <a:ext cx="494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/>
              <a:t>EC</a:t>
            </a:r>
            <a:endParaRPr lang="en-GB" sz="2400" b="1" dirty="0"/>
          </a:p>
        </p:txBody>
      </p:sp>
      <p:sp>
        <p:nvSpPr>
          <p:cNvPr id="8" name="Szövegdoboz 7"/>
          <p:cNvSpPr txBox="1"/>
          <p:nvPr/>
        </p:nvSpPr>
        <p:spPr>
          <a:xfrm>
            <a:off x="3493093" y="4086671"/>
            <a:ext cx="11420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 err="1"/>
              <a:t>electron</a:t>
            </a:r>
            <a:r>
              <a:rPr lang="hu-HU" b="1" dirty="0"/>
              <a:t> +</a:t>
            </a:r>
            <a:endParaRPr lang="en-GB" b="1" dirty="0"/>
          </a:p>
        </p:txBody>
      </p:sp>
      <p:pic>
        <p:nvPicPr>
          <p:cNvPr id="12" name="Kép 1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89715" y="4787287"/>
            <a:ext cx="374400" cy="360000"/>
          </a:xfrm>
          <a:prstGeom prst="rect">
            <a:avLst/>
          </a:prstGeom>
        </p:spPr>
      </p:pic>
      <p:sp>
        <p:nvSpPr>
          <p:cNvPr id="13" name="Szövegdoboz 12"/>
          <p:cNvSpPr txBox="1"/>
          <p:nvPr/>
        </p:nvSpPr>
        <p:spPr>
          <a:xfrm>
            <a:off x="4107546" y="4695562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/>
              <a:t>+</a:t>
            </a:r>
            <a:endParaRPr lang="en-GB" sz="2800" b="1" dirty="0"/>
          </a:p>
        </p:txBody>
      </p:sp>
      <p:sp>
        <p:nvSpPr>
          <p:cNvPr id="14" name="Bal oldali kapcsos zárójel 13"/>
          <p:cNvSpPr/>
          <p:nvPr/>
        </p:nvSpPr>
        <p:spPr>
          <a:xfrm>
            <a:off x="2797554" y="2316990"/>
            <a:ext cx="652011" cy="3539361"/>
          </a:xfrm>
          <a:prstGeom prst="leftBrace">
            <a:avLst>
              <a:gd name="adj1" fmla="val 132599"/>
              <a:gd name="adj2" fmla="val 48854"/>
            </a:avLst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Szövegdoboz 14"/>
          <p:cNvSpPr txBox="1"/>
          <p:nvPr/>
        </p:nvSpPr>
        <p:spPr>
          <a:xfrm>
            <a:off x="254702" y="2666959"/>
            <a:ext cx="28688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 err="1">
                <a:latin typeface="Book Antiqua" panose="02040602050305030304" pitchFamily="18" charset="0"/>
              </a:rPr>
              <a:t>Two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competing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processes</a:t>
            </a:r>
            <a:endParaRPr lang="hu-HU" sz="1600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dirty="0">
                <a:latin typeface="Book Antiqua" panose="02040602050305030304" pitchFamily="18" charset="0"/>
              </a:rPr>
              <a:t>Q </a:t>
            </a:r>
            <a:r>
              <a:rPr lang="hu-HU" sz="1600" dirty="0" err="1">
                <a:latin typeface="Book Antiqua" panose="02040602050305030304" pitchFamily="18" charset="0"/>
              </a:rPr>
              <a:t>for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b="1" dirty="0">
                <a:latin typeface="Symbol" panose="05050102010706020507" pitchFamily="18" charset="2"/>
              </a:rPr>
              <a:t>b</a:t>
            </a:r>
            <a:r>
              <a:rPr lang="hu-HU" sz="1600" b="1" baseline="30000" dirty="0">
                <a:latin typeface="Book Antiqua" panose="02040602050305030304" pitchFamily="18" charset="0"/>
              </a:rPr>
              <a:t>+</a:t>
            </a:r>
            <a:r>
              <a:rPr lang="hu-HU" sz="1600" dirty="0">
                <a:latin typeface="Book Antiqua" panose="02040602050305030304" pitchFamily="18" charset="0"/>
              </a:rPr>
              <a:t> is </a:t>
            </a:r>
            <a:r>
              <a:rPr lang="hu-HU" sz="1600" dirty="0" err="1">
                <a:latin typeface="Book Antiqua" panose="02040602050305030304" pitchFamily="18" charset="0"/>
              </a:rPr>
              <a:t>always</a:t>
            </a:r>
            <a:r>
              <a:rPr lang="hu-HU" sz="1600" dirty="0">
                <a:latin typeface="Book Antiqua" panose="02040602050305030304" pitchFamily="18" charset="0"/>
              </a:rPr>
              <a:t> 1 </a:t>
            </a:r>
            <a:r>
              <a:rPr lang="hu-HU" sz="1600" dirty="0" err="1">
                <a:latin typeface="Book Antiqua" panose="02040602050305030304" pitchFamily="18" charset="0"/>
              </a:rPr>
              <a:t>MeV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smaller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than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that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for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b="1" dirty="0">
                <a:latin typeface="Book Antiqua" panose="02040602050305030304" pitchFamily="18" charset="0"/>
              </a:rPr>
              <a:t>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sz="1600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600" b="1" dirty="0">
                <a:latin typeface="Book Antiqua" panose="02040602050305030304" pitchFamily="18" charset="0"/>
              </a:rPr>
              <a:t>EC </a:t>
            </a:r>
            <a:r>
              <a:rPr lang="hu-HU" sz="1600" b="1" dirty="0" err="1">
                <a:latin typeface="Book Antiqua" panose="02040602050305030304" pitchFamily="18" charset="0"/>
              </a:rPr>
              <a:t>typically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happens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with</a:t>
            </a:r>
            <a:r>
              <a:rPr lang="hu-HU" sz="1600" b="1" dirty="0">
                <a:latin typeface="Book Antiqua" panose="02040602050305030304" pitchFamily="18" charset="0"/>
              </a:rPr>
              <a:t> K-</a:t>
            </a:r>
            <a:r>
              <a:rPr lang="hu-HU" sz="1600" b="1" dirty="0" err="1">
                <a:latin typeface="Book Antiqua" panose="02040602050305030304" pitchFamily="18" charset="0"/>
              </a:rPr>
              <a:t>shell</a:t>
            </a:r>
            <a:r>
              <a:rPr lang="hu-HU" sz="1600" b="1" dirty="0">
                <a:latin typeface="Book Antiqua" panose="02040602050305030304" pitchFamily="18" charset="0"/>
              </a:rPr>
              <a:t> </a:t>
            </a:r>
            <a:r>
              <a:rPr lang="hu-HU" sz="1600" b="1" dirty="0" err="1">
                <a:latin typeface="Book Antiqua" panose="02040602050305030304" pitchFamily="18" charset="0"/>
              </a:rPr>
              <a:t>electrons</a:t>
            </a:r>
            <a:endParaRPr lang="en-GB" sz="1600" b="1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/>
          <p:cNvSpPr txBox="1"/>
          <p:nvPr/>
        </p:nvSpPr>
        <p:spPr>
          <a:xfrm>
            <a:off x="10725551" y="3082457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Q=2,6 </a:t>
            </a:r>
            <a:r>
              <a:rPr lang="hu-HU" b="1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MeV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Szövegdoboz 16"/>
          <p:cNvSpPr txBox="1"/>
          <p:nvPr/>
        </p:nvSpPr>
        <p:spPr>
          <a:xfrm>
            <a:off x="9310615" y="4878416"/>
            <a:ext cx="1388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Q=3,6 </a:t>
            </a:r>
            <a:r>
              <a:rPr lang="hu-HU" b="1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MeV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8" name="Ellipszis 17"/>
          <p:cNvSpPr/>
          <p:nvPr/>
        </p:nvSpPr>
        <p:spPr>
          <a:xfrm>
            <a:off x="5285627" y="1325175"/>
            <a:ext cx="218661" cy="238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Ellipszis 18"/>
          <p:cNvSpPr/>
          <p:nvPr/>
        </p:nvSpPr>
        <p:spPr>
          <a:xfrm>
            <a:off x="7023183" y="1563714"/>
            <a:ext cx="218661" cy="238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Ellipszis 19"/>
          <p:cNvSpPr/>
          <p:nvPr/>
        </p:nvSpPr>
        <p:spPr>
          <a:xfrm>
            <a:off x="5066966" y="3267123"/>
            <a:ext cx="218661" cy="238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Ellipszis 20"/>
          <p:cNvSpPr/>
          <p:nvPr/>
        </p:nvSpPr>
        <p:spPr>
          <a:xfrm>
            <a:off x="7024975" y="3267122"/>
            <a:ext cx="218661" cy="238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Ellipszis 21"/>
          <p:cNvSpPr/>
          <p:nvPr/>
        </p:nvSpPr>
        <p:spPr>
          <a:xfrm>
            <a:off x="5039189" y="5069922"/>
            <a:ext cx="218661" cy="238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Ellipszis 22"/>
          <p:cNvSpPr/>
          <p:nvPr/>
        </p:nvSpPr>
        <p:spPr>
          <a:xfrm>
            <a:off x="6999991" y="5063082"/>
            <a:ext cx="218661" cy="23853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Egyenes összekötő nyíllal 24"/>
          <p:cNvCxnSpPr>
            <a:stCxn id="18" idx="5"/>
            <a:endCxn id="19" idx="2"/>
          </p:cNvCxnSpPr>
          <p:nvPr/>
        </p:nvCxnSpPr>
        <p:spPr>
          <a:xfrm>
            <a:off x="5472266" y="1528781"/>
            <a:ext cx="1550917" cy="1542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gyenes összekötő nyíllal 26"/>
          <p:cNvCxnSpPr/>
          <p:nvPr/>
        </p:nvCxnSpPr>
        <p:spPr>
          <a:xfrm>
            <a:off x="5269990" y="3378929"/>
            <a:ext cx="1770623" cy="14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Egyenes összekötő nyíllal 27"/>
          <p:cNvCxnSpPr/>
          <p:nvPr/>
        </p:nvCxnSpPr>
        <p:spPr>
          <a:xfrm>
            <a:off x="5274415" y="5211320"/>
            <a:ext cx="1770623" cy="149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Kép 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115" y="141867"/>
            <a:ext cx="3195000" cy="360000"/>
          </a:xfrm>
          <a:prstGeom prst="rect">
            <a:avLst/>
          </a:prstGeom>
        </p:spPr>
      </p:pic>
      <p:sp>
        <p:nvSpPr>
          <p:cNvPr id="32" name="Szövegdoboz 31"/>
          <p:cNvSpPr txBox="1"/>
          <p:nvPr/>
        </p:nvSpPr>
        <p:spPr>
          <a:xfrm>
            <a:off x="173791" y="40202"/>
            <a:ext cx="5405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Symbol" panose="05050102010706020507" pitchFamily="18" charset="2"/>
              </a:rPr>
              <a:t>b</a:t>
            </a:r>
            <a:r>
              <a:rPr lang="hu-HU" sz="2400" b="1" baseline="30000" dirty="0">
                <a:solidFill>
                  <a:srgbClr val="0070C0"/>
                </a:solidFill>
              </a:rPr>
              <a:t>+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  <p:sp>
        <p:nvSpPr>
          <p:cNvPr id="33" name="Szövegdoboz 32"/>
          <p:cNvSpPr txBox="1"/>
          <p:nvPr/>
        </p:nvSpPr>
        <p:spPr>
          <a:xfrm>
            <a:off x="307635" y="649292"/>
            <a:ext cx="6799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Book Antiqua" panose="02040602050305030304" pitchFamily="18" charset="0"/>
              </a:rPr>
              <a:t>EC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  <p:pic>
        <p:nvPicPr>
          <p:cNvPr id="34" name="Kép 3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1872" y="687227"/>
            <a:ext cx="2226123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49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046-517C-8D75-3A3A-57D839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5E0407-0E07-BC2C-B6B3-53352832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Beta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as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a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weak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interaction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24</a:t>
            </a:fld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56CFB3C-B21A-13F4-F467-5DA1B81989C5}"/>
              </a:ext>
            </a:extLst>
          </p:cNvPr>
          <p:cNvSpPr txBox="1"/>
          <p:nvPr/>
        </p:nvSpPr>
        <p:spPr>
          <a:xfrm>
            <a:off x="886640" y="2065589"/>
            <a:ext cx="328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At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level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nucleus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A56CFB3C-B21A-13F4-F467-5DA1B81989C5}"/>
              </a:ext>
            </a:extLst>
          </p:cNvPr>
          <p:cNvSpPr txBox="1"/>
          <p:nvPr/>
        </p:nvSpPr>
        <p:spPr>
          <a:xfrm>
            <a:off x="883649" y="3391864"/>
            <a:ext cx="328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At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level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nucleons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A56CFB3C-B21A-13F4-F467-5DA1B81989C5}"/>
              </a:ext>
            </a:extLst>
          </p:cNvPr>
          <p:cNvSpPr txBox="1"/>
          <p:nvPr/>
        </p:nvSpPr>
        <p:spPr>
          <a:xfrm>
            <a:off x="883648" y="4647023"/>
            <a:ext cx="32847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At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level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of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quarks</a:t>
            </a:r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:</a:t>
            </a:r>
          </a:p>
        </p:txBody>
      </p:sp>
      <p:pic>
        <p:nvPicPr>
          <p:cNvPr id="14" name="Kép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78" y="1922213"/>
            <a:ext cx="3057525" cy="1038225"/>
          </a:xfrm>
          <a:prstGeom prst="rect">
            <a:avLst/>
          </a:prstGeom>
        </p:spPr>
      </p:pic>
      <p:pic>
        <p:nvPicPr>
          <p:cNvPr id="2050" name="Picture 2" descr="Tritium, the $A=3$ isotope of hydrogen, is radioactive. One | Quizl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2945" y="2919597"/>
            <a:ext cx="1746076" cy="12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zövegdoboz 2"/>
          <p:cNvSpPr txBox="1"/>
          <p:nvPr/>
        </p:nvSpPr>
        <p:spPr>
          <a:xfrm>
            <a:off x="5852158" y="3533448"/>
            <a:ext cx="61482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Similar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process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of a </a:t>
            </a:r>
            <a:r>
              <a:rPr lang="hu-HU" i="1" dirty="0">
                <a:latin typeface="Book Antiqua" panose="02040602050305030304" pitchFamily="18" charset="0"/>
              </a:rPr>
              <a:t>free neutron </a:t>
            </a:r>
            <a:r>
              <a:rPr lang="hu-HU" sz="1400" i="1" dirty="0">
                <a:latin typeface="Book Antiqua" panose="02040602050305030304" pitchFamily="18" charset="0"/>
              </a:rPr>
              <a:t>(n, p </a:t>
            </a:r>
            <a:r>
              <a:rPr lang="hu-HU" sz="1400" i="1" dirty="0" err="1">
                <a:latin typeface="Book Antiqua" panose="02040602050305030304" pitchFamily="18" charset="0"/>
              </a:rPr>
              <a:t>mass</a:t>
            </a:r>
            <a:r>
              <a:rPr lang="hu-HU" sz="1400" i="1" dirty="0">
                <a:latin typeface="Book Antiqua" panose="02040602050305030304" pitchFamily="18" charset="0"/>
              </a:rPr>
              <a:t> </a:t>
            </a:r>
            <a:r>
              <a:rPr lang="hu-HU" sz="1400" i="1" dirty="0" err="1">
                <a:latin typeface="Book Antiqua" panose="02040602050305030304" pitchFamily="18" charset="0"/>
              </a:rPr>
              <a:t>eigenstates</a:t>
            </a:r>
            <a:r>
              <a:rPr lang="hu-HU" sz="1400" i="1" dirty="0">
                <a:latin typeface="Book Antiqua" panose="02040602050305030304" pitchFamily="18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Reverse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process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 is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forbidden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! (free p </a:t>
            </a:r>
            <a:r>
              <a:rPr lang="hu-HU" dirty="0" err="1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to</a:t>
            </a:r>
            <a:r>
              <a:rPr lang="hu-HU" dirty="0">
                <a:solidFill>
                  <a:schemeClr val="bg1">
                    <a:lumMod val="50000"/>
                  </a:schemeClr>
                </a:solidFill>
                <a:latin typeface="Book Antiqua" panose="02040602050305030304" pitchFamily="18" charset="0"/>
              </a:rPr>
              <a:t> free n)</a:t>
            </a:r>
            <a:endParaRPr lang="en-GB" dirty="0">
              <a:solidFill>
                <a:schemeClr val="bg1">
                  <a:lumMod val="5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16" name="Szövegdoboz 15"/>
          <p:cNvSpPr txBox="1"/>
          <p:nvPr/>
        </p:nvSpPr>
        <p:spPr>
          <a:xfrm>
            <a:off x="7221582" y="2148937"/>
            <a:ext cx="340940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Nuclear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state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transition</a:t>
            </a:r>
            <a:r>
              <a:rPr lang="hu-HU" dirty="0">
                <a:latin typeface="Book Antiqua" panose="02040602050305030304" pitchFamily="18" charset="0"/>
              </a:rPr>
              <a:t>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sz="1400" i="1" dirty="0" err="1">
                <a:latin typeface="Book Antiqua" panose="02040602050305030304" pitchFamily="18" charset="0"/>
              </a:rPr>
              <a:t>Not</a:t>
            </a:r>
            <a:r>
              <a:rPr lang="hu-HU" sz="1400" i="1" dirty="0">
                <a:latin typeface="Book Antiqua" panose="02040602050305030304" pitchFamily="18" charset="0"/>
              </a:rPr>
              <a:t> free </a:t>
            </a:r>
            <a:r>
              <a:rPr lang="hu-HU" sz="1400" i="1" dirty="0" err="1">
                <a:latin typeface="Book Antiqua" panose="02040602050305030304" pitchFamily="18" charset="0"/>
              </a:rPr>
              <a:t>nucleon</a:t>
            </a:r>
            <a:r>
              <a:rPr lang="hu-HU" sz="1400" i="1" dirty="0">
                <a:latin typeface="Book Antiqua" panose="02040602050305030304" pitchFamily="18" charset="0"/>
              </a:rPr>
              <a:t> </a:t>
            </a:r>
            <a:r>
              <a:rPr lang="hu-HU" sz="1400" i="1" dirty="0" err="1">
                <a:latin typeface="Book Antiqua" panose="02040602050305030304" pitchFamily="18" charset="0"/>
              </a:rPr>
              <a:t>states</a:t>
            </a:r>
            <a:r>
              <a:rPr lang="hu-HU" sz="1400" i="1" dirty="0">
                <a:latin typeface="Book Antiqua" panose="02040602050305030304" pitchFamily="18" charset="0"/>
              </a:rPr>
              <a:t>!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hu-HU" sz="1400" i="1" dirty="0" err="1">
                <a:latin typeface="Book Antiqua" panose="02040602050305030304" pitchFamily="18" charset="0"/>
              </a:rPr>
              <a:t>That</a:t>
            </a:r>
            <a:r>
              <a:rPr lang="hu-HU" sz="1400" i="1" dirty="0">
                <a:latin typeface="Book Antiqua" panose="02040602050305030304" pitchFamily="18" charset="0"/>
              </a:rPr>
              <a:t> is </a:t>
            </a:r>
            <a:r>
              <a:rPr lang="hu-HU" sz="1400" i="1" dirty="0" err="1">
                <a:latin typeface="Book Antiqua" panose="02040602050305030304" pitchFamily="18" charset="0"/>
              </a:rPr>
              <a:t>why</a:t>
            </a:r>
            <a:r>
              <a:rPr lang="hu-HU" sz="1400" i="1" dirty="0">
                <a:latin typeface="Book Antiqua" panose="02040602050305030304" pitchFamily="18" charset="0"/>
              </a:rPr>
              <a:t> </a:t>
            </a:r>
            <a:r>
              <a:rPr lang="hu-HU" sz="1400" i="1" dirty="0">
                <a:latin typeface="Symbol" panose="05050102010706020507" pitchFamily="18" charset="2"/>
              </a:rPr>
              <a:t>b</a:t>
            </a:r>
            <a:r>
              <a:rPr lang="hu-HU" sz="1400" i="1" dirty="0">
                <a:latin typeface="Book Antiqua" panose="02040602050305030304" pitchFamily="18" charset="0"/>
              </a:rPr>
              <a:t>+ is </a:t>
            </a:r>
            <a:r>
              <a:rPr lang="hu-HU" sz="1400" i="1" dirty="0" err="1">
                <a:latin typeface="Book Antiqua" panose="02040602050305030304" pitchFamily="18" charset="0"/>
              </a:rPr>
              <a:t>allowed</a:t>
            </a:r>
            <a:endParaRPr lang="hu-HU" sz="1400" i="1" dirty="0">
              <a:latin typeface="Book Antiqua" panose="02040602050305030304" pitchFamily="18" charset="0"/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5291" y="4455782"/>
            <a:ext cx="2181189" cy="1728000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6688183" y="4831689"/>
            <a:ext cx="52077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charged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current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weak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interaction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transition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between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bound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quarks</a:t>
            </a:r>
            <a:r>
              <a:rPr lang="hu-HU" dirty="0">
                <a:latin typeface="Book Antiqua" panose="02040602050305030304" pitchFamily="18" charset="0"/>
              </a:rPr>
              <a:t> (u        d)</a:t>
            </a:r>
            <a:endParaRPr lang="en-GB" dirty="0">
              <a:latin typeface="Book Antiqua" panose="02040602050305030304" pitchFamily="18" charset="0"/>
            </a:endParaRPr>
          </a:p>
        </p:txBody>
      </p:sp>
      <p:cxnSp>
        <p:nvCxnSpPr>
          <p:cNvPr id="8" name="Egyenes összekötő nyíllal 7"/>
          <p:cNvCxnSpPr/>
          <p:nvPr/>
        </p:nvCxnSpPr>
        <p:spPr>
          <a:xfrm>
            <a:off x="9440091" y="5294812"/>
            <a:ext cx="36576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25680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046-517C-8D75-3A3A-57D839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75E0407-0E07-BC2C-B6B3-53352832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Beta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pic>
        <p:nvPicPr>
          <p:cNvPr id="9" name="Kép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5932" y="920776"/>
            <a:ext cx="2226123" cy="360000"/>
          </a:xfrm>
          <a:prstGeom prst="rect">
            <a:avLst/>
          </a:prstGeom>
        </p:spPr>
      </p:pic>
      <p:sp>
        <p:nvSpPr>
          <p:cNvPr id="15" name="Szövegdoboz 14"/>
          <p:cNvSpPr txBox="1"/>
          <p:nvPr/>
        </p:nvSpPr>
        <p:spPr>
          <a:xfrm>
            <a:off x="6137748" y="869944"/>
            <a:ext cx="5004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solidFill>
                  <a:srgbClr val="0070C0"/>
                </a:solidFill>
                <a:latin typeface="Symbol" panose="05050102010706020507" pitchFamily="18" charset="2"/>
              </a:rPr>
              <a:t>b</a:t>
            </a:r>
            <a:r>
              <a:rPr lang="hu-HU" sz="2400" b="1" baseline="30000" dirty="0">
                <a:solidFill>
                  <a:srgbClr val="0070C0"/>
                </a:solidFill>
              </a:rPr>
              <a:t>-</a:t>
            </a:r>
            <a:r>
              <a:rPr lang="hu-HU" sz="2400" b="1" dirty="0">
                <a:solidFill>
                  <a:srgbClr val="0070C0"/>
                </a:solidFill>
              </a:rPr>
              <a:t>:</a:t>
            </a:r>
            <a:endParaRPr lang="en-GB" sz="2400" b="1" baseline="30000" dirty="0">
              <a:solidFill>
                <a:srgbClr val="0070C0"/>
              </a:solidFill>
            </a:endParaRP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25</a:t>
            </a:fld>
            <a:endParaRPr lang="hu-HU"/>
          </a:p>
        </p:txBody>
      </p: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A56CFB3C-B21A-13F4-F467-5DA1B81989C5}"/>
              </a:ext>
            </a:extLst>
          </p:cNvPr>
          <p:cNvSpPr txBox="1"/>
          <p:nvPr/>
        </p:nvSpPr>
        <p:spPr>
          <a:xfrm>
            <a:off x="886641" y="2065589"/>
            <a:ext cx="1794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u="sng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EXAMPLE:</a:t>
            </a:r>
          </a:p>
        </p:txBody>
      </p:sp>
      <p:pic>
        <p:nvPicPr>
          <p:cNvPr id="1026" name="Picture 2" descr="File:Tritium Decay Scheme-de.svg - Wikimedia Comm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639" y="1326596"/>
            <a:ext cx="5040000" cy="37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03" y="4300544"/>
            <a:ext cx="1863500" cy="1764000"/>
          </a:xfrm>
          <a:prstGeom prst="rect">
            <a:avLst/>
          </a:prstGeom>
        </p:spPr>
      </p:pic>
      <p:cxnSp>
        <p:nvCxnSpPr>
          <p:cNvPr id="8" name="Egyenes összekötő nyíllal 7"/>
          <p:cNvCxnSpPr/>
          <p:nvPr/>
        </p:nvCxnSpPr>
        <p:spPr>
          <a:xfrm flipV="1">
            <a:off x="7636436" y="2730534"/>
            <a:ext cx="1709530" cy="337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Kép 9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80000" contrast="9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86641" y="2495382"/>
            <a:ext cx="1343025" cy="16478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25" name="Szövegdoboz 24"/>
          <p:cNvSpPr txBox="1"/>
          <p:nvPr/>
        </p:nvSpPr>
        <p:spPr>
          <a:xfrm>
            <a:off x="9414625" y="2495382"/>
            <a:ext cx="2228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i="1" dirty="0" err="1">
                <a:latin typeface="Book Antiqua" panose="02040602050305030304" pitchFamily="18" charset="0"/>
              </a:rPr>
              <a:t>average</a:t>
            </a:r>
            <a:r>
              <a:rPr lang="hu-HU" dirty="0">
                <a:latin typeface="Book Antiqua" panose="02040602050305030304" pitchFamily="18" charset="0"/>
              </a:rPr>
              <a:t> beta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30" name="Szövegdoboz 29"/>
          <p:cNvSpPr txBox="1"/>
          <p:nvPr/>
        </p:nvSpPr>
        <p:spPr>
          <a:xfrm>
            <a:off x="4540817" y="4535211"/>
            <a:ext cx="40735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i="1" dirty="0">
                <a:latin typeface="Book Antiqua" panose="02040602050305030304" pitchFamily="18" charset="0"/>
              </a:rPr>
              <a:t>maximum</a:t>
            </a:r>
            <a:r>
              <a:rPr lang="hu-HU" dirty="0">
                <a:latin typeface="Book Antiqua" panose="02040602050305030304" pitchFamily="18" charset="0"/>
              </a:rPr>
              <a:t> beta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r>
              <a:rPr lang="hu-HU" dirty="0">
                <a:latin typeface="Book Antiqua" panose="02040602050305030304" pitchFamily="18" charset="0"/>
              </a:rPr>
              <a:t> =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energy</a:t>
            </a:r>
            <a:endParaRPr lang="en-GB" dirty="0">
              <a:latin typeface="Book Antiqua" panose="02040602050305030304" pitchFamily="18" charset="0"/>
            </a:endParaRPr>
          </a:p>
        </p:txBody>
      </p:sp>
      <p:cxnSp>
        <p:nvCxnSpPr>
          <p:cNvPr id="34" name="Egyenes összekötő nyíllal 33"/>
          <p:cNvCxnSpPr>
            <a:stCxn id="30" idx="1"/>
          </p:cNvCxnSpPr>
          <p:nvPr/>
        </p:nvCxnSpPr>
        <p:spPr>
          <a:xfrm flipH="1">
            <a:off x="2390564" y="4719877"/>
            <a:ext cx="2150253" cy="6758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gyenes összekötő 35"/>
          <p:cNvCxnSpPr/>
          <p:nvPr/>
        </p:nvCxnSpPr>
        <p:spPr>
          <a:xfrm>
            <a:off x="1421296" y="4719877"/>
            <a:ext cx="0" cy="11163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églalap 2">
            <a:extLst>
              <a:ext uri="{FF2B5EF4-FFF2-40B4-BE49-F238E27FC236}">
                <a16:creationId xmlns:a16="http://schemas.microsoft.com/office/drawing/2014/main" id="{638FBE58-95A4-7C75-E000-016054CA0B3D}"/>
              </a:ext>
            </a:extLst>
          </p:cNvPr>
          <p:cNvSpPr/>
          <p:nvPr/>
        </p:nvSpPr>
        <p:spPr>
          <a:xfrm>
            <a:off x="950355" y="3760434"/>
            <a:ext cx="1215595" cy="31976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 sz="1400" b="1" dirty="0">
                <a:solidFill>
                  <a:schemeClr val="accent2"/>
                </a:solidFill>
                <a:latin typeface="Book Antiqua" panose="02040602050305030304" pitchFamily="18" charset="0"/>
              </a:rPr>
              <a:t>0.01859 </a:t>
            </a:r>
            <a:r>
              <a:rPr lang="hu-HU" sz="1400" b="1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MeV</a:t>
            </a:r>
            <a:endParaRPr lang="hu-HU" sz="1400" b="1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cxnSp>
        <p:nvCxnSpPr>
          <p:cNvPr id="31" name="Egyenes összekötő nyíllal 30"/>
          <p:cNvCxnSpPr>
            <a:stCxn id="30" idx="1"/>
          </p:cNvCxnSpPr>
          <p:nvPr/>
        </p:nvCxnSpPr>
        <p:spPr>
          <a:xfrm flipH="1" flipV="1">
            <a:off x="2014938" y="3980778"/>
            <a:ext cx="2525879" cy="7390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79510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43046-517C-8D75-3A3A-57D8395BA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1455" y="1848197"/>
            <a:ext cx="3592334" cy="424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B75E0407-0E07-BC2C-B6B3-53352832A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Gamma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decay</a:t>
            </a:r>
            <a:endParaRPr lang="hu-HU" sz="2400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A1909BBF-726E-1FBE-14DC-7F8B2E537F3E}"/>
              </a:ext>
            </a:extLst>
          </p:cNvPr>
          <p:cNvSpPr txBox="1"/>
          <p:nvPr/>
        </p:nvSpPr>
        <p:spPr>
          <a:xfrm>
            <a:off x="161678" y="2042802"/>
            <a:ext cx="74675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transition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without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changing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constituents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some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processes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result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in a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daughter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nucleus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in an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excited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state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 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(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example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: beta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)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lvl="2"/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system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wants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to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lower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its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    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transitions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down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to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lower-enrgy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levels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if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there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any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available</a:t>
            </a:r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emitting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gamma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(!)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photons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(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in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MeV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scale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)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photons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are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determined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by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difference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in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nuclear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energy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levels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: </a:t>
            </a:r>
          </a:p>
        </p:txBody>
      </p:sp>
      <p:cxnSp>
        <p:nvCxnSpPr>
          <p:cNvPr id="6" name="Egyenes összekötő nyíllal 5"/>
          <p:cNvCxnSpPr/>
          <p:nvPr/>
        </p:nvCxnSpPr>
        <p:spPr>
          <a:xfrm>
            <a:off x="5163127" y="3639127"/>
            <a:ext cx="29556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gyenes összekötő nyíllal 9"/>
          <p:cNvCxnSpPr/>
          <p:nvPr/>
        </p:nvCxnSpPr>
        <p:spPr>
          <a:xfrm>
            <a:off x="7555345" y="3639127"/>
            <a:ext cx="200429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Egyenes összekötő nyíllal 16"/>
          <p:cNvCxnSpPr/>
          <p:nvPr/>
        </p:nvCxnSpPr>
        <p:spPr>
          <a:xfrm>
            <a:off x="7555345" y="3639127"/>
            <a:ext cx="2004291" cy="147781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Kép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1527" y="4451729"/>
            <a:ext cx="2851200" cy="648000"/>
          </a:xfrm>
          <a:prstGeom prst="rect">
            <a:avLst/>
          </a:prstGeom>
        </p:spPr>
      </p:pic>
      <p:cxnSp>
        <p:nvCxnSpPr>
          <p:cNvPr id="20" name="Egyenes összekötő nyíllal 19"/>
          <p:cNvCxnSpPr/>
          <p:nvPr/>
        </p:nvCxnSpPr>
        <p:spPr>
          <a:xfrm>
            <a:off x="10546080" y="2849517"/>
            <a:ext cx="0" cy="1579220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Egyenes összekötő nyíllal 23"/>
          <p:cNvCxnSpPr/>
          <p:nvPr/>
        </p:nvCxnSpPr>
        <p:spPr>
          <a:xfrm>
            <a:off x="10704946" y="4451729"/>
            <a:ext cx="2771" cy="1113610"/>
          </a:xfrm>
          <a:prstGeom prst="straightConnector1">
            <a:avLst/>
          </a:prstGeom>
          <a:ln w="38100">
            <a:solidFill>
              <a:srgbClr val="00B0F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zövegdoboz 25"/>
          <p:cNvSpPr txBox="1"/>
          <p:nvPr/>
        </p:nvSpPr>
        <p:spPr>
          <a:xfrm>
            <a:off x="10704946" y="3325091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latin typeface="Symbol" panose="05050102010706020507" pitchFamily="18" charset="2"/>
              </a:rPr>
              <a:t>D</a:t>
            </a:r>
            <a:r>
              <a:rPr lang="hu-HU" sz="2400" b="1" dirty="0">
                <a:latin typeface="Book Antiqua" panose="02040602050305030304" pitchFamily="18" charset="0"/>
              </a:rPr>
              <a:t>E</a:t>
            </a:r>
            <a:r>
              <a:rPr lang="hu-HU" sz="2400" b="1" baseline="-25000" dirty="0">
                <a:latin typeface="Book Antiqua" panose="02040602050305030304" pitchFamily="18" charset="0"/>
              </a:rPr>
              <a:t>1</a:t>
            </a:r>
            <a:endParaRPr lang="en-GB" sz="2400" b="1" baseline="-25000" dirty="0">
              <a:latin typeface="Book Antiqua" panose="02040602050305030304" pitchFamily="18" charset="0"/>
            </a:endParaRPr>
          </a:p>
        </p:txBody>
      </p:sp>
      <p:sp>
        <p:nvSpPr>
          <p:cNvPr id="27" name="Szövegdoboz 26"/>
          <p:cNvSpPr txBox="1"/>
          <p:nvPr/>
        </p:nvSpPr>
        <p:spPr>
          <a:xfrm>
            <a:off x="10844417" y="4729394"/>
            <a:ext cx="6639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b="1" dirty="0">
                <a:latin typeface="Symbol" panose="05050102010706020507" pitchFamily="18" charset="2"/>
              </a:rPr>
              <a:t>D</a:t>
            </a:r>
            <a:r>
              <a:rPr lang="hu-HU" sz="2400" b="1" dirty="0">
                <a:latin typeface="Book Antiqua" panose="02040602050305030304" pitchFamily="18" charset="0"/>
              </a:rPr>
              <a:t>E</a:t>
            </a:r>
            <a:r>
              <a:rPr lang="hu-HU" sz="2400" b="1" baseline="-25000" dirty="0">
                <a:latin typeface="Book Antiqua" panose="02040602050305030304" pitchFamily="18" charset="0"/>
              </a:rPr>
              <a:t>2</a:t>
            </a:r>
            <a:endParaRPr lang="en-GB" sz="2400" b="1" baseline="-25000" dirty="0">
              <a:latin typeface="Book Antiqua" panose="02040602050305030304" pitchFamily="18" charset="0"/>
            </a:endParaRPr>
          </a:p>
        </p:txBody>
      </p:sp>
      <p:sp>
        <p:nvSpPr>
          <p:cNvPr id="28" name="Szövegdoboz 27"/>
          <p:cNvSpPr txBox="1"/>
          <p:nvPr/>
        </p:nvSpPr>
        <p:spPr>
          <a:xfrm>
            <a:off x="4968791" y="5454494"/>
            <a:ext cx="1260281" cy="461665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hu-HU" sz="2400" b="1" dirty="0">
                <a:latin typeface="Symbol" panose="05050102010706020507" pitchFamily="18" charset="2"/>
              </a:rPr>
              <a:t>D</a:t>
            </a:r>
            <a:r>
              <a:rPr lang="hu-HU" sz="2400" b="1" dirty="0">
                <a:latin typeface="Book Antiqua" panose="02040602050305030304" pitchFamily="18" charset="0"/>
              </a:rPr>
              <a:t>E</a:t>
            </a:r>
            <a:r>
              <a:rPr lang="hu-HU" sz="2400" b="1" baseline="-25000" dirty="0">
                <a:latin typeface="Book Antiqua" panose="02040602050305030304" pitchFamily="18" charset="0"/>
              </a:rPr>
              <a:t>1</a:t>
            </a:r>
            <a:r>
              <a:rPr lang="hu-HU" sz="2400" b="1" dirty="0">
                <a:latin typeface="Book Antiqua" panose="02040602050305030304" pitchFamily="18" charset="0"/>
              </a:rPr>
              <a:t>=hf</a:t>
            </a:r>
            <a:r>
              <a:rPr lang="hu-HU" sz="2400" b="1" baseline="-25000" dirty="0">
                <a:latin typeface="Book Antiqua" panose="02040602050305030304" pitchFamily="18" charset="0"/>
              </a:rPr>
              <a:t>1</a:t>
            </a:r>
            <a:endParaRPr lang="en-GB" sz="2400" b="1" baseline="-25000" dirty="0">
              <a:latin typeface="Book Antiqua" panose="02040602050305030304" pitchFamily="18" charset="0"/>
            </a:endParaRPr>
          </a:p>
        </p:txBody>
      </p:sp>
      <p:cxnSp>
        <p:nvCxnSpPr>
          <p:cNvPr id="30" name="Egyenes összekötő nyíllal 29"/>
          <p:cNvCxnSpPr/>
          <p:nvPr/>
        </p:nvCxnSpPr>
        <p:spPr>
          <a:xfrm flipH="1" flipV="1">
            <a:off x="6126480" y="5837382"/>
            <a:ext cx="514465" cy="3417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zövegdoboz 30"/>
          <p:cNvSpPr txBox="1"/>
          <p:nvPr/>
        </p:nvSpPr>
        <p:spPr>
          <a:xfrm>
            <a:off x="6640945" y="5944768"/>
            <a:ext cx="30941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i="1" dirty="0" err="1">
                <a:latin typeface="Book Antiqua" panose="02040602050305030304" pitchFamily="18" charset="0"/>
              </a:rPr>
              <a:t>characteristic</a:t>
            </a:r>
            <a:r>
              <a:rPr lang="hu-HU" i="1" dirty="0">
                <a:latin typeface="Book Antiqua" panose="02040602050305030304" pitchFamily="18" charset="0"/>
              </a:rPr>
              <a:t> </a:t>
            </a:r>
            <a:r>
              <a:rPr lang="hu-HU" i="1" dirty="0" err="1">
                <a:latin typeface="Book Antiqua" panose="02040602050305030304" pitchFamily="18" charset="0"/>
              </a:rPr>
              <a:t>photon</a:t>
            </a:r>
            <a:r>
              <a:rPr lang="hu-HU" i="1" dirty="0">
                <a:latin typeface="Book Antiqua" panose="02040602050305030304" pitchFamily="18" charset="0"/>
              </a:rPr>
              <a:t> </a:t>
            </a:r>
            <a:r>
              <a:rPr lang="hu-HU" i="1" dirty="0" err="1">
                <a:latin typeface="Book Antiqua" panose="02040602050305030304" pitchFamily="18" charset="0"/>
              </a:rPr>
              <a:t>frequency</a:t>
            </a:r>
            <a:endParaRPr lang="en-GB" i="1" dirty="0">
              <a:latin typeface="Book Antiqua" panose="02040602050305030304" pitchFamily="18" charset="0"/>
            </a:endParaRPr>
          </a:p>
        </p:txBody>
      </p:sp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001733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0B55AEC7-007C-7072-2F90-4947B737A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6529" y="162928"/>
            <a:ext cx="8096250" cy="6115050"/>
          </a:xfrm>
          <a:prstGeom prst="rect">
            <a:avLst/>
          </a:prstGeom>
        </p:spPr>
      </p:pic>
      <p:cxnSp>
        <p:nvCxnSpPr>
          <p:cNvPr id="3" name="Egyenes összekötő nyíllal 2"/>
          <p:cNvCxnSpPr/>
          <p:nvPr/>
        </p:nvCxnSpPr>
        <p:spPr>
          <a:xfrm flipV="1">
            <a:off x="1699491" y="162929"/>
            <a:ext cx="0" cy="595154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gyenes összekötő nyíllal 7"/>
          <p:cNvCxnSpPr/>
          <p:nvPr/>
        </p:nvCxnSpPr>
        <p:spPr>
          <a:xfrm flipV="1">
            <a:off x="1699491" y="6114474"/>
            <a:ext cx="9675090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223433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>
            <a:extLst>
              <a:ext uri="{FF2B5EF4-FFF2-40B4-BE49-F238E27FC236}">
                <a16:creationId xmlns:a16="http://schemas.microsoft.com/office/drawing/2014/main" id="{BA61E70B-A76E-116F-BC52-4752A4A7EA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Quiz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4" name="Alcím 3">
            <a:extLst>
              <a:ext uri="{FF2B5EF4-FFF2-40B4-BE49-F238E27FC236}">
                <a16:creationId xmlns:a16="http://schemas.microsoft.com/office/drawing/2014/main" id="{B4D3FA8E-B11B-A87E-AA33-55F1A5C0D5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>
                <a:hlinkClick r:id="rId2"/>
              </a:rPr>
              <a:t>https://quizizz.com/admin/assessment/6807ad97c951d10977d0cbbc?source=lesson_share</a:t>
            </a: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0139A348-A562-24FD-4607-EE0274432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28</a:t>
            </a:fld>
            <a:endParaRPr lang="hu-HU"/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2762CCC9-E247-FE3E-D370-5E3A1A791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rcRect r="46523" b="28809"/>
          <a:stretch/>
        </p:blipFill>
        <p:spPr>
          <a:xfrm>
            <a:off x="6581715" y="221112"/>
            <a:ext cx="4573965" cy="4104000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E99CCFE3-F393-F8E7-1DD2-889065BCDC2A}"/>
              </a:ext>
            </a:extLst>
          </p:cNvPr>
          <p:cNvSpPr txBox="1"/>
          <p:nvPr/>
        </p:nvSpPr>
        <p:spPr>
          <a:xfrm>
            <a:off x="1097280" y="5475205"/>
            <a:ext cx="25412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i="0" dirty="0">
                <a:solidFill>
                  <a:srgbClr val="222222"/>
                </a:solidFill>
                <a:effectLst/>
                <a:latin typeface="Open Sans" panose="020B0606030504020204" pitchFamily="34" charset="0"/>
              </a:rPr>
              <a:t>CODE: 3169 7812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2777781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ím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Statistical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properties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radioactivity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4" name="Szöveg hely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 err="1"/>
              <a:t>Exponential</a:t>
            </a:r>
            <a:r>
              <a:rPr lang="hu-HU" dirty="0"/>
              <a:t> </a:t>
            </a:r>
            <a:r>
              <a:rPr lang="hu-HU" dirty="0" err="1"/>
              <a:t>decay</a:t>
            </a:r>
            <a:r>
              <a:rPr lang="hu-HU" dirty="0"/>
              <a:t> </a:t>
            </a:r>
            <a:r>
              <a:rPr lang="hu-HU" dirty="0" err="1"/>
              <a:t>law</a:t>
            </a:r>
            <a:r>
              <a:rPr lang="hu-HU" dirty="0"/>
              <a:t>, </a:t>
            </a:r>
            <a:r>
              <a:rPr lang="hu-HU" dirty="0" err="1"/>
              <a:t>decay</a:t>
            </a:r>
            <a:r>
              <a:rPr lang="hu-HU" dirty="0"/>
              <a:t> </a:t>
            </a:r>
            <a:r>
              <a:rPr lang="hu-HU" dirty="0" err="1"/>
              <a:t>chains</a:t>
            </a:r>
            <a:r>
              <a:rPr lang="hu-HU" dirty="0"/>
              <a:t>, </a:t>
            </a:r>
            <a:r>
              <a:rPr lang="hu-HU" dirty="0" err="1"/>
              <a:t>radioactive</a:t>
            </a:r>
            <a:r>
              <a:rPr lang="hu-HU" dirty="0"/>
              <a:t> </a:t>
            </a:r>
            <a:r>
              <a:rPr lang="hu-HU" dirty="0" err="1"/>
              <a:t>dating</a:t>
            </a:r>
            <a:endParaRPr lang="en-GB" dirty="0"/>
          </a:p>
        </p:txBody>
      </p: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FC72-EE99-47E2-9D91-3846713F26D3}" type="slidenum">
              <a:rPr lang="hu-HU" smtClean="0"/>
              <a:t>29</a:t>
            </a:fld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40674171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69A7EE8-E203-B2B5-F39B-81F0902F1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Exponential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law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D2B1B1D8-0350-8ABA-0265-03D1F702D2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491" y="5010245"/>
            <a:ext cx="1440000" cy="650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Szövegdoboz 8">
                <a:extLst>
                  <a:ext uri="{FF2B5EF4-FFF2-40B4-BE49-F238E27FC236}">
                    <a16:creationId xmlns:a16="http://schemas.microsoft.com/office/drawing/2014/main" id="{57832AB6-C5EE-373D-8AF6-867D008587D5}"/>
                  </a:ext>
                </a:extLst>
              </p:cNvPr>
              <p:cNvSpPr txBox="1"/>
              <p:nvPr/>
            </p:nvSpPr>
            <p:spPr>
              <a:xfrm>
                <a:off x="2534663" y="4319288"/>
                <a:ext cx="2993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𝑑𝑁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Szövegdoboz 8">
                <a:extLst>
                  <a:ext uri="{FF2B5EF4-FFF2-40B4-BE49-F238E27FC236}">
                    <a16:creationId xmlns:a16="http://schemas.microsoft.com/office/drawing/2014/main" id="{57832AB6-C5EE-373D-8AF6-867D008587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663" y="4319288"/>
                <a:ext cx="299338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zövegdoboz 9">
            <a:extLst>
              <a:ext uri="{FF2B5EF4-FFF2-40B4-BE49-F238E27FC236}">
                <a16:creationId xmlns:a16="http://schemas.microsoft.com/office/drawing/2014/main" id="{6DA08A89-3D9B-8071-7E35-88929C039053}"/>
              </a:ext>
            </a:extLst>
          </p:cNvPr>
          <p:cNvSpPr txBox="1"/>
          <p:nvPr/>
        </p:nvSpPr>
        <p:spPr>
          <a:xfrm>
            <a:off x="399448" y="1951672"/>
            <a:ext cx="106699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is a </a:t>
            </a:r>
            <a:r>
              <a:rPr lang="hu-HU" b="1" dirty="0" err="1">
                <a:latin typeface="Book Antiqua" panose="02040602050305030304" pitchFamily="18" charset="0"/>
              </a:rPr>
              <a:t>spontenaous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process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that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governed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elementary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quantum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mechanical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processes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endParaRPr lang="hu-HU" dirty="0">
              <a:latin typeface="Book Antiqua" panose="02040602050305030304" pitchFamily="18" charset="0"/>
            </a:endParaRPr>
          </a:p>
          <a:p>
            <a:endParaRPr lang="hu-HU" dirty="0">
              <a:latin typeface="Book Antiqua" panose="02040602050305030304" pitchFamily="18" charset="0"/>
            </a:endParaRPr>
          </a:p>
          <a:p>
            <a:r>
              <a:rPr lang="hu-HU" dirty="0" err="1">
                <a:latin typeface="Book Antiqua" panose="02040602050305030304" pitchFamily="18" charset="0"/>
              </a:rPr>
              <a:t>It</a:t>
            </a:r>
            <a:r>
              <a:rPr lang="hu-HU" dirty="0">
                <a:latin typeface="Book Antiqua" panose="02040602050305030304" pitchFamily="18" charset="0"/>
              </a:rPr>
              <a:t> has a </a:t>
            </a:r>
            <a:r>
              <a:rPr lang="hu-HU" b="1" dirty="0" err="1">
                <a:latin typeface="Book Antiqua" panose="02040602050305030304" pitchFamily="18" charset="0"/>
              </a:rPr>
              <a:t>probabilistic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nature</a:t>
            </a:r>
            <a:r>
              <a:rPr lang="hu-HU" dirty="0">
                <a:latin typeface="Book Antiqua" panose="02040602050305030304" pitchFamily="18" charset="0"/>
              </a:rPr>
              <a:t>!</a:t>
            </a:r>
          </a:p>
          <a:p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u="sng" dirty="0" err="1">
                <a:latin typeface="Book Antiqua" panose="02040602050305030304" pitchFamily="18" charset="0"/>
              </a:rPr>
              <a:t>Take</a:t>
            </a:r>
            <a:r>
              <a:rPr lang="hu-HU" u="sng" dirty="0">
                <a:latin typeface="Book Antiqua" panose="02040602050305030304" pitchFamily="18" charset="0"/>
              </a:rPr>
              <a:t> a </a:t>
            </a:r>
            <a:r>
              <a:rPr lang="hu-HU" u="sng" dirty="0" err="1">
                <a:latin typeface="Book Antiqua" panose="02040602050305030304" pitchFamily="18" charset="0"/>
              </a:rPr>
              <a:t>large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number</a:t>
            </a:r>
            <a:r>
              <a:rPr lang="hu-HU" u="sng" dirty="0">
                <a:latin typeface="Book Antiqua" panose="02040602050305030304" pitchFamily="18" charset="0"/>
              </a:rPr>
              <a:t> of </a:t>
            </a:r>
            <a:r>
              <a:rPr lang="hu-HU" u="sng" dirty="0" err="1">
                <a:latin typeface="Book Antiqua" panose="02040602050305030304" pitchFamily="18" charset="0"/>
              </a:rPr>
              <a:t>nuclei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i="1" dirty="0">
                <a:latin typeface="Book Antiqua" panose="02040602050305030304" pitchFamily="18" charset="0"/>
              </a:rPr>
              <a:t>N          </a:t>
            </a:r>
            <a:r>
              <a:rPr lang="hu-HU" b="1" i="1" dirty="0" err="1">
                <a:latin typeface="Book Antiqua" panose="02040602050305030304" pitchFamily="18" charset="0"/>
              </a:rPr>
              <a:t>apply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statistical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principles</a:t>
            </a:r>
            <a:r>
              <a:rPr lang="hu-HU" b="1" i="1" dirty="0"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1A7A56EF-86E3-DCD6-2102-02114E5B68E0}"/>
              </a:ext>
            </a:extLst>
          </p:cNvPr>
          <p:cNvCxnSpPr/>
          <p:nvPr/>
        </p:nvCxnSpPr>
        <p:spPr>
          <a:xfrm>
            <a:off x="4154905" y="3537284"/>
            <a:ext cx="47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290E147-77F0-5E32-B4D7-A2A140BCDE24}"/>
              </a:ext>
            </a:extLst>
          </p:cNvPr>
          <p:cNvSpPr txBox="1"/>
          <p:nvPr/>
        </p:nvSpPr>
        <p:spPr>
          <a:xfrm>
            <a:off x="780103" y="3920310"/>
            <a:ext cx="70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How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number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of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radioactive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nuclei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present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changes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by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time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?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79A41138-4E1B-0A10-9E70-DB39CA224242}"/>
              </a:ext>
            </a:extLst>
          </p:cNvPr>
          <p:cNvSpPr txBox="1"/>
          <p:nvPr/>
        </p:nvSpPr>
        <p:spPr>
          <a:xfrm>
            <a:off x="191076" y="4338362"/>
            <a:ext cx="2427726" cy="312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number</a:t>
            </a:r>
            <a:r>
              <a:rPr lang="hu-HU" sz="1400" dirty="0">
                <a:latin typeface="Book Antiqua" panose="02040602050305030304" pitchFamily="18" charset="0"/>
              </a:rPr>
              <a:t> N(t) </a:t>
            </a:r>
            <a:r>
              <a:rPr lang="hu-HU" sz="1400" dirty="0" err="1">
                <a:latin typeface="Book Antiqua" panose="02040602050305030304" pitchFamily="18" charset="0"/>
              </a:rPr>
              <a:t>decreases</a:t>
            </a:r>
            <a:r>
              <a:rPr lang="hu-HU" sz="1400" dirty="0">
                <a:latin typeface="Book Antiqua" panose="02040602050305030304" pitchFamily="18" charset="0"/>
              </a:rPr>
              <a:t>:</a:t>
            </a:r>
          </a:p>
        </p:txBody>
      </p: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097719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BC691-9E56-E008-1317-6F2E0ADC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DA61A41-3B9C-6B45-D44B-40BDBE7A6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Exponential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law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C25C4A2-CB02-CFA1-8426-9058D078B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977" y="2619458"/>
            <a:ext cx="3302947" cy="3564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0975865E-1AAD-001C-2965-BEB8666AF1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491" y="5010245"/>
            <a:ext cx="1440000" cy="650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Szövegdoboz 8">
                <a:extLst>
                  <a:ext uri="{FF2B5EF4-FFF2-40B4-BE49-F238E27FC236}">
                    <a16:creationId xmlns:a16="http://schemas.microsoft.com/office/drawing/2014/main" id="{08AEA5F6-6496-F6DB-3CC8-673ADACB75E8}"/>
                  </a:ext>
                </a:extLst>
              </p:cNvPr>
              <p:cNvSpPr txBox="1"/>
              <p:nvPr/>
            </p:nvSpPr>
            <p:spPr>
              <a:xfrm>
                <a:off x="2534663" y="4319288"/>
                <a:ext cx="2993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𝑑𝑁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Szövegdoboz 8">
                <a:extLst>
                  <a:ext uri="{FF2B5EF4-FFF2-40B4-BE49-F238E27FC236}">
                    <a16:creationId xmlns:a16="http://schemas.microsoft.com/office/drawing/2014/main" id="{08AEA5F6-6496-F6DB-3CC8-673ADACB7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663" y="4319288"/>
                <a:ext cx="29933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zövegdoboz 9">
            <a:extLst>
              <a:ext uri="{FF2B5EF4-FFF2-40B4-BE49-F238E27FC236}">
                <a16:creationId xmlns:a16="http://schemas.microsoft.com/office/drawing/2014/main" id="{03550A2E-848B-1678-6CE3-F43BC7780359}"/>
              </a:ext>
            </a:extLst>
          </p:cNvPr>
          <p:cNvSpPr txBox="1"/>
          <p:nvPr/>
        </p:nvSpPr>
        <p:spPr>
          <a:xfrm>
            <a:off x="399449" y="1951672"/>
            <a:ext cx="107021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is a </a:t>
            </a:r>
            <a:r>
              <a:rPr lang="hu-HU" b="1" dirty="0" err="1">
                <a:latin typeface="Book Antiqua" panose="02040602050305030304" pitchFamily="18" charset="0"/>
              </a:rPr>
              <a:t>spontenaous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process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that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governed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elementary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quantum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mechanical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processes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endParaRPr lang="hu-HU" dirty="0">
              <a:latin typeface="Book Antiqua" panose="02040602050305030304" pitchFamily="18" charset="0"/>
            </a:endParaRPr>
          </a:p>
          <a:p>
            <a:endParaRPr lang="hu-HU" dirty="0">
              <a:latin typeface="Book Antiqua" panose="02040602050305030304" pitchFamily="18" charset="0"/>
            </a:endParaRPr>
          </a:p>
          <a:p>
            <a:r>
              <a:rPr lang="hu-HU" dirty="0" err="1">
                <a:latin typeface="Book Antiqua" panose="02040602050305030304" pitchFamily="18" charset="0"/>
              </a:rPr>
              <a:t>It</a:t>
            </a:r>
            <a:r>
              <a:rPr lang="hu-HU" dirty="0">
                <a:latin typeface="Book Antiqua" panose="02040602050305030304" pitchFamily="18" charset="0"/>
              </a:rPr>
              <a:t> has a </a:t>
            </a:r>
            <a:r>
              <a:rPr lang="hu-HU" b="1" dirty="0" err="1">
                <a:latin typeface="Book Antiqua" panose="02040602050305030304" pitchFamily="18" charset="0"/>
              </a:rPr>
              <a:t>probabilistic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nature</a:t>
            </a:r>
            <a:r>
              <a:rPr lang="hu-HU" dirty="0">
                <a:latin typeface="Book Antiqua" panose="02040602050305030304" pitchFamily="18" charset="0"/>
              </a:rPr>
              <a:t>!</a:t>
            </a:r>
          </a:p>
          <a:p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u="sng" dirty="0" err="1">
                <a:latin typeface="Book Antiqua" panose="02040602050305030304" pitchFamily="18" charset="0"/>
              </a:rPr>
              <a:t>Take</a:t>
            </a:r>
            <a:r>
              <a:rPr lang="hu-HU" u="sng" dirty="0">
                <a:latin typeface="Book Antiqua" panose="02040602050305030304" pitchFamily="18" charset="0"/>
              </a:rPr>
              <a:t> a </a:t>
            </a:r>
            <a:r>
              <a:rPr lang="hu-HU" u="sng" dirty="0" err="1">
                <a:latin typeface="Book Antiqua" panose="02040602050305030304" pitchFamily="18" charset="0"/>
              </a:rPr>
              <a:t>large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number</a:t>
            </a:r>
            <a:r>
              <a:rPr lang="hu-HU" u="sng" dirty="0">
                <a:latin typeface="Book Antiqua" panose="02040602050305030304" pitchFamily="18" charset="0"/>
              </a:rPr>
              <a:t> of </a:t>
            </a:r>
            <a:r>
              <a:rPr lang="hu-HU" u="sng" dirty="0" err="1">
                <a:latin typeface="Book Antiqua" panose="02040602050305030304" pitchFamily="18" charset="0"/>
              </a:rPr>
              <a:t>nuclei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i="1" dirty="0">
                <a:latin typeface="Book Antiqua" panose="02040602050305030304" pitchFamily="18" charset="0"/>
              </a:rPr>
              <a:t>N          </a:t>
            </a:r>
            <a:r>
              <a:rPr lang="hu-HU" b="1" i="1" dirty="0" err="1">
                <a:latin typeface="Book Antiqua" panose="02040602050305030304" pitchFamily="18" charset="0"/>
              </a:rPr>
              <a:t>apply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statistical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principles</a:t>
            </a:r>
            <a:r>
              <a:rPr lang="hu-HU" b="1" i="1" dirty="0"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7AF6CD95-3DE1-95E3-81DE-E0B5FD5B5582}"/>
              </a:ext>
            </a:extLst>
          </p:cNvPr>
          <p:cNvCxnSpPr/>
          <p:nvPr/>
        </p:nvCxnSpPr>
        <p:spPr>
          <a:xfrm>
            <a:off x="4154905" y="3537284"/>
            <a:ext cx="47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F68442D-B056-D9BD-A8A8-CA4D8B689119}"/>
              </a:ext>
            </a:extLst>
          </p:cNvPr>
          <p:cNvSpPr txBox="1"/>
          <p:nvPr/>
        </p:nvSpPr>
        <p:spPr>
          <a:xfrm>
            <a:off x="780103" y="3920310"/>
            <a:ext cx="70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How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number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of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radioactive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nuclei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present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changes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by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time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?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8F133A0A-5ABF-0F80-DE0A-AD7A4AC28C18}"/>
              </a:ext>
            </a:extLst>
          </p:cNvPr>
          <p:cNvSpPr txBox="1"/>
          <p:nvPr/>
        </p:nvSpPr>
        <p:spPr>
          <a:xfrm>
            <a:off x="191076" y="4338362"/>
            <a:ext cx="2427726" cy="312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number</a:t>
            </a:r>
            <a:r>
              <a:rPr lang="hu-HU" sz="1400" dirty="0">
                <a:latin typeface="Book Antiqua" panose="02040602050305030304" pitchFamily="18" charset="0"/>
              </a:rPr>
              <a:t> N(t) </a:t>
            </a:r>
            <a:r>
              <a:rPr lang="hu-HU" sz="1400" dirty="0" err="1">
                <a:latin typeface="Book Antiqua" panose="02040602050305030304" pitchFamily="18" charset="0"/>
              </a:rPr>
              <a:t>decreases</a:t>
            </a:r>
            <a:r>
              <a:rPr lang="hu-HU" sz="1400" dirty="0">
                <a:latin typeface="Book Antiqua" panose="02040602050305030304" pitchFamily="18" charset="0"/>
              </a:rPr>
              <a:t>: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D9BA58C3-5349-E7FA-04BD-34E15D8984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234" y="4927055"/>
            <a:ext cx="1872000" cy="1112800"/>
          </a:xfrm>
          <a:prstGeom prst="rect">
            <a:avLst/>
          </a:prstGeom>
        </p:spPr>
      </p:pic>
      <p:sp>
        <p:nvSpPr>
          <p:cNvPr id="19" name="Szövegdoboz 18">
            <a:extLst>
              <a:ext uri="{FF2B5EF4-FFF2-40B4-BE49-F238E27FC236}">
                <a16:creationId xmlns:a16="http://schemas.microsoft.com/office/drawing/2014/main" id="{08603975-CE36-9ED4-AB34-E3C050C9AD11}"/>
              </a:ext>
            </a:extLst>
          </p:cNvPr>
          <p:cNvSpPr txBox="1"/>
          <p:nvPr/>
        </p:nvSpPr>
        <p:spPr>
          <a:xfrm>
            <a:off x="1695234" y="5664857"/>
            <a:ext cx="2259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 err="1">
                <a:latin typeface="Book Antiqua" panose="02040602050305030304" pitchFamily="18" charset="0"/>
              </a:rPr>
              <a:t>Solve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differential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equation</a:t>
            </a:r>
            <a:r>
              <a:rPr lang="hu-HU" sz="1200" dirty="0"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ECC6567E-D79B-16A3-4063-A366F3163791}"/>
              </a:ext>
            </a:extLst>
          </p:cNvPr>
          <p:cNvCxnSpPr/>
          <p:nvPr/>
        </p:nvCxnSpPr>
        <p:spPr>
          <a:xfrm>
            <a:off x="6400122" y="5415454"/>
            <a:ext cx="47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Kép 21">
            <a:extLst>
              <a:ext uri="{FF2B5EF4-FFF2-40B4-BE49-F238E27FC236}">
                <a16:creationId xmlns:a16="http://schemas.microsoft.com/office/drawing/2014/main" id="{98B9F2D2-CD52-9C0B-5447-78BDB36562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261" y="5015668"/>
            <a:ext cx="1368000" cy="6392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9F5111C5-2C13-83D5-23A1-0D1A9BC61945}"/>
              </a:ext>
            </a:extLst>
          </p:cNvPr>
          <p:cNvCxnSpPr/>
          <p:nvPr/>
        </p:nvCxnSpPr>
        <p:spPr>
          <a:xfrm>
            <a:off x="8461356" y="5415454"/>
            <a:ext cx="47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08977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6B01D-BF31-CF37-B02C-9F9748E5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4239B7FB-BF77-EEE1-F8E1-9E0EF44AC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Exponential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law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4D15EA08-B003-3447-EED9-B1A21BDDC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977" y="2619458"/>
            <a:ext cx="3302947" cy="3564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C8D21C7D-B601-904A-C574-67904C5A17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8491" y="5010245"/>
            <a:ext cx="1440000" cy="6501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Szövegdoboz 8">
                <a:extLst>
                  <a:ext uri="{FF2B5EF4-FFF2-40B4-BE49-F238E27FC236}">
                    <a16:creationId xmlns:a16="http://schemas.microsoft.com/office/drawing/2014/main" id="{82EBDCB2-9867-1B5E-9062-18A14E3A7D80}"/>
                  </a:ext>
                </a:extLst>
              </p:cNvPr>
              <p:cNvSpPr txBox="1"/>
              <p:nvPr/>
            </p:nvSpPr>
            <p:spPr>
              <a:xfrm>
                <a:off x="2534663" y="4319288"/>
                <a:ext cx="2993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𝑑𝑁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hu-HU" b="0" i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Szövegdoboz 8">
                <a:extLst>
                  <a:ext uri="{FF2B5EF4-FFF2-40B4-BE49-F238E27FC236}">
                    <a16:creationId xmlns:a16="http://schemas.microsoft.com/office/drawing/2014/main" id="{82EBDCB2-9867-1B5E-9062-18A14E3A7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4663" y="4319288"/>
                <a:ext cx="299338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zövegdoboz 9">
            <a:extLst>
              <a:ext uri="{FF2B5EF4-FFF2-40B4-BE49-F238E27FC236}">
                <a16:creationId xmlns:a16="http://schemas.microsoft.com/office/drawing/2014/main" id="{99F07A4D-AD89-BD6F-687C-DBEF74C6A7C6}"/>
              </a:ext>
            </a:extLst>
          </p:cNvPr>
          <p:cNvSpPr txBox="1"/>
          <p:nvPr/>
        </p:nvSpPr>
        <p:spPr>
          <a:xfrm>
            <a:off x="399449" y="1951672"/>
            <a:ext cx="109532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is a </a:t>
            </a:r>
            <a:r>
              <a:rPr lang="hu-HU" b="1" dirty="0" err="1">
                <a:latin typeface="Book Antiqua" panose="02040602050305030304" pitchFamily="18" charset="0"/>
              </a:rPr>
              <a:t>spontenaous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process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that</a:t>
            </a:r>
            <a:r>
              <a:rPr lang="hu-HU" dirty="0">
                <a:latin typeface="Book Antiqua" panose="02040602050305030304" pitchFamily="18" charset="0"/>
              </a:rPr>
              <a:t> is </a:t>
            </a:r>
            <a:r>
              <a:rPr lang="hu-HU" dirty="0" err="1">
                <a:latin typeface="Book Antiqua" panose="02040602050305030304" pitchFamily="18" charset="0"/>
              </a:rPr>
              <a:t>governed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by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elementary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quantum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mechanical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processes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nucleus</a:t>
            </a:r>
            <a:endParaRPr lang="hu-HU" dirty="0">
              <a:latin typeface="Book Antiqua" panose="02040602050305030304" pitchFamily="18" charset="0"/>
            </a:endParaRPr>
          </a:p>
          <a:p>
            <a:endParaRPr lang="hu-HU" dirty="0">
              <a:latin typeface="Book Antiqua" panose="02040602050305030304" pitchFamily="18" charset="0"/>
            </a:endParaRPr>
          </a:p>
          <a:p>
            <a:r>
              <a:rPr lang="hu-HU" dirty="0" err="1">
                <a:latin typeface="Book Antiqua" panose="02040602050305030304" pitchFamily="18" charset="0"/>
              </a:rPr>
              <a:t>It</a:t>
            </a:r>
            <a:r>
              <a:rPr lang="hu-HU" dirty="0">
                <a:latin typeface="Book Antiqua" panose="02040602050305030304" pitchFamily="18" charset="0"/>
              </a:rPr>
              <a:t> has a </a:t>
            </a:r>
            <a:r>
              <a:rPr lang="hu-HU" b="1" dirty="0" err="1">
                <a:latin typeface="Book Antiqua" panose="02040602050305030304" pitchFamily="18" charset="0"/>
              </a:rPr>
              <a:t>probabilistic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nature</a:t>
            </a:r>
            <a:r>
              <a:rPr lang="hu-HU" dirty="0">
                <a:latin typeface="Book Antiqua" panose="02040602050305030304" pitchFamily="18" charset="0"/>
              </a:rPr>
              <a:t>!</a:t>
            </a:r>
          </a:p>
          <a:p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u="sng" dirty="0" err="1">
                <a:latin typeface="Book Antiqua" panose="02040602050305030304" pitchFamily="18" charset="0"/>
              </a:rPr>
              <a:t>Take</a:t>
            </a:r>
            <a:r>
              <a:rPr lang="hu-HU" u="sng" dirty="0">
                <a:latin typeface="Book Antiqua" panose="02040602050305030304" pitchFamily="18" charset="0"/>
              </a:rPr>
              <a:t> a </a:t>
            </a:r>
            <a:r>
              <a:rPr lang="hu-HU" u="sng" dirty="0" err="1">
                <a:latin typeface="Book Antiqua" panose="02040602050305030304" pitchFamily="18" charset="0"/>
              </a:rPr>
              <a:t>large</a:t>
            </a:r>
            <a:r>
              <a:rPr lang="hu-HU" u="sng" dirty="0">
                <a:latin typeface="Book Antiqua" panose="02040602050305030304" pitchFamily="18" charset="0"/>
              </a:rPr>
              <a:t> </a:t>
            </a:r>
            <a:r>
              <a:rPr lang="hu-HU" u="sng" dirty="0" err="1">
                <a:latin typeface="Book Antiqua" panose="02040602050305030304" pitchFamily="18" charset="0"/>
              </a:rPr>
              <a:t>number</a:t>
            </a:r>
            <a:r>
              <a:rPr lang="hu-HU" u="sng" dirty="0">
                <a:latin typeface="Book Antiqua" panose="02040602050305030304" pitchFamily="18" charset="0"/>
              </a:rPr>
              <a:t> of </a:t>
            </a:r>
            <a:r>
              <a:rPr lang="hu-HU" u="sng" dirty="0" err="1">
                <a:latin typeface="Book Antiqua" panose="02040602050305030304" pitchFamily="18" charset="0"/>
              </a:rPr>
              <a:t>nuclei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="1" i="1" dirty="0">
                <a:latin typeface="Book Antiqua" panose="02040602050305030304" pitchFamily="18" charset="0"/>
              </a:rPr>
              <a:t>N          </a:t>
            </a:r>
            <a:r>
              <a:rPr lang="hu-HU" b="1" i="1" dirty="0" err="1">
                <a:latin typeface="Book Antiqua" panose="02040602050305030304" pitchFamily="18" charset="0"/>
              </a:rPr>
              <a:t>apply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statistical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principles</a:t>
            </a:r>
            <a:r>
              <a:rPr lang="hu-HU" b="1" i="1" dirty="0"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518AA547-3830-B83A-F8E6-C2D2ECEF728A}"/>
              </a:ext>
            </a:extLst>
          </p:cNvPr>
          <p:cNvCxnSpPr/>
          <p:nvPr/>
        </p:nvCxnSpPr>
        <p:spPr>
          <a:xfrm>
            <a:off x="4154905" y="3537284"/>
            <a:ext cx="47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895071C-B9C1-456D-7C89-B17801A50B47}"/>
              </a:ext>
            </a:extLst>
          </p:cNvPr>
          <p:cNvSpPr txBox="1"/>
          <p:nvPr/>
        </p:nvSpPr>
        <p:spPr>
          <a:xfrm>
            <a:off x="780103" y="3920310"/>
            <a:ext cx="70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How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number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of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radioactive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nuclei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present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changes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by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time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?</a:t>
            </a:r>
          </a:p>
        </p:txBody>
      </p:sp>
      <p:sp>
        <p:nvSpPr>
          <p:cNvPr id="16" name="Szövegdoboz 15">
            <a:extLst>
              <a:ext uri="{FF2B5EF4-FFF2-40B4-BE49-F238E27FC236}">
                <a16:creationId xmlns:a16="http://schemas.microsoft.com/office/drawing/2014/main" id="{243F55BD-1CBB-955A-2833-87C74218B7AA}"/>
              </a:ext>
            </a:extLst>
          </p:cNvPr>
          <p:cNvSpPr txBox="1"/>
          <p:nvPr/>
        </p:nvSpPr>
        <p:spPr>
          <a:xfrm>
            <a:off x="191076" y="4338362"/>
            <a:ext cx="2427726" cy="312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the</a:t>
            </a:r>
            <a:r>
              <a:rPr lang="hu-HU" sz="1400" dirty="0">
                <a:latin typeface="Book Antiqua" panose="02040602050305030304" pitchFamily="18" charset="0"/>
              </a:rPr>
              <a:t> </a:t>
            </a:r>
            <a:r>
              <a:rPr lang="hu-HU" sz="1400" dirty="0" err="1">
                <a:latin typeface="Book Antiqua" panose="02040602050305030304" pitchFamily="18" charset="0"/>
              </a:rPr>
              <a:t>number</a:t>
            </a:r>
            <a:r>
              <a:rPr lang="hu-HU" sz="1400" dirty="0">
                <a:latin typeface="Book Antiqua" panose="02040602050305030304" pitchFamily="18" charset="0"/>
              </a:rPr>
              <a:t> N(t) </a:t>
            </a:r>
            <a:r>
              <a:rPr lang="hu-HU" sz="1400" dirty="0" err="1">
                <a:latin typeface="Book Antiqua" panose="02040602050305030304" pitchFamily="18" charset="0"/>
              </a:rPr>
              <a:t>decreases</a:t>
            </a:r>
            <a:r>
              <a:rPr lang="hu-HU" sz="1400" dirty="0">
                <a:latin typeface="Book Antiqua" panose="02040602050305030304" pitchFamily="18" charset="0"/>
              </a:rPr>
              <a:t>:</a:t>
            </a: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D64748F5-DB27-51E4-9AB1-F3EDC7D5B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2234" y="4927055"/>
            <a:ext cx="1872000" cy="1112800"/>
          </a:xfrm>
          <a:prstGeom prst="rect">
            <a:avLst/>
          </a:prstGeom>
        </p:spPr>
      </p:pic>
      <p:sp>
        <p:nvSpPr>
          <p:cNvPr id="19" name="Szövegdoboz 18">
            <a:extLst>
              <a:ext uri="{FF2B5EF4-FFF2-40B4-BE49-F238E27FC236}">
                <a16:creationId xmlns:a16="http://schemas.microsoft.com/office/drawing/2014/main" id="{2E7522C8-64DA-4B6B-DA45-382483C321BA}"/>
              </a:ext>
            </a:extLst>
          </p:cNvPr>
          <p:cNvSpPr txBox="1"/>
          <p:nvPr/>
        </p:nvSpPr>
        <p:spPr>
          <a:xfrm>
            <a:off x="1695234" y="5664857"/>
            <a:ext cx="225964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 err="1">
                <a:latin typeface="Book Antiqua" panose="02040602050305030304" pitchFamily="18" charset="0"/>
              </a:rPr>
              <a:t>Solve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the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differential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equation</a:t>
            </a:r>
            <a:r>
              <a:rPr lang="hu-HU" sz="1200" dirty="0">
                <a:latin typeface="Book Antiqua" panose="02040602050305030304" pitchFamily="18" charset="0"/>
              </a:rPr>
              <a:t>!</a:t>
            </a:r>
          </a:p>
        </p:txBody>
      </p:sp>
      <p:cxnSp>
        <p:nvCxnSpPr>
          <p:cNvPr id="20" name="Egyenes összekötő nyíllal 19">
            <a:extLst>
              <a:ext uri="{FF2B5EF4-FFF2-40B4-BE49-F238E27FC236}">
                <a16:creationId xmlns:a16="http://schemas.microsoft.com/office/drawing/2014/main" id="{91F582B8-9CE6-4C4D-7EB4-134F9C24FDB8}"/>
              </a:ext>
            </a:extLst>
          </p:cNvPr>
          <p:cNvCxnSpPr/>
          <p:nvPr/>
        </p:nvCxnSpPr>
        <p:spPr>
          <a:xfrm>
            <a:off x="6400122" y="5415454"/>
            <a:ext cx="47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Kép 21">
            <a:extLst>
              <a:ext uri="{FF2B5EF4-FFF2-40B4-BE49-F238E27FC236}">
                <a16:creationId xmlns:a16="http://schemas.microsoft.com/office/drawing/2014/main" id="{C0BADBC1-D884-9988-759F-2F192B578B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79261" y="5015668"/>
            <a:ext cx="1368000" cy="6392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cxnSp>
        <p:nvCxnSpPr>
          <p:cNvPr id="23" name="Egyenes összekötő nyíllal 22">
            <a:extLst>
              <a:ext uri="{FF2B5EF4-FFF2-40B4-BE49-F238E27FC236}">
                <a16:creationId xmlns:a16="http://schemas.microsoft.com/office/drawing/2014/main" id="{405B802B-2C3D-CE5C-B486-F1A596DC421F}"/>
              </a:ext>
            </a:extLst>
          </p:cNvPr>
          <p:cNvCxnSpPr/>
          <p:nvPr/>
        </p:nvCxnSpPr>
        <p:spPr>
          <a:xfrm>
            <a:off x="8461356" y="5415454"/>
            <a:ext cx="47324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C3644173-557C-C2B0-7EBA-E6A7829E86D9}"/>
                  </a:ext>
                </a:extLst>
              </p:cNvPr>
              <p:cNvSpPr txBox="1"/>
              <p:nvPr/>
            </p:nvSpPr>
            <p:spPr>
              <a:xfrm>
                <a:off x="1540552" y="5150629"/>
                <a:ext cx="5779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C3644173-557C-C2B0-7EBA-E6A7829E8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552" y="5150629"/>
                <a:ext cx="57793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1">
            <a:extLst>
              <a:ext uri="{FF2B5EF4-FFF2-40B4-BE49-F238E27FC236}">
                <a16:creationId xmlns:a16="http://schemas.microsoft.com/office/drawing/2014/main" id="{3A0DC5B9-D754-C36E-0F00-C6BAB09BE000}"/>
              </a:ext>
            </a:extLst>
          </p:cNvPr>
          <p:cNvSpPr txBox="1"/>
          <p:nvPr/>
        </p:nvSpPr>
        <p:spPr>
          <a:xfrm>
            <a:off x="15802" y="5010245"/>
            <a:ext cx="15339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Number</a:t>
            </a:r>
            <a:r>
              <a:rPr lang="hu-HU" sz="1400" dirty="0"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latin typeface="Book Antiqua" panose="02040602050305030304" pitchFamily="18" charset="0"/>
              </a:rPr>
              <a:t>decays</a:t>
            </a:r>
            <a:r>
              <a:rPr lang="hu-HU" sz="1400" dirty="0">
                <a:latin typeface="Book Antiqua" panose="02040602050305030304" pitchFamily="18" charset="0"/>
              </a:rPr>
              <a:t> per unit </a:t>
            </a:r>
            <a:r>
              <a:rPr lang="hu-HU" sz="1400" dirty="0" err="1">
                <a:latin typeface="Book Antiqua" panose="02040602050305030304" pitchFamily="18" charset="0"/>
              </a:rPr>
              <a:t>time</a:t>
            </a:r>
            <a:r>
              <a:rPr lang="hu-HU" sz="1400" dirty="0">
                <a:latin typeface="Book Antiqua" panose="02040602050305030304" pitchFamily="18" charset="0"/>
              </a:rPr>
              <a:t>: </a:t>
            </a:r>
            <a:r>
              <a:rPr lang="hu-HU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activity</a:t>
            </a:r>
            <a:endParaRPr lang="hu-HU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13ED6CE2-3757-73CF-702C-C21E11863D81}"/>
              </a:ext>
            </a:extLst>
          </p:cNvPr>
          <p:cNvCxnSpPr>
            <a:cxnSpLocks/>
          </p:cNvCxnSpPr>
          <p:nvPr/>
        </p:nvCxnSpPr>
        <p:spPr>
          <a:xfrm flipV="1">
            <a:off x="1221992" y="5483455"/>
            <a:ext cx="387867" cy="123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949315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113F2-B2BB-9281-20FA-B282F647A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1D5243E-9805-58FF-E4EC-4E237EF76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Exponential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law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0E7FD43E-9EA6-E67D-2106-69D68B728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7977" y="2619458"/>
            <a:ext cx="3302947" cy="3564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9E7B24FE-EAE6-0B4C-1153-9C84586F02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6373" y="2778900"/>
            <a:ext cx="1440000" cy="650100"/>
          </a:xfrm>
          <a:prstGeom prst="rect">
            <a:avLst/>
          </a:prstGeom>
        </p:spPr>
      </p:pic>
      <p:sp>
        <p:nvSpPr>
          <p:cNvPr id="14" name="Szövegdoboz 13">
            <a:extLst>
              <a:ext uri="{FF2B5EF4-FFF2-40B4-BE49-F238E27FC236}">
                <a16:creationId xmlns:a16="http://schemas.microsoft.com/office/drawing/2014/main" id="{86B23A67-23EA-C211-453E-8D7ACF45392E}"/>
              </a:ext>
            </a:extLst>
          </p:cNvPr>
          <p:cNvSpPr txBox="1"/>
          <p:nvPr/>
        </p:nvSpPr>
        <p:spPr>
          <a:xfrm>
            <a:off x="103962" y="2005282"/>
            <a:ext cx="705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How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number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of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radioactive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nuclei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i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present</a:t>
            </a:r>
            <a:r>
              <a:rPr lang="hu-HU" b="1" i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changes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by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time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?</a:t>
            </a:r>
          </a:p>
        </p:txBody>
      </p:sp>
      <p:pic>
        <p:nvPicPr>
          <p:cNvPr id="22" name="Kép 21">
            <a:extLst>
              <a:ext uri="{FF2B5EF4-FFF2-40B4-BE49-F238E27FC236}">
                <a16:creationId xmlns:a16="http://schemas.microsoft.com/office/drawing/2014/main" id="{46FDD4AC-DA79-385C-159F-91B6A79F8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2000" y="2828604"/>
            <a:ext cx="1368000" cy="639255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6F614226-7DBF-E0D3-B6DF-7F8F3A94A11A}"/>
                  </a:ext>
                </a:extLst>
              </p:cNvPr>
              <p:cNvSpPr txBox="1"/>
              <p:nvPr/>
            </p:nvSpPr>
            <p:spPr>
              <a:xfrm>
                <a:off x="1978434" y="2919284"/>
                <a:ext cx="5779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u-HU" dirty="0"/>
              </a:p>
            </p:txBody>
          </p:sp>
        </mc:Choice>
        <mc:Fallback xmlns="">
          <p:sp>
            <p:nvSpPr>
              <p:cNvPr id="25" name="Szövegdoboz 24">
                <a:extLst>
                  <a:ext uri="{FF2B5EF4-FFF2-40B4-BE49-F238E27FC236}">
                    <a16:creationId xmlns:a16="http://schemas.microsoft.com/office/drawing/2014/main" id="{6F614226-7DBF-E0D3-B6DF-7F8F3A94A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8434" y="2919284"/>
                <a:ext cx="57793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Szövegdoboz 1">
            <a:extLst>
              <a:ext uri="{FF2B5EF4-FFF2-40B4-BE49-F238E27FC236}">
                <a16:creationId xmlns:a16="http://schemas.microsoft.com/office/drawing/2014/main" id="{CF954217-006E-314A-4D59-F5AB35AACC7C}"/>
              </a:ext>
            </a:extLst>
          </p:cNvPr>
          <p:cNvSpPr txBox="1"/>
          <p:nvPr/>
        </p:nvSpPr>
        <p:spPr>
          <a:xfrm>
            <a:off x="453684" y="2778900"/>
            <a:ext cx="153392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400" dirty="0" err="1">
                <a:latin typeface="Book Antiqua" panose="02040602050305030304" pitchFamily="18" charset="0"/>
              </a:rPr>
              <a:t>Number</a:t>
            </a:r>
            <a:r>
              <a:rPr lang="hu-HU" sz="1400" dirty="0">
                <a:latin typeface="Book Antiqua" panose="02040602050305030304" pitchFamily="18" charset="0"/>
              </a:rPr>
              <a:t> of </a:t>
            </a:r>
            <a:r>
              <a:rPr lang="hu-HU" sz="1400" dirty="0" err="1">
                <a:latin typeface="Book Antiqua" panose="02040602050305030304" pitchFamily="18" charset="0"/>
              </a:rPr>
              <a:t>decays</a:t>
            </a:r>
            <a:r>
              <a:rPr lang="hu-HU" sz="1400" dirty="0">
                <a:latin typeface="Book Antiqua" panose="02040602050305030304" pitchFamily="18" charset="0"/>
              </a:rPr>
              <a:t> per unit </a:t>
            </a:r>
            <a:r>
              <a:rPr lang="hu-HU" sz="1400" dirty="0" err="1">
                <a:latin typeface="Book Antiqua" panose="02040602050305030304" pitchFamily="18" charset="0"/>
              </a:rPr>
              <a:t>time</a:t>
            </a:r>
            <a:r>
              <a:rPr lang="hu-HU" sz="1400" dirty="0">
                <a:latin typeface="Book Antiqua" panose="02040602050305030304" pitchFamily="18" charset="0"/>
              </a:rPr>
              <a:t>: </a:t>
            </a:r>
            <a:r>
              <a:rPr lang="hu-HU" sz="1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activity</a:t>
            </a:r>
            <a:endParaRPr lang="hu-HU" sz="14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1DA14C98-B5FB-C611-2E59-698AAF77CF83}"/>
              </a:ext>
            </a:extLst>
          </p:cNvPr>
          <p:cNvCxnSpPr>
            <a:cxnSpLocks/>
          </p:cNvCxnSpPr>
          <p:nvPr/>
        </p:nvCxnSpPr>
        <p:spPr>
          <a:xfrm flipV="1">
            <a:off x="1659874" y="3252110"/>
            <a:ext cx="387867" cy="1230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2EB8E639-9815-00A7-9BF7-F0D8C8144556}"/>
              </a:ext>
            </a:extLst>
          </p:cNvPr>
          <p:cNvSpPr txBox="1"/>
          <p:nvPr/>
        </p:nvSpPr>
        <p:spPr>
          <a:xfrm>
            <a:off x="2556372" y="3833286"/>
            <a:ext cx="30266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b="1" dirty="0" err="1">
                <a:latin typeface="Book Antiqua" panose="02040602050305030304" pitchFamily="18" charset="0"/>
              </a:rPr>
              <a:t>Decay</a:t>
            </a:r>
            <a:r>
              <a:rPr lang="hu-HU" sz="1200" b="1" dirty="0">
                <a:latin typeface="Book Antiqua" panose="02040602050305030304" pitchFamily="18" charset="0"/>
              </a:rPr>
              <a:t> </a:t>
            </a:r>
            <a:r>
              <a:rPr lang="hu-HU" sz="1200" b="1" dirty="0" err="1">
                <a:latin typeface="Book Antiqua" panose="02040602050305030304" pitchFamily="18" charset="0"/>
              </a:rPr>
              <a:t>probability</a:t>
            </a:r>
            <a:r>
              <a:rPr lang="hu-HU" sz="1200" b="1" dirty="0">
                <a:latin typeface="Book Antiqua" panose="02040602050305030304" pitchFamily="18" charset="0"/>
              </a:rPr>
              <a:t> of a </a:t>
            </a:r>
            <a:r>
              <a:rPr lang="hu-HU" sz="1200" b="1" dirty="0" err="1">
                <a:latin typeface="Book Antiqua" panose="02040602050305030304" pitchFamily="18" charset="0"/>
              </a:rPr>
              <a:t>nucleus</a:t>
            </a:r>
            <a:r>
              <a:rPr lang="hu-HU" sz="1200" b="1" dirty="0">
                <a:latin typeface="Book Antiqua" panose="02040602050305030304" pitchFamily="18" charset="0"/>
              </a:rPr>
              <a:t> per unit </a:t>
            </a:r>
            <a:r>
              <a:rPr lang="hu-HU" sz="1200" b="1" dirty="0" err="1">
                <a:latin typeface="Book Antiqua" panose="02040602050305030304" pitchFamily="18" charset="0"/>
              </a:rPr>
              <a:t>time</a:t>
            </a:r>
            <a:r>
              <a:rPr lang="hu-HU" sz="1200" b="1" dirty="0">
                <a:latin typeface="Book Antiqua" panose="02040602050305030304" pitchFamily="18" charset="0"/>
              </a:rPr>
              <a:t> </a:t>
            </a:r>
            <a:r>
              <a:rPr lang="hu-HU" sz="1200" dirty="0">
                <a:latin typeface="Book Antiqua" panose="02040602050305030304" pitchFamily="18" charset="0"/>
              </a:rPr>
              <a:t>– </a:t>
            </a:r>
            <a:r>
              <a:rPr lang="hu-HU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decay</a:t>
            </a:r>
            <a:r>
              <a:rPr lang="hu-HU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constant </a:t>
            </a:r>
            <a:r>
              <a:rPr lang="hu-HU" sz="1200" dirty="0">
                <a:latin typeface="Book Antiqua" panose="02040602050305030304" pitchFamily="18" charset="0"/>
              </a:rPr>
              <a:t>(</a:t>
            </a:r>
            <a:r>
              <a:rPr lang="hu-HU" sz="1200" dirty="0" err="1">
                <a:latin typeface="Book Antiqua" panose="02040602050305030304" pitchFamily="18" charset="0"/>
              </a:rPr>
              <a:t>although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it</a:t>
            </a:r>
            <a:r>
              <a:rPr lang="hu-HU" sz="1200" dirty="0">
                <a:latin typeface="Book Antiqua" panose="02040602050305030304" pitchFamily="18" charset="0"/>
              </a:rPr>
              <a:t> is </a:t>
            </a:r>
            <a:r>
              <a:rPr lang="hu-HU" sz="1200" dirty="0" err="1">
                <a:latin typeface="Book Antiqua" panose="02040602050305030304" pitchFamily="18" charset="0"/>
              </a:rPr>
              <a:t>not</a:t>
            </a:r>
            <a:r>
              <a:rPr lang="hu-HU" sz="1200" dirty="0">
                <a:latin typeface="Book Antiqua" panose="02040602050305030304" pitchFamily="18" charset="0"/>
              </a:rPr>
              <a:t> a </a:t>
            </a:r>
            <a:r>
              <a:rPr lang="hu-HU" sz="1200" dirty="0" err="1">
                <a:latin typeface="Book Antiqua" panose="02040602050305030304" pitchFamily="18" charset="0"/>
              </a:rPr>
              <a:t>universal</a:t>
            </a:r>
            <a:r>
              <a:rPr lang="hu-HU" sz="1200" dirty="0">
                <a:latin typeface="Book Antiqua" panose="02040602050305030304" pitchFamily="18" charset="0"/>
              </a:rPr>
              <a:t> constant, </a:t>
            </a:r>
            <a:r>
              <a:rPr lang="hu-HU" sz="1200" dirty="0" err="1">
                <a:latin typeface="Book Antiqua" panose="02040602050305030304" pitchFamily="18" charset="0"/>
              </a:rPr>
              <a:t>it</a:t>
            </a:r>
            <a:r>
              <a:rPr lang="hu-HU" sz="1200" dirty="0">
                <a:latin typeface="Book Antiqua" panose="02040602050305030304" pitchFamily="18" charset="0"/>
              </a:rPr>
              <a:t> is a </a:t>
            </a:r>
            <a:r>
              <a:rPr lang="hu-HU" sz="1200" dirty="0" err="1">
                <a:latin typeface="Book Antiqua" panose="02040602050305030304" pitchFamily="18" charset="0"/>
              </a:rPr>
              <a:t>resultant</a:t>
            </a:r>
            <a:r>
              <a:rPr lang="hu-HU" sz="1200" dirty="0">
                <a:latin typeface="Book Antiqua" panose="02040602050305030304" pitchFamily="18" charset="0"/>
              </a:rPr>
              <a:t> of </a:t>
            </a:r>
            <a:r>
              <a:rPr lang="hu-HU" sz="1200" dirty="0" err="1">
                <a:latin typeface="Book Antiqua" panose="02040602050305030304" pitchFamily="18" charset="0"/>
              </a:rPr>
              <a:t>elementary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processes</a:t>
            </a:r>
            <a:r>
              <a:rPr lang="hu-HU" sz="1200" dirty="0">
                <a:latin typeface="Book Antiqua" panose="02040602050305030304" pitchFamily="18" charset="0"/>
              </a:rPr>
              <a:t>!)</a:t>
            </a:r>
          </a:p>
        </p:txBody>
      </p:sp>
      <p:cxnSp>
        <p:nvCxnSpPr>
          <p:cNvPr id="7" name="Egyenes összekötő nyíllal 6">
            <a:extLst>
              <a:ext uri="{FF2B5EF4-FFF2-40B4-BE49-F238E27FC236}">
                <a16:creationId xmlns:a16="http://schemas.microsoft.com/office/drawing/2014/main" id="{DCB1D792-6B55-CAAB-61B5-197DF0A276C6}"/>
              </a:ext>
            </a:extLst>
          </p:cNvPr>
          <p:cNvCxnSpPr>
            <a:cxnSpLocks/>
          </p:cNvCxnSpPr>
          <p:nvPr/>
        </p:nvCxnSpPr>
        <p:spPr>
          <a:xfrm flipV="1">
            <a:off x="3463368" y="3236909"/>
            <a:ext cx="165719" cy="5575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églalap 16">
                <a:extLst>
                  <a:ext uri="{FF2B5EF4-FFF2-40B4-BE49-F238E27FC236}">
                    <a16:creationId xmlns:a16="http://schemas.microsoft.com/office/drawing/2014/main" id="{49C336A9-000F-3111-4EC9-65F6B7239E58}"/>
                  </a:ext>
                </a:extLst>
              </p:cNvPr>
              <p:cNvSpPr/>
              <p:nvPr/>
            </p:nvSpPr>
            <p:spPr>
              <a:xfrm>
                <a:off x="3276373" y="4900727"/>
                <a:ext cx="1026499" cy="616451"/>
              </a:xfrm>
              <a:prstGeom prst="rect">
                <a:avLst/>
              </a:prstGeom>
              <a:ln>
                <a:solidFill>
                  <a:srgbClr val="FF0000"/>
                </a:solidFill>
              </a:ln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u-HU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𝑙𝑛</m:t>
                          </m:r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hu-HU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églalap 16">
                <a:extLst>
                  <a:ext uri="{FF2B5EF4-FFF2-40B4-BE49-F238E27FC236}">
                    <a16:creationId xmlns:a16="http://schemas.microsoft.com/office/drawing/2014/main" id="{49C336A9-000F-3111-4EC9-65F6B7239E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373" y="4900727"/>
                <a:ext cx="1026499" cy="61645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zövegdoboz 23">
            <a:extLst>
              <a:ext uri="{FF2B5EF4-FFF2-40B4-BE49-F238E27FC236}">
                <a16:creationId xmlns:a16="http://schemas.microsoft.com/office/drawing/2014/main" id="{CACA8B56-D989-BD4A-6D68-A9CCE6E651E3}"/>
              </a:ext>
            </a:extLst>
          </p:cNvPr>
          <p:cNvSpPr txBox="1"/>
          <p:nvPr/>
        </p:nvSpPr>
        <p:spPr>
          <a:xfrm>
            <a:off x="3374967" y="5517540"/>
            <a:ext cx="829310" cy="282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Half</a:t>
            </a:r>
            <a:r>
              <a:rPr lang="hu-HU" sz="1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-life</a:t>
            </a:r>
            <a:endParaRPr lang="hu-HU" sz="12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27" name="Szövegdoboz 26">
            <a:extLst>
              <a:ext uri="{FF2B5EF4-FFF2-40B4-BE49-F238E27FC236}">
                <a16:creationId xmlns:a16="http://schemas.microsoft.com/office/drawing/2014/main" id="{8D1F5D0B-7583-32F2-DCA0-BB8CC685AE62}"/>
              </a:ext>
            </a:extLst>
          </p:cNvPr>
          <p:cNvSpPr txBox="1"/>
          <p:nvPr/>
        </p:nvSpPr>
        <p:spPr>
          <a:xfrm>
            <a:off x="914340" y="3499177"/>
            <a:ext cx="9394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latin typeface="Book Antiqua" panose="02040602050305030304" pitchFamily="18" charset="0"/>
              </a:rPr>
              <a:t>[1/s]=</a:t>
            </a:r>
            <a:r>
              <a:rPr lang="hu-HU" sz="1200" dirty="0" err="1">
                <a:latin typeface="Book Antiqua" panose="02040602050305030304" pitchFamily="18" charset="0"/>
              </a:rPr>
              <a:t>Bq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</a:p>
        </p:txBody>
      </p:sp>
      <p:sp>
        <p:nvSpPr>
          <p:cNvPr id="28" name="Szövegdoboz 27">
            <a:extLst>
              <a:ext uri="{FF2B5EF4-FFF2-40B4-BE49-F238E27FC236}">
                <a16:creationId xmlns:a16="http://schemas.microsoft.com/office/drawing/2014/main" id="{9E2764D8-AEE7-C222-B692-6B6668AD4245}"/>
              </a:ext>
            </a:extLst>
          </p:cNvPr>
          <p:cNvSpPr txBox="1"/>
          <p:nvPr/>
        </p:nvSpPr>
        <p:spPr>
          <a:xfrm>
            <a:off x="4185566" y="4379712"/>
            <a:ext cx="5779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sz="1200" dirty="0">
                <a:latin typeface="Book Antiqua" panose="02040602050305030304" pitchFamily="18" charset="0"/>
              </a:rPr>
              <a:t>[1/s]</a:t>
            </a:r>
          </a:p>
        </p:txBody>
      </p:sp>
      <p:sp>
        <p:nvSpPr>
          <p:cNvPr id="29" name="Téglalap: lekerekített 28">
            <a:extLst>
              <a:ext uri="{FF2B5EF4-FFF2-40B4-BE49-F238E27FC236}">
                <a16:creationId xmlns:a16="http://schemas.microsoft.com/office/drawing/2014/main" id="{2CB39295-D00D-5479-07AD-BE8A41F87120}"/>
              </a:ext>
            </a:extLst>
          </p:cNvPr>
          <p:cNvSpPr/>
          <p:nvPr/>
        </p:nvSpPr>
        <p:spPr>
          <a:xfrm>
            <a:off x="251138" y="2530699"/>
            <a:ext cx="7495504" cy="3652759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45875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AAD91-0276-A0F4-60F6-06029567F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C44D11EA-DC69-F8A1-AD42-A00D76843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Natural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radioactivty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chains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C881E955-2D99-0152-47F7-CE58EA8FFF49}"/>
              </a:ext>
            </a:extLst>
          </p:cNvPr>
          <p:cNvSpPr txBox="1"/>
          <p:nvPr/>
        </p:nvSpPr>
        <p:spPr>
          <a:xfrm>
            <a:off x="103962" y="2005282"/>
            <a:ext cx="73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Radioactive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decay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continues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until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valley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of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stability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is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reached</a:t>
            </a: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A5149120-22C1-D7CC-A0A1-1DB523271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7052" y="2189948"/>
            <a:ext cx="3312000" cy="385804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Szövegdoboz 4"/>
              <p:cNvSpPr txBox="1"/>
              <p:nvPr/>
            </p:nvSpPr>
            <p:spPr>
              <a:xfrm>
                <a:off x="4853112" y="4332331"/>
                <a:ext cx="1815753" cy="4701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hu-HU" b="0" i="1" smtClean="0">
                        <a:latin typeface="Cambria Math" panose="02040503050406030204" pitchFamily="18" charset="0"/>
                      </a:rPr>
                      <m:t>𝐴</m:t>
                    </m:r>
                    <m:groupChr>
                      <m:groupChrPr>
                        <m:chr m:val="→"/>
                        <m:vertJc m:val="bot"/>
                        <m:ctrlPr>
                          <a:rPr lang="hu-HU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𝑑𝑒𝑐𝑎𝑦</m:t>
                        </m:r>
                      </m:e>
                    </m:groupChr>
                    <m:r>
                      <a:rPr lang="hu-HU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hu-HU" b="0" i="1" smtClean="0">
                        <a:latin typeface="Cambria Math" panose="02040503050406030204" pitchFamily="18" charset="0"/>
                      </a:rPr>
                      <m:t>−4:</m:t>
                    </m:r>
                  </m:oMath>
                </a14:m>
                <a:r>
                  <a:rPr lang="hu-HU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5" name="Szövegdoboz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3112" y="4332331"/>
                <a:ext cx="1815753" cy="47012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10" descr="m_par1">
            <a:extLst>
              <a:ext uri="{FF2B5EF4-FFF2-40B4-BE49-F238E27FC236}">
                <a16:creationId xmlns:a16="http://schemas.microsoft.com/office/drawing/2014/main" id="{5727ED39-48FA-F779-1AB4-E90D91837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3" y="2457809"/>
            <a:ext cx="3707037" cy="28155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zövegdoboz 1"/>
          <p:cNvSpPr txBox="1"/>
          <p:nvPr/>
        </p:nvSpPr>
        <p:spPr>
          <a:xfrm>
            <a:off x="4318926" y="2642536"/>
            <a:ext cx="288412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Beta </a:t>
            </a:r>
            <a:r>
              <a:rPr lang="hu-HU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changes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hu-HU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endParaRPr lang="hu-HU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Alpha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decay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changes</a:t>
            </a:r>
            <a:r>
              <a:rPr lang="hu-HU" dirty="0">
                <a:solidFill>
                  <a:schemeClr val="bg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A</a:t>
            </a:r>
            <a:endParaRPr lang="en-GB" dirty="0">
              <a:solidFill>
                <a:schemeClr val="bg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cxnSp>
        <p:nvCxnSpPr>
          <p:cNvPr id="15" name="Egyenes összekötő nyíllal 14"/>
          <p:cNvCxnSpPr/>
          <p:nvPr/>
        </p:nvCxnSpPr>
        <p:spPr>
          <a:xfrm>
            <a:off x="5985164" y="2974548"/>
            <a:ext cx="0" cy="536304"/>
          </a:xfrm>
          <a:prstGeom prst="straightConnector1">
            <a:avLst/>
          </a:prstGeom>
          <a:ln w="3810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>
            <a:off x="5435600" y="2974548"/>
            <a:ext cx="0" cy="5363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zövegdoboz 16"/>
          <p:cNvSpPr txBox="1"/>
          <p:nvPr/>
        </p:nvSpPr>
        <p:spPr>
          <a:xfrm>
            <a:off x="4853112" y="5273369"/>
            <a:ext cx="20553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4 </a:t>
            </a:r>
            <a:r>
              <a:rPr lang="hu-HU" sz="24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decay</a:t>
            </a:r>
            <a:r>
              <a:rPr lang="hu-H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series</a:t>
            </a:r>
            <a:endParaRPr lang="en-GB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cxnSp>
        <p:nvCxnSpPr>
          <p:cNvPr id="19" name="Egyenes összekötő nyíllal 18"/>
          <p:cNvCxnSpPr/>
          <p:nvPr/>
        </p:nvCxnSpPr>
        <p:spPr>
          <a:xfrm>
            <a:off x="5588000" y="4802460"/>
            <a:ext cx="9236" cy="369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kerekített téglalap 19"/>
          <p:cNvSpPr/>
          <p:nvPr/>
        </p:nvSpPr>
        <p:spPr>
          <a:xfrm>
            <a:off x="4546548" y="2619812"/>
            <a:ext cx="2743200" cy="1223053"/>
          </a:xfrm>
          <a:prstGeom prst="round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34</a:t>
            </a:fld>
            <a:endParaRPr lang="hu-HU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B7021C08-28FB-AE6A-E52A-A1176CBE4E86}"/>
              </a:ext>
            </a:extLst>
          </p:cNvPr>
          <p:cNvSpPr txBox="1"/>
          <p:nvPr/>
        </p:nvSpPr>
        <p:spPr>
          <a:xfrm>
            <a:off x="5638084" y="4860214"/>
            <a:ext cx="23681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200" dirty="0" err="1">
                <a:latin typeface="Book Antiqua" panose="02040602050305030304" pitchFamily="18" charset="0"/>
              </a:rPr>
              <a:t>Remainder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when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devided</a:t>
            </a:r>
            <a:r>
              <a:rPr lang="hu-HU" sz="1200" dirty="0">
                <a:latin typeface="Book Antiqua" panose="02040602050305030304" pitchFamily="18" charset="0"/>
              </a:rPr>
              <a:t> </a:t>
            </a:r>
            <a:r>
              <a:rPr lang="hu-HU" sz="1200" dirty="0" err="1">
                <a:latin typeface="Book Antiqua" panose="02040602050305030304" pitchFamily="18" charset="0"/>
              </a:rPr>
              <a:t>by</a:t>
            </a:r>
            <a:r>
              <a:rPr lang="hu-HU" sz="1200" dirty="0">
                <a:latin typeface="Book Antiqua" panose="02040602050305030304" pitchFamily="18" charset="0"/>
              </a:rPr>
              <a:t> 4?</a:t>
            </a:r>
          </a:p>
        </p:txBody>
      </p:sp>
    </p:spTree>
    <p:extLst>
      <p:ext uri="{BB962C8B-B14F-4D97-AF65-F5344CB8AC3E}">
        <p14:creationId xmlns:p14="http://schemas.microsoft.com/office/powerpoint/2010/main" val="28225851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03797-ABFB-2539-F083-403B89B56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091F2952-7A3D-5F5D-5E97-341825BDC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Natural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radioactivty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chains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E1213632-D44E-28FE-08C9-1D19C2CE978E}"/>
              </a:ext>
            </a:extLst>
          </p:cNvPr>
          <p:cNvSpPr txBox="1"/>
          <p:nvPr/>
        </p:nvSpPr>
        <p:spPr>
          <a:xfrm>
            <a:off x="103962" y="2005282"/>
            <a:ext cx="73036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Radioactive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decay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continues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until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the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valley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of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stability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is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reached</a:t>
            </a: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sp>
        <p:nvSpPr>
          <p:cNvPr id="17" name="Szövegdoboz 16">
            <a:extLst>
              <a:ext uri="{FF2B5EF4-FFF2-40B4-BE49-F238E27FC236}">
                <a16:creationId xmlns:a16="http://schemas.microsoft.com/office/drawing/2014/main" id="{AE2BC625-7606-4151-C40F-3BA89F9D5E57}"/>
              </a:ext>
            </a:extLst>
          </p:cNvPr>
          <p:cNvSpPr txBox="1"/>
          <p:nvPr/>
        </p:nvSpPr>
        <p:spPr>
          <a:xfrm>
            <a:off x="686554" y="2521543"/>
            <a:ext cx="19014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</a:t>
            </a:r>
            <a:r>
              <a:rPr lang="hu-HU" sz="2400" u="sng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decay</a:t>
            </a:r>
            <a:r>
              <a:rPr lang="hu-HU" sz="24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 series</a:t>
            </a:r>
            <a:endParaRPr lang="en-GB" sz="2400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D892E0FE-E345-1F6C-ACEB-8181A800A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35</a:t>
            </a:fld>
            <a:endParaRPr lang="hu-HU"/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558F5A7F-7CB9-0119-2D69-C94AD3ACB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554" y="3124157"/>
            <a:ext cx="2019582" cy="609685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202621C5-59F1-9FA6-EFA5-E3687CD290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399" y="4185342"/>
            <a:ext cx="3753374" cy="1981477"/>
          </a:xfrm>
          <a:prstGeom prst="rect">
            <a:avLst/>
          </a:prstGeom>
        </p:spPr>
      </p:pic>
      <p:cxnSp>
        <p:nvCxnSpPr>
          <p:cNvPr id="12" name="Egyenes összekötő nyíllal 11">
            <a:extLst>
              <a:ext uri="{FF2B5EF4-FFF2-40B4-BE49-F238E27FC236}">
                <a16:creationId xmlns:a16="http://schemas.microsoft.com/office/drawing/2014/main" id="{A00B9182-B427-F57D-2A68-43F60E56E306}"/>
              </a:ext>
            </a:extLst>
          </p:cNvPr>
          <p:cNvCxnSpPr/>
          <p:nvPr/>
        </p:nvCxnSpPr>
        <p:spPr>
          <a:xfrm>
            <a:off x="1844136" y="3749065"/>
            <a:ext cx="9236" cy="3699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Jobb oldali kapcsos zárójel 12">
            <a:extLst>
              <a:ext uri="{FF2B5EF4-FFF2-40B4-BE49-F238E27FC236}">
                <a16:creationId xmlns:a16="http://schemas.microsoft.com/office/drawing/2014/main" id="{AA3D25EE-2261-0D3C-0EDF-25D085998579}"/>
              </a:ext>
            </a:extLst>
          </p:cNvPr>
          <p:cNvSpPr/>
          <p:nvPr/>
        </p:nvSpPr>
        <p:spPr>
          <a:xfrm>
            <a:off x="4080904" y="3532366"/>
            <a:ext cx="289827" cy="2515624"/>
          </a:xfrm>
          <a:prstGeom prst="rightBrace">
            <a:avLst>
              <a:gd name="adj1" fmla="val 8333"/>
              <a:gd name="adj2" fmla="val 4998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pic>
        <p:nvPicPr>
          <p:cNvPr id="21" name="Kép 20">
            <a:extLst>
              <a:ext uri="{FF2B5EF4-FFF2-40B4-BE49-F238E27FC236}">
                <a16:creationId xmlns:a16="http://schemas.microsoft.com/office/drawing/2014/main" id="{A9BA6E36-52AB-7B14-29AB-41A471C899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9578" y="3413537"/>
            <a:ext cx="5887272" cy="752580"/>
          </a:xfrm>
          <a:prstGeom prst="rect">
            <a:avLst/>
          </a:prstGeom>
        </p:spPr>
      </p:pic>
      <p:sp>
        <p:nvSpPr>
          <p:cNvPr id="22" name="Téglalap 21">
            <a:extLst>
              <a:ext uri="{FF2B5EF4-FFF2-40B4-BE49-F238E27FC236}">
                <a16:creationId xmlns:a16="http://schemas.microsoft.com/office/drawing/2014/main" id="{A1D8146C-151F-ABFE-396C-8B621D29CE86}"/>
              </a:ext>
            </a:extLst>
          </p:cNvPr>
          <p:cNvSpPr/>
          <p:nvPr/>
        </p:nvSpPr>
        <p:spPr>
          <a:xfrm>
            <a:off x="5374257" y="4373592"/>
            <a:ext cx="914400" cy="914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23" name="Szövegdoboz 22">
            <a:extLst>
              <a:ext uri="{FF2B5EF4-FFF2-40B4-BE49-F238E27FC236}">
                <a16:creationId xmlns:a16="http://schemas.microsoft.com/office/drawing/2014/main" id="{3C9ACEFE-53DD-AFD0-5774-9FDDFC71FD87}"/>
              </a:ext>
            </a:extLst>
          </p:cNvPr>
          <p:cNvSpPr txBox="1"/>
          <p:nvPr/>
        </p:nvSpPr>
        <p:spPr>
          <a:xfrm>
            <a:off x="5080958" y="4572000"/>
            <a:ext cx="61847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latin typeface="Book Antiqua" panose="02040602050305030304" pitchFamily="18" charset="0"/>
              </a:rPr>
              <a:t>Secular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equilibrium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if</a:t>
            </a:r>
            <a:r>
              <a:rPr lang="hu-HU" dirty="0">
                <a:latin typeface="Book Antiqua" panose="02040602050305030304" pitchFamily="18" charset="0"/>
              </a:rPr>
              <a:t> for </a:t>
            </a:r>
            <a:r>
              <a:rPr lang="hu-HU" dirty="0" err="1">
                <a:latin typeface="Book Antiqua" panose="02040602050305030304" pitchFamily="18" charset="0"/>
              </a:rPr>
              <a:t>any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isotope</a:t>
            </a:r>
            <a:r>
              <a:rPr lang="hu-HU" dirty="0">
                <a:latin typeface="Book Antiqua" panose="02040602050305030304" pitchFamily="18" charset="0"/>
              </a:rPr>
              <a:t> t-&gt;∞ and T</a:t>
            </a:r>
            <a:r>
              <a:rPr lang="hu-HU" baseline="-25000" dirty="0">
                <a:latin typeface="Book Antiqua" panose="02040602050305030304" pitchFamily="18" charset="0"/>
              </a:rPr>
              <a:t>B</a:t>
            </a:r>
            <a:r>
              <a:rPr lang="hu-HU" dirty="0">
                <a:latin typeface="Book Antiqua" panose="02040602050305030304" pitchFamily="18" charset="0"/>
              </a:rPr>
              <a:t>&lt;&lt;T</a:t>
            </a:r>
            <a:r>
              <a:rPr lang="hu-HU" baseline="-25000" dirty="0">
                <a:latin typeface="Book Antiqua" panose="02040602050305030304" pitchFamily="18" charset="0"/>
              </a:rPr>
              <a:t>A</a:t>
            </a:r>
          </a:p>
        </p:txBody>
      </p:sp>
      <p:pic>
        <p:nvPicPr>
          <p:cNvPr id="25" name="Kép 24">
            <a:extLst>
              <a:ext uri="{FF2B5EF4-FFF2-40B4-BE49-F238E27FC236}">
                <a16:creationId xmlns:a16="http://schemas.microsoft.com/office/drawing/2014/main" id="{4A65DEB3-6D69-ACA4-1808-318127BD39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2954" y="4983712"/>
            <a:ext cx="1676634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43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CAD5D-5503-4764-F027-293C00FAF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7AF1E42-1E63-5DE5-410F-E4770F02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Natural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radioactivty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chains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92CBD6D4-01C9-11A7-2C01-0F1C6E59C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59" y="2143844"/>
            <a:ext cx="8515841" cy="3852000"/>
          </a:xfrm>
          <a:prstGeom prst="rect">
            <a:avLst/>
          </a:prstGeom>
        </p:spPr>
      </p:pic>
      <p:cxnSp>
        <p:nvCxnSpPr>
          <p:cNvPr id="3" name="Egyenes összekötő nyíllal 2"/>
          <p:cNvCxnSpPr/>
          <p:nvPr/>
        </p:nvCxnSpPr>
        <p:spPr>
          <a:xfrm flipH="1" flipV="1">
            <a:off x="1163782" y="4396509"/>
            <a:ext cx="1145310" cy="21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/>
          <p:cNvSpPr txBox="1"/>
          <p:nvPr/>
        </p:nvSpPr>
        <p:spPr>
          <a:xfrm>
            <a:off x="7139709" y="5837382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</a:t>
            </a:r>
            <a:r>
              <a:rPr lang="hu-HU" sz="24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</a:t>
            </a:r>
            <a:r>
              <a:rPr lang="hu-HU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&gt;&gt;</a:t>
            </a:r>
            <a:r>
              <a:rPr lang="hu-HU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</a:t>
            </a:r>
            <a:r>
              <a:rPr lang="hu-HU" sz="24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</a:t>
            </a:r>
            <a:endParaRPr lang="en-GB" sz="24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6" name="Ellipszis 5"/>
          <p:cNvSpPr/>
          <p:nvPr/>
        </p:nvSpPr>
        <p:spPr>
          <a:xfrm>
            <a:off x="6834909" y="4396509"/>
            <a:ext cx="1801091" cy="4341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zövegdoboz 6"/>
          <p:cNvSpPr txBox="1"/>
          <p:nvPr/>
        </p:nvSpPr>
        <p:spPr>
          <a:xfrm>
            <a:off x="0" y="4206166"/>
            <a:ext cx="170230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Artificial</a:t>
            </a:r>
            <a:r>
              <a:rPr lang="hu-HU" dirty="0">
                <a:latin typeface="Book Antiqua" panose="02040602050305030304" pitchFamily="18" charset="0"/>
              </a:rPr>
              <a:t>,</a:t>
            </a:r>
          </a:p>
          <a:p>
            <a:r>
              <a:rPr lang="hu-HU" sz="1600" dirty="0" err="1">
                <a:latin typeface="Book Antiqua" panose="02040602050305030304" pitchFamily="18" charset="0"/>
              </a:rPr>
              <a:t>those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formed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at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birth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Earth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already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decayed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away</a:t>
            </a:r>
            <a:endParaRPr lang="hu-HU" sz="1600" dirty="0">
              <a:latin typeface="Book Antiqua" panose="02040602050305030304" pitchFamily="18" charset="0"/>
            </a:endParaRPr>
          </a:p>
          <a:p>
            <a:endParaRPr lang="hu-HU" sz="1600" dirty="0">
              <a:latin typeface="Book Antiqua" panose="02040602050305030304" pitchFamily="18" charset="0"/>
            </a:endParaRPr>
          </a:p>
          <a:p>
            <a:r>
              <a:rPr lang="hu-HU" sz="1600" u="sng" dirty="0" err="1">
                <a:latin typeface="Book Antiqua" panose="02040602050305030304" pitchFamily="18" charset="0"/>
              </a:rPr>
              <a:t>Question</a:t>
            </a:r>
            <a:r>
              <a:rPr lang="hu-HU" sz="1600" dirty="0">
                <a:latin typeface="Book Antiqua" panose="02040602050305030304" pitchFamily="18" charset="0"/>
              </a:rPr>
              <a:t>: </a:t>
            </a:r>
            <a:r>
              <a:rPr lang="hu-HU" sz="1600" i="1" dirty="0" err="1">
                <a:latin typeface="Book Antiqua" panose="02040602050305030304" pitchFamily="18" charset="0"/>
              </a:rPr>
              <a:t>age</a:t>
            </a:r>
            <a:r>
              <a:rPr lang="hu-HU" sz="1600" i="1" dirty="0">
                <a:latin typeface="Book Antiqua" panose="02040602050305030304" pitchFamily="18" charset="0"/>
              </a:rPr>
              <a:t> of </a:t>
            </a:r>
            <a:r>
              <a:rPr lang="hu-HU" sz="1600" i="1" dirty="0" err="1">
                <a:latin typeface="Book Antiqua" panose="02040602050305030304" pitchFamily="18" charset="0"/>
              </a:rPr>
              <a:t>the</a:t>
            </a:r>
            <a:r>
              <a:rPr lang="hu-HU" sz="1600" i="1" dirty="0">
                <a:latin typeface="Book Antiqua" panose="02040602050305030304" pitchFamily="18" charset="0"/>
              </a:rPr>
              <a:t> </a:t>
            </a:r>
            <a:r>
              <a:rPr lang="hu-HU" sz="1600" i="1" dirty="0" err="1">
                <a:latin typeface="Book Antiqua" panose="02040602050305030304" pitchFamily="18" charset="0"/>
              </a:rPr>
              <a:t>Earth</a:t>
            </a:r>
            <a:r>
              <a:rPr lang="hu-HU" sz="1600" i="1" dirty="0">
                <a:latin typeface="Book Antiqua" panose="02040602050305030304" pitchFamily="18" charset="0"/>
              </a:rPr>
              <a:t>?</a:t>
            </a:r>
            <a:endParaRPr lang="en-GB" sz="1600" i="1" dirty="0">
              <a:latin typeface="Book Antiqua" panose="02040602050305030304" pitchFamily="18" charset="0"/>
            </a:endParaRPr>
          </a:p>
        </p:txBody>
      </p:sp>
      <p:cxnSp>
        <p:nvCxnSpPr>
          <p:cNvPr id="13" name="Egyenes összekötő nyíllal 12"/>
          <p:cNvCxnSpPr/>
          <p:nvPr/>
        </p:nvCxnSpPr>
        <p:spPr>
          <a:xfrm flipH="1">
            <a:off x="9541164" y="3574473"/>
            <a:ext cx="1330036" cy="563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/>
          <p:cNvCxnSpPr/>
          <p:nvPr/>
        </p:nvCxnSpPr>
        <p:spPr>
          <a:xfrm flipH="1">
            <a:off x="9541164" y="3574473"/>
            <a:ext cx="1315236" cy="10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/>
          <p:cNvCxnSpPr/>
          <p:nvPr/>
        </p:nvCxnSpPr>
        <p:spPr>
          <a:xfrm flipH="1">
            <a:off x="9541164" y="3583709"/>
            <a:ext cx="1330036" cy="155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/>
          <p:cNvCxnSpPr/>
          <p:nvPr/>
        </p:nvCxnSpPr>
        <p:spPr>
          <a:xfrm flipH="1">
            <a:off x="9541164" y="3583709"/>
            <a:ext cx="1315236" cy="1958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19"/>
          <p:cNvSpPr txBox="1"/>
          <p:nvPr/>
        </p:nvSpPr>
        <p:spPr>
          <a:xfrm>
            <a:off x="10860116" y="2937378"/>
            <a:ext cx="1157799" cy="646331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latin typeface="Book Antiqua" panose="02040602050305030304" pitchFamily="18" charset="0"/>
              </a:rPr>
              <a:t>stable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isotopes</a:t>
            </a:r>
            <a:endParaRPr lang="en-GB" sz="1600" dirty="0">
              <a:latin typeface="Book Antiqua" panose="02040602050305030304" pitchFamily="18" charset="0"/>
            </a:endParaRPr>
          </a:p>
        </p:txBody>
      </p:sp>
      <p:sp>
        <p:nvSpPr>
          <p:cNvPr id="22" name="Ellipszis 21"/>
          <p:cNvSpPr/>
          <p:nvPr/>
        </p:nvSpPr>
        <p:spPr>
          <a:xfrm>
            <a:off x="5763491" y="4613563"/>
            <a:ext cx="286327" cy="217055"/>
          </a:xfrm>
          <a:prstGeom prst="ellipse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Egyenes összekötő nyíllal 23"/>
          <p:cNvCxnSpPr/>
          <p:nvPr/>
        </p:nvCxnSpPr>
        <p:spPr>
          <a:xfrm flipH="1">
            <a:off x="4913745" y="4722090"/>
            <a:ext cx="849746" cy="1447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/>
          <p:cNvSpPr txBox="1"/>
          <p:nvPr/>
        </p:nvSpPr>
        <p:spPr>
          <a:xfrm>
            <a:off x="4239491" y="6068214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 err="1">
                <a:latin typeface="Book Antiqua" panose="02040602050305030304" pitchFamily="18" charset="0"/>
              </a:rPr>
              <a:t>transuranic</a:t>
            </a:r>
            <a:endParaRPr lang="en-GB" sz="1400" b="1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52532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39AB-88D4-774F-7314-158AABC9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C43DC7D-4DD4-17C4-C03F-758DD86F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Application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dating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A75380B-CA7B-6DA8-F435-1BD30201A6FA}"/>
              </a:ext>
            </a:extLst>
          </p:cNvPr>
          <p:cNvSpPr txBox="1"/>
          <p:nvPr/>
        </p:nvSpPr>
        <p:spPr>
          <a:xfrm>
            <a:off x="103962" y="2005282"/>
            <a:ext cx="70502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half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determines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time-scale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accessible</a:t>
            </a:r>
            <a:endParaRPr lang="hu-HU" b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Carbon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Tritium</a:t>
            </a:r>
            <a:r>
              <a:rPr lang="hu-HU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</a:rPr>
              <a:t>Lead-</a:t>
            </a:r>
            <a:r>
              <a:rPr lang="hu-HU" b="1" u="sng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</a:rPr>
              <a:t>helium</a:t>
            </a:r>
            <a:r>
              <a:rPr lang="hu-HU" b="1" u="sng" dirty="0">
                <a:solidFill>
                  <a:schemeClr val="accent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1">
                  <a:lumMod val="40000"/>
                  <a:lumOff val="6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graphicFrame>
        <p:nvGraphicFramePr>
          <p:cNvPr id="5" name="Tábláza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8710900"/>
              </p:ext>
            </p:extLst>
          </p:nvPr>
        </p:nvGraphicFramePr>
        <p:xfrm>
          <a:off x="6280726" y="2202141"/>
          <a:ext cx="5613747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1249">
                  <a:extLst>
                    <a:ext uri="{9D8B030D-6E8A-4147-A177-3AD203B41FA5}">
                      <a16:colId xmlns:a16="http://schemas.microsoft.com/office/drawing/2014/main" val="2812047391"/>
                    </a:ext>
                  </a:extLst>
                </a:gridCol>
                <a:gridCol w="1871249">
                  <a:extLst>
                    <a:ext uri="{9D8B030D-6E8A-4147-A177-3AD203B41FA5}">
                      <a16:colId xmlns:a16="http://schemas.microsoft.com/office/drawing/2014/main" val="1352700149"/>
                    </a:ext>
                  </a:extLst>
                </a:gridCol>
                <a:gridCol w="1871249">
                  <a:extLst>
                    <a:ext uri="{9D8B030D-6E8A-4147-A177-3AD203B41FA5}">
                      <a16:colId xmlns:a16="http://schemas.microsoft.com/office/drawing/2014/main" val="2364616137"/>
                    </a:ext>
                  </a:extLst>
                </a:gridCol>
              </a:tblGrid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Isotope</a:t>
                      </a:r>
                      <a:endParaRPr kumimoji="0" lang="hu-HU" alt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Half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life (</a:t>
                      </a:r>
                      <a:r>
                        <a:rPr kumimoji="0" lang="hu-HU" altLang="hu-H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years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Relative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hu-HU" altLang="hu-H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abundance</a:t>
                      </a:r>
                      <a:endParaRPr kumimoji="0" lang="hu-HU" alt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270273357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3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H (</a:t>
                      </a:r>
                      <a:r>
                        <a:rPr kumimoji="0" lang="hu-HU" altLang="hu-H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tritium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12,262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 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10</a:t>
                      </a: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34825643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14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 (</a:t>
                      </a:r>
                      <a:r>
                        <a:rPr kumimoji="0" lang="hu-HU" altLang="hu-HU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radiocarbon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)</a:t>
                      </a:r>
                      <a:endParaRPr kumimoji="0" lang="hu-HU" altLang="hu-HU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5568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10</a:t>
                      </a: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-12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795459676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40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K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1,3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0" lang="hu-HU" altLang="hu-HU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1,19 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10</a:t>
                      </a: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-4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391137009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87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Rb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5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0" lang="hu-HU" altLang="hu-HU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0,278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2170053020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238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4,51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0" lang="hu-HU" altLang="hu-HU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9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0,992739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349677346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235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U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7,04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10</a:t>
                      </a:r>
                      <a:r>
                        <a:rPr kumimoji="0" lang="hu-HU" altLang="hu-HU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8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0.007204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472702611"/>
                  </a:ext>
                </a:extLst>
              </a:tr>
              <a:tr h="37084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232</a:t>
                      </a:r>
                      <a:r>
                        <a:rPr kumimoji="0" lang="hu-HU" altLang="hu-HU" sz="18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Th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1,39 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·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10</a:t>
                      </a:r>
                      <a:r>
                        <a:rPr kumimoji="0" lang="hu-HU" altLang="hu-HU" sz="1800" b="0" i="0" u="none" strike="noStrike" cap="none" normalizeH="0" baseline="3000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10</a:t>
                      </a: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 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hu-HU" altLang="hu-HU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1.0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4054641675"/>
                  </a:ext>
                </a:extLst>
              </a:tr>
            </a:tbl>
          </a:graphicData>
        </a:graphic>
      </p:graphicFrame>
      <p:grpSp>
        <p:nvGrpSpPr>
          <p:cNvPr id="3" name="Csoportba foglalás 2"/>
          <p:cNvGrpSpPr/>
          <p:nvPr/>
        </p:nvGrpSpPr>
        <p:grpSpPr>
          <a:xfrm>
            <a:off x="3299050" y="3470647"/>
            <a:ext cx="2898550" cy="1967454"/>
            <a:chOff x="3382176" y="2980520"/>
            <a:chExt cx="2898550" cy="1967454"/>
          </a:xfrm>
        </p:grpSpPr>
        <p:sp>
          <p:nvSpPr>
            <p:cNvPr id="2" name="Szövegdoboz 1"/>
            <p:cNvSpPr txBox="1"/>
            <p:nvPr/>
          </p:nvSpPr>
          <p:spPr>
            <a:xfrm>
              <a:off x="3382176" y="2980520"/>
              <a:ext cx="2898550" cy="147732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>
                  <a:latin typeface="Book Antiqua" panose="02040602050305030304" pitchFamily="18" charset="0"/>
                </a:rPr>
                <a:t>Use</a:t>
              </a:r>
              <a:r>
                <a:rPr lang="hu-HU" dirty="0">
                  <a:latin typeface="Book Antiqua" panose="02040602050305030304" pitchFamily="18" charset="0"/>
                </a:rPr>
                <a:t>: </a:t>
              </a:r>
              <a:r>
                <a:rPr lang="hu-HU" dirty="0" err="1">
                  <a:latin typeface="Book Antiqua" panose="02040602050305030304" pitchFamily="18" charset="0"/>
                </a:rPr>
                <a:t>relative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number</a:t>
              </a:r>
              <a:endParaRPr lang="hu-HU" dirty="0">
                <a:latin typeface="Book Antiqua" panose="02040602050305030304" pitchFamily="18" charset="0"/>
              </a:endParaRPr>
            </a:p>
            <a:p>
              <a:endParaRPr lang="hu-HU" dirty="0">
                <a:latin typeface="Book Antiqua" panose="02040602050305030304" pitchFamily="18" charset="0"/>
              </a:endParaRPr>
            </a:p>
            <a:p>
              <a:endParaRPr lang="hu-HU" dirty="0">
                <a:latin typeface="Book Antiqua" panose="02040602050305030304" pitchFamily="18" charset="0"/>
              </a:endParaRPr>
            </a:p>
            <a:p>
              <a:endParaRPr lang="hu-HU" dirty="0">
                <a:latin typeface="Book Antiqua" panose="02040602050305030304" pitchFamily="18" charset="0"/>
              </a:endParaRP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hu-HU" dirty="0">
                  <a:latin typeface="Book Antiqua" panose="02040602050305030304" pitchFamily="18" charset="0"/>
                </a:rPr>
                <a:t> c </a:t>
              </a:r>
              <a:r>
                <a:rPr lang="hu-HU" dirty="0" err="1">
                  <a:latin typeface="Book Antiqua" panose="02040602050305030304" pitchFamily="18" charset="0"/>
                </a:rPr>
                <a:t>decays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exponentially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endParaRPr lang="en-GB" dirty="0">
                <a:latin typeface="Book Antiqua" panose="0204060205030503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Szövegdoboz 5"/>
                <p:cNvSpPr txBox="1"/>
                <p:nvPr/>
              </p:nvSpPr>
              <p:spPr>
                <a:xfrm>
                  <a:off x="3786526" y="3385823"/>
                  <a:ext cx="1618135" cy="66672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𝑠𝑡𝑎𝑏𝑙𝑒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hu-HU" dirty="0"/>
                </a:p>
              </p:txBody>
            </p:sp>
          </mc:Choice>
          <mc:Fallback xmlns="">
            <p:sp>
              <p:nvSpPr>
                <p:cNvPr id="6" name="Szövegdoboz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86526" y="3385823"/>
                  <a:ext cx="1618135" cy="66672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églalap 6"/>
                <p:cNvSpPr/>
                <p:nvPr/>
              </p:nvSpPr>
              <p:spPr>
                <a:xfrm>
                  <a:off x="4008661" y="4565690"/>
                  <a:ext cx="1592937" cy="382284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hu-HU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sSup>
                          <m:sSupPr>
                            <m:ctrlPr>
                              <a:rPr lang="hu-HU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hu-HU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hu-HU" dirty="0"/>
                </a:p>
              </p:txBody>
            </p:sp>
          </mc:Choice>
          <mc:Fallback xmlns="">
            <p:sp>
              <p:nvSpPr>
                <p:cNvPr id="7" name="Téglalap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8661" y="4565690"/>
                  <a:ext cx="1592937" cy="3822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644565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39AB-88D4-774F-7314-158AABC9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C43DC7D-4DD4-17C4-C03F-758DD86F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Application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dating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A75380B-CA7B-6DA8-F435-1BD30201A6FA}"/>
              </a:ext>
            </a:extLst>
          </p:cNvPr>
          <p:cNvSpPr txBox="1"/>
          <p:nvPr/>
        </p:nvSpPr>
        <p:spPr>
          <a:xfrm>
            <a:off x="103962" y="2005282"/>
            <a:ext cx="705025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half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determines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time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scale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accessible</a:t>
            </a:r>
            <a:endParaRPr lang="hu-HU" b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sz="2800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Carbon</a:t>
            </a:r>
            <a:r>
              <a:rPr lang="hu-HU" sz="2800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sz="2800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dating</a:t>
            </a:r>
            <a:endParaRPr lang="hu-HU" sz="2800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Tritium</a:t>
            </a: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Lead-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helium</a:t>
            </a: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38</a:t>
            </a:fld>
            <a:endParaRPr lang="hu-HU"/>
          </a:p>
        </p:txBody>
      </p:sp>
      <p:grpSp>
        <p:nvGrpSpPr>
          <p:cNvPr id="10" name="Csoportba foglalás 9"/>
          <p:cNvGrpSpPr/>
          <p:nvPr/>
        </p:nvGrpSpPr>
        <p:grpSpPr>
          <a:xfrm>
            <a:off x="3121814" y="3323070"/>
            <a:ext cx="5181345" cy="658001"/>
            <a:chOff x="1847196" y="2082906"/>
            <a:chExt cx="5181345" cy="6580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Szövegdoboz 10"/>
                <p:cNvSpPr txBox="1"/>
                <p:nvPr/>
              </p:nvSpPr>
              <p:spPr>
                <a:xfrm>
                  <a:off x="4509903" y="2082906"/>
                  <a:ext cx="2518638" cy="65800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−14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−12</m:t>
                                </m:r>
                              </m:sub>
                            </m:sSub>
                          </m:den>
                        </m:f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−12</m:t>
                            </m:r>
                          </m:sup>
                        </m:sSup>
                      </m:oMath>
                    </m:oMathPara>
                  </a14:m>
                  <a:endParaRPr lang="hu-HU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4" name="Szövegdoboz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9903" y="2082906"/>
                  <a:ext cx="2518638" cy="658001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Szövegdoboz 11"/>
                <p:cNvSpPr txBox="1"/>
                <p:nvPr/>
              </p:nvSpPr>
              <p:spPr>
                <a:xfrm>
                  <a:off x="1847196" y="2221077"/>
                  <a:ext cx="2110321" cy="374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</m:e>
                        </m:sPre>
                        <m:sPre>
                          <m:sPre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  <m:e>
                            <m:r>
                              <a:rPr lang="hu-HU" b="1" i="1" smtClean="0">
                                <a:latin typeface="Cambria Math" panose="02040503050406030204" pitchFamily="18" charset="0"/>
                              </a:rPr>
                              <m:t>𝑪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sPre>
                      </m:oMath>
                    </m:oMathPara>
                  </a14:m>
                  <a:endParaRPr lang="hu-HU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2" name="Szövegdoboz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47196" y="2221077"/>
                  <a:ext cx="2110321" cy="374205"/>
                </a:xfrm>
                <a:prstGeom prst="rect">
                  <a:avLst/>
                </a:prstGeom>
                <a:blipFill>
                  <a:blip r:embed="rId3"/>
                  <a:stretch>
                    <a:fillRect b="-6557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" name="Kép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71873" y="1733170"/>
            <a:ext cx="2160000" cy="4495802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1921087" y="4484916"/>
            <a:ext cx="69365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cosmic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origin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aseline="30000" dirty="0">
                <a:latin typeface="Book Antiqua" panose="02040602050305030304" pitchFamily="18" charset="0"/>
              </a:rPr>
              <a:t>14</a:t>
            </a:r>
            <a:r>
              <a:rPr lang="hu-HU" dirty="0">
                <a:latin typeface="Book Antiqua" panose="02040602050305030304" pitchFamily="18" charset="0"/>
              </a:rPr>
              <a:t>C is </a:t>
            </a:r>
            <a:r>
              <a:rPr lang="hu-HU" dirty="0" err="1">
                <a:latin typeface="Book Antiqua" panose="02040602050305030304" pitchFamily="18" charset="0"/>
              </a:rPr>
              <a:t>produced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continuosly</a:t>
            </a:r>
            <a:r>
              <a:rPr lang="hu-HU" dirty="0">
                <a:latin typeface="Book Antiqua" panose="02040602050305030304" pitchFamily="18" charset="0"/>
              </a:rPr>
              <a:t>; </a:t>
            </a:r>
            <a:r>
              <a:rPr lang="hu-HU" dirty="0" err="1">
                <a:latin typeface="Book Antiqua" panose="02040602050305030304" pitchFamily="18" charset="0"/>
              </a:rPr>
              <a:t>also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forms</a:t>
            </a:r>
            <a:r>
              <a:rPr lang="hu-HU" dirty="0">
                <a:latin typeface="Book Antiqua" panose="02040602050305030304" pitchFamily="18" charset="0"/>
              </a:rPr>
              <a:t> CO</a:t>
            </a:r>
            <a:r>
              <a:rPr lang="hu-HU" baseline="-25000" dirty="0">
                <a:latin typeface="Book Antiqua" panose="02040602050305030304" pitchFamily="18" charset="0"/>
              </a:rPr>
              <a:t>2</a:t>
            </a:r>
            <a:r>
              <a:rPr lang="hu-HU" dirty="0">
                <a:latin typeface="Book Antiqua" panose="02040602050305030304" pitchFamily="18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decays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with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half</a:t>
            </a:r>
            <a:r>
              <a:rPr lang="hu-HU" dirty="0">
                <a:latin typeface="Book Antiqua" panose="02040602050305030304" pitchFamily="18" charset="0"/>
              </a:rPr>
              <a:t> life T</a:t>
            </a:r>
            <a:r>
              <a:rPr lang="hu-HU" baseline="-25000" dirty="0">
                <a:latin typeface="Book Antiqua" panose="02040602050305030304" pitchFamily="18" charset="0"/>
              </a:rPr>
              <a:t>14C</a:t>
            </a:r>
            <a:r>
              <a:rPr lang="hu-HU" dirty="0">
                <a:latin typeface="Book Antiqua" panose="02040602050305030304" pitchFamily="18" charset="0"/>
              </a:rPr>
              <a:t>=</a:t>
            </a:r>
            <a:r>
              <a:rPr lang="hu-HU" b="1" dirty="0">
                <a:solidFill>
                  <a:srgbClr val="FF0000"/>
                </a:solidFill>
                <a:latin typeface="Book Antiqua" panose="02040602050305030304" pitchFamily="18" charset="0"/>
              </a:rPr>
              <a:t>5730 </a:t>
            </a:r>
            <a:r>
              <a:rPr lang="hu-HU" b="1" dirty="0" err="1">
                <a:solidFill>
                  <a:srgbClr val="FF0000"/>
                </a:solidFill>
                <a:latin typeface="Book Antiqua" panose="02040602050305030304" pitchFamily="18" charset="0"/>
              </a:rPr>
              <a:t>years</a:t>
            </a:r>
            <a:endParaRPr lang="hu-HU" b="1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latin typeface="Book Antiqua" panose="02040602050305030304" pitchFamily="18" charset="0"/>
              </a:rPr>
              <a:t>natural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equilibrium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with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baseline="30000" dirty="0">
                <a:latin typeface="Book Antiqua" panose="02040602050305030304" pitchFamily="18" charset="0"/>
              </a:rPr>
              <a:t>12</a:t>
            </a:r>
            <a:r>
              <a:rPr lang="hu-HU" b="1" dirty="0">
                <a:latin typeface="Book Antiqua" panose="02040602050305030304" pitchFamily="18" charset="0"/>
              </a:rPr>
              <a:t>C </a:t>
            </a:r>
            <a:r>
              <a:rPr lang="hu-HU" b="1" dirty="0" err="1">
                <a:latin typeface="Book Antiqua" panose="02040602050305030304" pitchFamily="18" charset="0"/>
              </a:rPr>
              <a:t>for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living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organisms</a:t>
            </a:r>
            <a:endParaRPr lang="hu-HU" b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at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the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time</a:t>
            </a:r>
            <a:r>
              <a:rPr lang="hu-HU" dirty="0">
                <a:latin typeface="Book Antiqua" panose="02040602050305030304" pitchFamily="18" charset="0"/>
              </a:rPr>
              <a:t> of </a:t>
            </a:r>
            <a:r>
              <a:rPr lang="hu-HU" dirty="0" err="1">
                <a:latin typeface="Book Antiqua" panose="02040602050305030304" pitchFamily="18" charset="0"/>
              </a:rPr>
              <a:t>death</a:t>
            </a:r>
            <a:r>
              <a:rPr lang="hu-HU" dirty="0">
                <a:latin typeface="Book Antiqua" panose="02040602050305030304" pitchFamily="18" charset="0"/>
              </a:rPr>
              <a:t>: c</a:t>
            </a:r>
            <a:r>
              <a:rPr lang="hu-HU" baseline="-25000" dirty="0">
                <a:latin typeface="Book Antiqua" panose="02040602050305030304" pitchFamily="18" charset="0"/>
              </a:rPr>
              <a:t>0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decays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according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to</a:t>
            </a:r>
            <a:r>
              <a:rPr lang="hu-HU" dirty="0">
                <a:latin typeface="Book Antiqua" panose="02040602050305030304" pitchFamily="18" charset="0"/>
              </a:rPr>
              <a:t> T</a:t>
            </a:r>
            <a:r>
              <a:rPr lang="hu-HU" baseline="-25000" dirty="0">
                <a:latin typeface="Book Antiqua" panose="02040602050305030304" pitchFamily="18" charset="0"/>
              </a:rPr>
              <a:t>14C</a:t>
            </a:r>
            <a:endParaRPr lang="en-GB" baseline="-25000" dirty="0">
              <a:latin typeface="Book Antiqua" panose="02040602050305030304" pitchFamily="18" charset="0"/>
            </a:endParaRPr>
          </a:p>
        </p:txBody>
      </p:sp>
      <p:sp>
        <p:nvSpPr>
          <p:cNvPr id="13" name="Szövegdoboz 12"/>
          <p:cNvSpPr txBox="1"/>
          <p:nvPr/>
        </p:nvSpPr>
        <p:spPr>
          <a:xfrm>
            <a:off x="6088055" y="2913223"/>
            <a:ext cx="21323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dirty="0" err="1">
                <a:latin typeface="Book Antiqua" panose="02040602050305030304" pitchFamily="18" charset="0"/>
              </a:rPr>
              <a:t>relative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abundance</a:t>
            </a:r>
            <a:endParaRPr lang="en-GB" dirty="0">
              <a:latin typeface="Book Antiqua" panose="02040602050305030304" pitchFamily="18" charset="0"/>
            </a:endParaRPr>
          </a:p>
        </p:txBody>
      </p:sp>
      <p:sp>
        <p:nvSpPr>
          <p:cNvPr id="16" name="Szövegdoboz 15"/>
          <p:cNvSpPr txBox="1"/>
          <p:nvPr/>
        </p:nvSpPr>
        <p:spPr>
          <a:xfrm>
            <a:off x="5784521" y="3968374"/>
            <a:ext cx="34018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measuring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activity</a:t>
            </a:r>
            <a:r>
              <a:rPr lang="hu-HU" dirty="0">
                <a:latin typeface="Book Antiqua" panose="02040602050305030304" pitchFamily="18" charset="0"/>
              </a:rPr>
              <a:t> and </a:t>
            </a:r>
            <a:r>
              <a:rPr lang="hu-HU" dirty="0" err="1">
                <a:latin typeface="Book Antiqua" panose="02040602050305030304" pitchFamily="18" charset="0"/>
              </a:rPr>
              <a:t>mass</a:t>
            </a:r>
            <a:endParaRPr lang="en-GB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3777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a számának hely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39</a:t>
            </a:fld>
            <a:endParaRPr lang="hu-HU"/>
          </a:p>
        </p:txBody>
      </p:sp>
      <p:pic>
        <p:nvPicPr>
          <p:cNvPr id="4" name="Picture 2" descr="https://upload.wikimedia.org/wikipedia/commons/thumb/e/e2/Radiocarbon_bomb_spike.svg/1024px-Radiocarbon_bomb_spike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8115" y="889873"/>
            <a:ext cx="6696000" cy="5355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/>
          <p:cNvSpPr txBox="1"/>
          <p:nvPr/>
        </p:nvSpPr>
        <p:spPr>
          <a:xfrm>
            <a:off x="509292" y="520541"/>
            <a:ext cx="45672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Relative</a:t>
            </a:r>
            <a:r>
              <a:rPr lang="hu-H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sz="28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abundance</a:t>
            </a:r>
            <a:r>
              <a:rPr lang="hu-H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of </a:t>
            </a:r>
            <a:r>
              <a:rPr lang="hu-HU" sz="2800" b="1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14</a:t>
            </a:r>
            <a:r>
              <a:rPr lang="hu-H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C</a:t>
            </a:r>
            <a:endParaRPr lang="en-GB" sz="2800" b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Ellipszis 5"/>
          <p:cNvSpPr/>
          <p:nvPr/>
        </p:nvSpPr>
        <p:spPr>
          <a:xfrm>
            <a:off x="4581236" y="1403927"/>
            <a:ext cx="2216728" cy="2863273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" name="Egyenes összekötő nyíllal 7"/>
          <p:cNvCxnSpPr/>
          <p:nvPr/>
        </p:nvCxnSpPr>
        <p:spPr>
          <a:xfrm flipV="1">
            <a:off x="6797964" y="2022764"/>
            <a:ext cx="3435927" cy="812799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zövegdoboz 8"/>
          <p:cNvSpPr txBox="1"/>
          <p:nvPr/>
        </p:nvSpPr>
        <p:spPr>
          <a:xfrm>
            <a:off x="10233891" y="1561099"/>
            <a:ext cx="4924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5400" dirty="0">
                <a:latin typeface="Book Antiqua" panose="02040602050305030304" pitchFamily="18" charset="0"/>
              </a:rPr>
              <a:t>?</a:t>
            </a:r>
            <a:endParaRPr lang="en-GB" sz="5400" dirty="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769179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39AB-88D4-774F-7314-158AABC9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C43DC7D-4DD4-17C4-C03F-758DD86F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Application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dating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A75380B-CA7B-6DA8-F435-1BD30201A6FA}"/>
              </a:ext>
            </a:extLst>
          </p:cNvPr>
          <p:cNvSpPr txBox="1"/>
          <p:nvPr/>
        </p:nvSpPr>
        <p:spPr>
          <a:xfrm>
            <a:off x="103962" y="2005282"/>
            <a:ext cx="705025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half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determines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time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scale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accessible</a:t>
            </a:r>
            <a:endParaRPr lang="hu-HU" b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Carbon</a:t>
            </a: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sz="2800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Tritium</a:t>
            </a:r>
            <a:r>
              <a:rPr lang="hu-HU" sz="2800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sz="2800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dating</a:t>
            </a:r>
            <a:endParaRPr lang="hu-HU" sz="2800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Lead-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helium</a:t>
            </a: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40</a:t>
            </a:fld>
            <a:endParaRPr lang="hu-HU"/>
          </a:p>
        </p:txBody>
      </p:sp>
      <p:grpSp>
        <p:nvGrpSpPr>
          <p:cNvPr id="13" name="Csoportba foglalás 12"/>
          <p:cNvGrpSpPr/>
          <p:nvPr/>
        </p:nvGrpSpPr>
        <p:grpSpPr>
          <a:xfrm>
            <a:off x="103962" y="4130315"/>
            <a:ext cx="4670675" cy="656205"/>
            <a:chOff x="1403648" y="2339604"/>
            <a:chExt cx="4670675" cy="6562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Szövegdoboz 14"/>
                <p:cNvSpPr txBox="1"/>
                <p:nvPr/>
              </p:nvSpPr>
              <p:spPr>
                <a:xfrm>
                  <a:off x="1403648" y="2481214"/>
                  <a:ext cx="2128147" cy="3747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Pre>
                          <m:sPre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sup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→</m:t>
                            </m:r>
                          </m:e>
                        </m:sPre>
                        <m:sPre>
                          <m:sPre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PrePr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12</m:t>
                            </m:r>
                          </m:sup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sPre>
                      </m:oMath>
                    </m:oMathPara>
                  </a14:m>
                  <a:endParaRPr lang="hu-HU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0" name="Szövegdoboz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3648" y="2481214"/>
                  <a:ext cx="2128147" cy="374783"/>
                </a:xfrm>
                <a:prstGeom prst="rect">
                  <a:avLst/>
                </a:prstGeom>
                <a:blipFill>
                  <a:blip r:embed="rId2"/>
                  <a:stretch>
                    <a:fillRect b="-1613"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Szövegdoboz 15"/>
                <p:cNvSpPr txBox="1"/>
                <p:nvPr/>
              </p:nvSpPr>
              <p:spPr>
                <a:xfrm>
                  <a:off x="3851920" y="2339604"/>
                  <a:ext cx="2222403" cy="65620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hu-HU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hu-HU" b="0" i="1" smtClean="0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sub>
                            </m:sSub>
                          </m:den>
                        </m:f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=1</m:t>
                        </m:r>
                        <m:r>
                          <a:rPr lang="hu-H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−18</m:t>
                            </m:r>
                          </m:sup>
                        </m:sSup>
                      </m:oMath>
                    </m:oMathPara>
                  </a14:m>
                  <a:endParaRPr lang="hu-HU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11" name="Szövegdoboz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51920" y="2339604"/>
                  <a:ext cx="2222403" cy="65620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hu-HU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7" name="Picture 2" descr="Tritium and the environmen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814" y="2005282"/>
            <a:ext cx="6707186" cy="35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Egyenes összekötő nyíllal 4"/>
          <p:cNvCxnSpPr/>
          <p:nvPr/>
        </p:nvCxnSpPr>
        <p:spPr>
          <a:xfrm>
            <a:off x="5263141" y="5743935"/>
            <a:ext cx="2216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églalap 2">
            <a:extLst>
              <a:ext uri="{FF2B5EF4-FFF2-40B4-BE49-F238E27FC236}">
                <a16:creationId xmlns:a16="http://schemas.microsoft.com/office/drawing/2014/main" id="{0BCDF9DF-3B24-52CF-B424-308433E8980E}"/>
              </a:ext>
            </a:extLst>
          </p:cNvPr>
          <p:cNvSpPr/>
          <p:nvPr/>
        </p:nvSpPr>
        <p:spPr>
          <a:xfrm>
            <a:off x="103962" y="4995312"/>
            <a:ext cx="673977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cosmic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origin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baseline="30000" dirty="0">
                <a:latin typeface="Book Antiqua" panose="02040602050305030304" pitchFamily="18" charset="0"/>
              </a:rPr>
              <a:t>3</a:t>
            </a:r>
            <a:r>
              <a:rPr lang="hu-HU" dirty="0">
                <a:latin typeface="Book Antiqua" panose="02040602050305030304" pitchFamily="18" charset="0"/>
              </a:rPr>
              <a:t>H is </a:t>
            </a:r>
            <a:r>
              <a:rPr lang="hu-HU" dirty="0" err="1">
                <a:latin typeface="Book Antiqua" panose="02040602050305030304" pitchFamily="18" charset="0"/>
              </a:rPr>
              <a:t>produced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continuously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latin typeface="Book Antiqua" panose="02040602050305030304" pitchFamily="18" charset="0"/>
              </a:rPr>
              <a:t>decays</a:t>
            </a:r>
            <a:r>
              <a:rPr lang="hu-HU" dirty="0">
                <a:latin typeface="Book Antiqua" panose="02040602050305030304" pitchFamily="18" charset="0"/>
              </a:rPr>
              <a:t> with </a:t>
            </a:r>
            <a:r>
              <a:rPr lang="hu-HU" dirty="0" err="1">
                <a:latin typeface="Book Antiqua" panose="02040602050305030304" pitchFamily="18" charset="0"/>
              </a:rPr>
              <a:t>half</a:t>
            </a:r>
            <a:r>
              <a:rPr lang="hu-HU" dirty="0">
                <a:latin typeface="Book Antiqua" panose="02040602050305030304" pitchFamily="18" charset="0"/>
              </a:rPr>
              <a:t> life T=</a:t>
            </a:r>
            <a:r>
              <a:rPr lang="hu-HU" b="1" dirty="0">
                <a:solidFill>
                  <a:srgbClr val="FF0000"/>
                </a:solidFill>
                <a:latin typeface="Book Antiqua" panose="02040602050305030304" pitchFamily="18" charset="0"/>
              </a:rPr>
              <a:t>12,3 </a:t>
            </a:r>
            <a:r>
              <a:rPr lang="hu-HU" b="1" dirty="0" err="1">
                <a:solidFill>
                  <a:srgbClr val="FF0000"/>
                </a:solidFill>
                <a:latin typeface="Book Antiqua" panose="02040602050305030304" pitchFamily="18" charset="0"/>
              </a:rPr>
              <a:t>years</a:t>
            </a:r>
            <a:endParaRPr lang="hu-HU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aseline="30000" dirty="0">
                <a:latin typeface="Book Antiqua" panose="02040602050305030304" pitchFamily="18" charset="0"/>
              </a:rPr>
              <a:t>3</a:t>
            </a:r>
            <a:r>
              <a:rPr lang="hu-HU" dirty="0">
                <a:latin typeface="Book Antiqua" panose="02040602050305030304" pitchFamily="18" charset="0"/>
              </a:rPr>
              <a:t>H is </a:t>
            </a:r>
            <a:r>
              <a:rPr lang="hu-HU" dirty="0" err="1">
                <a:latin typeface="Book Antiqua" panose="02040602050305030304" pitchFamily="18" charset="0"/>
              </a:rPr>
              <a:t>abundant</a:t>
            </a:r>
            <a:r>
              <a:rPr lang="hu-HU" dirty="0">
                <a:latin typeface="Book Antiqua" panose="02040602050305030304" pitchFamily="18" charset="0"/>
              </a:rPr>
              <a:t> in </a:t>
            </a:r>
            <a:r>
              <a:rPr lang="hu-HU" dirty="0" err="1">
                <a:latin typeface="Book Antiqua" panose="02040602050305030304" pitchFamily="18" charset="0"/>
              </a:rPr>
              <a:t>water</a:t>
            </a:r>
            <a:r>
              <a:rPr lang="hu-HU" dirty="0">
                <a:latin typeface="Book Antiqua" panose="02040602050305030304" pitchFamily="18" charset="0"/>
              </a:rPr>
              <a:t>: for </a:t>
            </a:r>
            <a:r>
              <a:rPr lang="hu-HU" dirty="0" err="1">
                <a:latin typeface="Book Antiqua" panose="02040602050305030304" pitchFamily="18" charset="0"/>
              </a:rPr>
              <a:t>not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isolated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water</a:t>
            </a:r>
            <a:r>
              <a:rPr lang="hu-HU" dirty="0">
                <a:latin typeface="Book Antiqua" panose="02040602050305030304" pitchFamily="18" charset="0"/>
              </a:rPr>
              <a:t>      </a:t>
            </a:r>
            <a:r>
              <a:rPr lang="hu-HU" dirty="0" err="1">
                <a:latin typeface="Book Antiqua" panose="02040602050305030304" pitchFamily="18" charset="0"/>
              </a:rPr>
              <a:t>equilibrium</a:t>
            </a:r>
            <a:endParaRPr lang="hu-HU" b="1" dirty="0">
              <a:solidFill>
                <a:srgbClr val="FF0000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for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isolated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water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relative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abundance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decreases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with</a:t>
            </a:r>
            <a:r>
              <a:rPr lang="hu-HU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T</a:t>
            </a:r>
          </a:p>
        </p:txBody>
      </p:sp>
    </p:spTree>
    <p:extLst>
      <p:ext uri="{BB962C8B-B14F-4D97-AF65-F5344CB8AC3E}">
        <p14:creationId xmlns:p14="http://schemas.microsoft.com/office/powerpoint/2010/main" val="10370357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39AB-88D4-774F-7314-158AABC94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DC43DC7D-4DD4-17C4-C03F-758DD86F5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Application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radioactive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dating</a:t>
            </a:r>
            <a:endParaRPr lang="hu-HU" dirty="0">
              <a:latin typeface="Book Antiqua" panose="02040602050305030304" pitchFamily="18" charset="0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3A75380B-CA7B-6DA8-F435-1BD30201A6FA}"/>
              </a:ext>
            </a:extLst>
          </p:cNvPr>
          <p:cNvSpPr txBox="1"/>
          <p:nvPr/>
        </p:nvSpPr>
        <p:spPr>
          <a:xfrm>
            <a:off x="103962" y="2005282"/>
            <a:ext cx="7050251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half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life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determines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the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time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scale</a:t>
            </a:r>
            <a:r>
              <a:rPr lang="hu-HU" b="1" dirty="0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Book Antiqua" panose="02040602050305030304" pitchFamily="18" charset="0"/>
              </a:rPr>
              <a:t>assessible</a:t>
            </a:r>
            <a:endParaRPr lang="hu-HU" b="1" dirty="0">
              <a:solidFill>
                <a:schemeClr val="tx1">
                  <a:lumMod val="65000"/>
                  <a:lumOff val="35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Carbon</a:t>
            </a: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Tritium</a:t>
            </a:r>
            <a:r>
              <a:rPr lang="hu-HU" b="1" u="sng" dirty="0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hu-HU" b="1" u="sng" dirty="0" err="1">
                <a:solidFill>
                  <a:schemeClr val="accent1">
                    <a:lumMod val="20000"/>
                    <a:lumOff val="80000"/>
                  </a:schemeClr>
                </a:solidFill>
                <a:latin typeface="Book Antiqua" panose="02040602050305030304" pitchFamily="18" charset="0"/>
              </a:rPr>
              <a:t>dating</a:t>
            </a:r>
            <a:endParaRPr lang="hu-HU" b="1" u="sng" dirty="0">
              <a:solidFill>
                <a:schemeClr val="accent1">
                  <a:lumMod val="20000"/>
                  <a:lumOff val="80000"/>
                </a:schemeClr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hu-HU" sz="2800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Lead-</a:t>
            </a:r>
            <a:r>
              <a:rPr lang="hu-HU" sz="2800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helium</a:t>
            </a:r>
            <a:r>
              <a:rPr lang="hu-HU" sz="2800" b="1" u="sng" dirty="0">
                <a:solidFill>
                  <a:schemeClr val="accent2"/>
                </a:solidFill>
                <a:latin typeface="Book Antiqua" panose="02040602050305030304" pitchFamily="18" charset="0"/>
              </a:rPr>
              <a:t> </a:t>
            </a:r>
            <a:r>
              <a:rPr lang="hu-HU" sz="2800" b="1" u="sng" dirty="0" err="1">
                <a:solidFill>
                  <a:schemeClr val="accent2"/>
                </a:solidFill>
                <a:latin typeface="Book Antiqua" panose="02040602050305030304" pitchFamily="18" charset="0"/>
              </a:rPr>
              <a:t>dating</a:t>
            </a:r>
            <a:endParaRPr lang="hu-HU" sz="2800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hu-HU" b="1" u="sng" dirty="0">
              <a:solidFill>
                <a:schemeClr val="accent2"/>
              </a:solidFill>
              <a:latin typeface="Book Antiqua" panose="02040602050305030304" pitchFamily="18" charset="0"/>
            </a:endParaRPr>
          </a:p>
        </p:txBody>
      </p:sp>
      <p:sp>
        <p:nvSpPr>
          <p:cNvPr id="8" name="Dia számának hely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41</a:t>
            </a:fld>
            <a:endParaRPr lang="hu-HU"/>
          </a:p>
        </p:txBody>
      </p:sp>
      <p:sp>
        <p:nvSpPr>
          <p:cNvPr id="13" name="Szövegdoboz 12"/>
          <p:cNvSpPr txBox="1"/>
          <p:nvPr/>
        </p:nvSpPr>
        <p:spPr>
          <a:xfrm>
            <a:off x="5884519" y="3097889"/>
            <a:ext cx="607089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b="1" i="1" dirty="0" err="1">
                <a:latin typeface="Book Antiqua" panose="02040602050305030304" pitchFamily="18" charset="0"/>
              </a:rPr>
              <a:t>Utilizing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the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natural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decay</a:t>
            </a:r>
            <a:r>
              <a:rPr lang="hu-HU" b="1" i="1" dirty="0">
                <a:latin typeface="Book Antiqua" panose="02040602050305030304" pitchFamily="18" charset="0"/>
              </a:rPr>
              <a:t> </a:t>
            </a:r>
            <a:r>
              <a:rPr lang="hu-HU" b="1" i="1" dirty="0" err="1">
                <a:latin typeface="Book Antiqua" panose="02040602050305030304" pitchFamily="18" charset="0"/>
              </a:rPr>
              <a:t>series</a:t>
            </a:r>
            <a:r>
              <a:rPr lang="hu-HU" b="1" i="1" dirty="0">
                <a:latin typeface="Book Antiqua" panose="02040602050305030304" pitchFamily="18" charset="0"/>
              </a:rPr>
              <a:t>! </a:t>
            </a:r>
            <a:r>
              <a:rPr lang="hu-HU" b="1" i="1" dirty="0" err="1">
                <a:latin typeface="Book Antiqua" panose="02040602050305030304" pitchFamily="18" charset="0"/>
              </a:rPr>
              <a:t>Age</a:t>
            </a:r>
            <a:r>
              <a:rPr lang="hu-HU" b="1" i="1" dirty="0">
                <a:latin typeface="Book Antiqua" panose="02040602050305030304" pitchFamily="18" charset="0"/>
              </a:rPr>
              <a:t> of </a:t>
            </a:r>
            <a:r>
              <a:rPr lang="hu-HU" b="1" i="1" dirty="0" err="1">
                <a:latin typeface="Book Antiqua" panose="02040602050305030304" pitchFamily="18" charset="0"/>
              </a:rPr>
              <a:t>rocks</a:t>
            </a:r>
            <a:r>
              <a:rPr lang="hu-HU" b="1" i="1" dirty="0">
                <a:latin typeface="Book Antiqua" panose="02040602050305030304" pitchFamily="18" charset="0"/>
              </a:rPr>
              <a:t>?</a:t>
            </a:r>
          </a:p>
          <a:p>
            <a:endParaRPr lang="hu-HU" b="1" i="1" dirty="0"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Thorium</a:t>
            </a:r>
            <a:r>
              <a:rPr lang="hu-HU" b="1" dirty="0">
                <a:solidFill>
                  <a:schemeClr val="accent1"/>
                </a:solidFill>
                <a:latin typeface="Book Antiqua" panose="02040602050305030304" pitchFamily="18" charset="0"/>
              </a:rPr>
              <a:t>, </a:t>
            </a:r>
            <a:r>
              <a:rPr lang="hu-HU" b="1" dirty="0" err="1">
                <a:solidFill>
                  <a:schemeClr val="accent1"/>
                </a:solidFill>
                <a:latin typeface="Book Antiqua" panose="02040602050305030304" pitchFamily="18" charset="0"/>
              </a:rPr>
              <a:t>Uranium</a:t>
            </a:r>
            <a:endParaRPr lang="hu-HU" b="1" dirty="0">
              <a:solidFill>
                <a:schemeClr val="accent1"/>
              </a:solidFill>
              <a:latin typeface="Book Antiqua" panose="0204060205030503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 err="1">
                <a:latin typeface="Book Antiqua" panose="02040602050305030304" pitchFamily="18" charset="0"/>
              </a:rPr>
              <a:t>They</a:t>
            </a:r>
            <a:r>
              <a:rPr lang="hu-HU" b="1" dirty="0">
                <a:latin typeface="Book Antiqua" panose="02040602050305030304" pitchFamily="18" charset="0"/>
              </a:rPr>
              <a:t> end </a:t>
            </a:r>
            <a:r>
              <a:rPr lang="hu-HU" b="1" dirty="0" err="1">
                <a:latin typeface="Book Antiqua" panose="02040602050305030304" pitchFamily="18" charset="0"/>
              </a:rPr>
              <a:t>with</a:t>
            </a:r>
            <a:r>
              <a:rPr lang="hu-HU" b="1" dirty="0">
                <a:latin typeface="Book Antiqua" panose="02040602050305030304" pitchFamily="18" charset="0"/>
              </a:rPr>
              <a:t> a Pb </a:t>
            </a:r>
            <a:r>
              <a:rPr lang="hu-HU" b="1" dirty="0" err="1">
                <a:latin typeface="Book Antiqua" panose="02040602050305030304" pitchFamily="18" charset="0"/>
              </a:rPr>
              <a:t>isotope</a:t>
            </a:r>
            <a:r>
              <a:rPr lang="hu-HU" b="1" dirty="0">
                <a:latin typeface="Book Antiqua" panose="02040602050305030304" pitchFamily="18" charset="0"/>
              </a:rPr>
              <a:t> (</a:t>
            </a:r>
            <a:r>
              <a:rPr lang="hu-HU" b="1" dirty="0" err="1">
                <a:latin typeface="Book Antiqua" panose="02040602050305030304" pitchFamily="18" charset="0"/>
              </a:rPr>
              <a:t>hard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to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separate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them</a:t>
            </a:r>
            <a:r>
              <a:rPr lang="hu-HU" b="1" dirty="0">
                <a:latin typeface="Book Antiqua" panose="02040602050305030304" pitchFamily="18" charset="0"/>
              </a:rPr>
              <a:t>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u-HU" b="1" dirty="0">
                <a:latin typeface="Book Antiqua" panose="02040602050305030304" pitchFamily="18" charset="0"/>
              </a:rPr>
              <a:t>A </a:t>
            </a:r>
            <a:r>
              <a:rPr lang="hu-HU" b="1" dirty="0" err="1">
                <a:latin typeface="Book Antiqua" panose="02040602050305030304" pitchFamily="18" charset="0"/>
              </a:rPr>
              <a:t>given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number</a:t>
            </a:r>
            <a:r>
              <a:rPr lang="hu-HU" b="1" dirty="0">
                <a:latin typeface="Book Antiqua" panose="02040602050305030304" pitchFamily="18" charset="0"/>
              </a:rPr>
              <a:t> of </a:t>
            </a:r>
            <a:r>
              <a:rPr lang="hu-HU" b="1" dirty="0" err="1">
                <a:latin typeface="Book Antiqua" panose="02040602050305030304" pitchFamily="18" charset="0"/>
              </a:rPr>
              <a:t>alpha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particles</a:t>
            </a:r>
            <a:r>
              <a:rPr lang="hu-HU" b="1" dirty="0">
                <a:latin typeface="Book Antiqua" panose="02040602050305030304" pitchFamily="18" charset="0"/>
              </a:rPr>
              <a:t> (He) </a:t>
            </a:r>
            <a:r>
              <a:rPr lang="hu-HU" b="1" dirty="0" err="1">
                <a:latin typeface="Book Antiqua" panose="02040602050305030304" pitchFamily="18" charset="0"/>
              </a:rPr>
              <a:t>produced</a:t>
            </a:r>
            <a:endParaRPr lang="hu-HU" b="1" dirty="0">
              <a:latin typeface="Book Antiqua" panose="02040602050305030304" pitchFamily="18" charset="0"/>
            </a:endParaRPr>
          </a:p>
          <a:p>
            <a:r>
              <a:rPr lang="hu-HU" b="1" dirty="0">
                <a:latin typeface="Book Antiqua" panose="02040602050305030304" pitchFamily="18" charset="0"/>
              </a:rPr>
              <a:t>		</a:t>
            </a:r>
            <a:r>
              <a:rPr lang="hu-HU" sz="1600" dirty="0">
                <a:latin typeface="Book Antiqua" panose="02040602050305030304" pitchFamily="18" charset="0"/>
              </a:rPr>
              <a:t>(</a:t>
            </a:r>
            <a:r>
              <a:rPr lang="hu-HU" sz="1600" dirty="0" err="1">
                <a:latin typeface="Book Antiqua" panose="02040602050305030304" pitchFamily="18" charset="0"/>
              </a:rPr>
              <a:t>accumulates</a:t>
            </a:r>
            <a:r>
              <a:rPr lang="hu-HU" sz="1600" dirty="0">
                <a:latin typeface="Book Antiqua" panose="02040602050305030304" pitchFamily="18" charset="0"/>
              </a:rPr>
              <a:t> in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fractures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rock)</a:t>
            </a:r>
            <a:endParaRPr lang="en-GB" sz="1600" dirty="0">
              <a:latin typeface="Book Antiqua" panose="02040602050305030304" pitchFamily="18" charset="0"/>
            </a:endParaRPr>
          </a:p>
        </p:txBody>
      </p:sp>
      <p:cxnSp>
        <p:nvCxnSpPr>
          <p:cNvPr id="7" name="Egyenes összekötő nyíllal 6"/>
          <p:cNvCxnSpPr/>
          <p:nvPr/>
        </p:nvCxnSpPr>
        <p:spPr>
          <a:xfrm flipV="1">
            <a:off x="4128655" y="3334327"/>
            <a:ext cx="1755864" cy="3085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Csoportba foglalás 14"/>
          <p:cNvGrpSpPr/>
          <p:nvPr/>
        </p:nvGrpSpPr>
        <p:grpSpPr>
          <a:xfrm>
            <a:off x="1166458" y="4315713"/>
            <a:ext cx="3010476" cy="397725"/>
            <a:chOff x="457200" y="3040567"/>
            <a:chExt cx="2363999" cy="397725"/>
          </a:xfrm>
        </p:grpSpPr>
        <p:sp>
          <p:nvSpPr>
            <p:cNvPr id="16" name="Szövegdoboz 15"/>
            <p:cNvSpPr txBox="1"/>
            <p:nvPr/>
          </p:nvSpPr>
          <p:spPr>
            <a:xfrm>
              <a:off x="457200" y="3068960"/>
              <a:ext cx="8272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>
                  <a:latin typeface="Book Antiqua" panose="02040602050305030304" pitchFamily="18" charset="0"/>
                </a:rPr>
                <a:t>Method</a:t>
              </a:r>
              <a:r>
                <a:rPr lang="hu-HU" dirty="0">
                  <a:latin typeface="+mn-lt"/>
                </a:rPr>
                <a:t>:</a:t>
              </a:r>
              <a:endParaRPr lang="en-US" dirty="0">
                <a:latin typeface="+mn-lt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Szövegdoboz 16"/>
                <p:cNvSpPr txBox="1"/>
                <p:nvPr/>
              </p:nvSpPr>
              <p:spPr>
                <a:xfrm>
                  <a:off x="1115616" y="3040567"/>
                  <a:ext cx="1705583" cy="38228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𝑛𝑜𝑤</m:t>
                            </m:r>
                          </m:sub>
                        </m:sSub>
                        <m:r>
                          <a:rPr lang="hu-HU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𝑖𝑛𝑖𝑡𝑖𝑎𝑙</m:t>
                            </m:r>
                          </m:sub>
                        </m:sSub>
                        <m:sSup>
                          <m:sSupPr>
                            <m:ctrlPr>
                              <a:rPr lang="hu-HU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hu-HU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hu-HU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Szövegdoboz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5616" y="3040567"/>
                  <a:ext cx="1705583" cy="382284"/>
                </a:xfrm>
                <a:prstGeom prst="rect">
                  <a:avLst/>
                </a:prstGeom>
                <a:blipFill>
                  <a:blip r:embed="rId4"/>
                  <a:stretch>
                    <a:fillRect b="-158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" name="Csoportba foglalás 17"/>
          <p:cNvGrpSpPr/>
          <p:nvPr/>
        </p:nvGrpSpPr>
        <p:grpSpPr>
          <a:xfrm>
            <a:off x="494664" y="4713438"/>
            <a:ext cx="4599336" cy="1333362"/>
            <a:chOff x="-214594" y="3438292"/>
            <a:chExt cx="4599336" cy="1333362"/>
          </a:xfrm>
        </p:grpSpPr>
        <p:cxnSp>
          <p:nvCxnSpPr>
            <p:cNvPr id="19" name="Egyenes összekötő nyíllal 18"/>
            <p:cNvCxnSpPr/>
            <p:nvPr/>
          </p:nvCxnSpPr>
          <p:spPr>
            <a:xfrm flipH="1">
              <a:off x="1115616" y="3438292"/>
              <a:ext cx="288032" cy="2787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Szövegdoboz 19"/>
            <p:cNvSpPr txBox="1"/>
            <p:nvPr/>
          </p:nvSpPr>
          <p:spPr>
            <a:xfrm>
              <a:off x="-214594" y="4125323"/>
              <a:ext cx="459933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hu-HU" dirty="0" err="1">
                  <a:latin typeface="Book Antiqua" panose="02040602050305030304" pitchFamily="18" charset="0"/>
                </a:rPr>
                <a:t>By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measuring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the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activity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i="1" dirty="0" err="1">
                  <a:latin typeface="Book Antiqua" panose="02040602050305030304" pitchFamily="18" charset="0"/>
                </a:rPr>
                <a:t>now</a:t>
              </a:r>
              <a:r>
                <a:rPr lang="hu-HU" dirty="0">
                  <a:latin typeface="Book Antiqua" panose="02040602050305030304" pitchFamily="18" charset="0"/>
                </a:rPr>
                <a:t>,</a:t>
              </a:r>
            </a:p>
            <a:p>
              <a:r>
                <a:rPr lang="hu-HU" dirty="0" err="1">
                  <a:latin typeface="Book Antiqua" panose="02040602050305030304" pitchFamily="18" charset="0"/>
                </a:rPr>
                <a:t>deduce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the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uranium</a:t>
              </a:r>
              <a:r>
                <a:rPr lang="hu-HU" dirty="0">
                  <a:latin typeface="Book Antiqua" panose="02040602050305030304" pitchFamily="18" charset="0"/>
                </a:rPr>
                <a:t>/</a:t>
              </a:r>
              <a:r>
                <a:rPr lang="hu-HU" dirty="0" err="1">
                  <a:latin typeface="Book Antiqua" panose="02040602050305030304" pitchFamily="18" charset="0"/>
                </a:rPr>
                <a:t>thorium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dirty="0" err="1">
                  <a:latin typeface="Book Antiqua" panose="02040602050305030304" pitchFamily="18" charset="0"/>
                </a:rPr>
                <a:t>amount</a:t>
              </a:r>
              <a:r>
                <a:rPr lang="hu-HU" dirty="0">
                  <a:latin typeface="Book Antiqua" panose="02040602050305030304" pitchFamily="18" charset="0"/>
                </a:rPr>
                <a:t> </a:t>
              </a:r>
              <a:r>
                <a:rPr lang="hu-HU" i="1" dirty="0" err="1">
                  <a:latin typeface="Book Antiqua" panose="02040602050305030304" pitchFamily="18" charset="0"/>
                </a:rPr>
                <a:t>now</a:t>
              </a:r>
              <a:endParaRPr lang="en-US" i="1" dirty="0">
                <a:latin typeface="Book Antiqua" panose="02040602050305030304" pitchFamily="18" charset="0"/>
              </a:endParaRPr>
            </a:p>
          </p:txBody>
        </p:sp>
      </p:grpSp>
      <p:grpSp>
        <p:nvGrpSpPr>
          <p:cNvPr id="21" name="Csoportba foglalás 20"/>
          <p:cNvGrpSpPr/>
          <p:nvPr/>
        </p:nvGrpSpPr>
        <p:grpSpPr>
          <a:xfrm>
            <a:off x="3337042" y="4713438"/>
            <a:ext cx="1756958" cy="648072"/>
            <a:chOff x="2627784" y="3438292"/>
            <a:chExt cx="1756958" cy="648072"/>
          </a:xfrm>
        </p:grpSpPr>
        <p:cxnSp>
          <p:nvCxnSpPr>
            <p:cNvPr id="22" name="Egyenes összekötő nyíllal 21"/>
            <p:cNvCxnSpPr/>
            <p:nvPr/>
          </p:nvCxnSpPr>
          <p:spPr>
            <a:xfrm>
              <a:off x="2627784" y="3438292"/>
              <a:ext cx="288032" cy="27874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Szövegdoboz 22"/>
                <p:cNvSpPr txBox="1"/>
                <p:nvPr/>
              </p:nvSpPr>
              <p:spPr>
                <a:xfrm>
                  <a:off x="2771800" y="3717032"/>
                  <a:ext cx="16129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hu-HU" dirty="0">
                      <a:latin typeface="+mn-lt"/>
                    </a:rPr>
                    <a:t>=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hu-H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𝑛𝑜𝑤</m:t>
                          </m:r>
                        </m:sub>
                      </m:sSub>
                      <m:r>
                        <a:rPr lang="hu-HU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u-HU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hu-HU" b="0" i="1" smtClean="0">
                              <a:latin typeface="Cambria Math" panose="02040503050406030204" pitchFamily="18" charset="0"/>
                            </a:rPr>
                            <m:t>𝑙𝑒𝑎𝑑</m:t>
                          </m:r>
                        </m:sub>
                      </m:sSub>
                    </m:oMath>
                  </a14:m>
                  <a:endParaRPr lang="en-US" dirty="0">
                    <a:latin typeface="+mn-lt"/>
                  </a:endParaRPr>
                </a:p>
              </p:txBody>
            </p:sp>
          </mc:Choice>
          <mc:Fallback xmlns="">
            <p:sp>
              <p:nvSpPr>
                <p:cNvPr id="23" name="Szövegdoboz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71800" y="3717032"/>
                  <a:ext cx="1612942" cy="369332"/>
                </a:xfrm>
                <a:prstGeom prst="rect">
                  <a:avLst/>
                </a:prstGeom>
                <a:blipFill>
                  <a:blip r:embed="rId5"/>
                  <a:stretch>
                    <a:fillRect l="-3019" t="-9836" b="-24590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églalap 23"/>
          <p:cNvSpPr/>
          <p:nvPr/>
        </p:nvSpPr>
        <p:spPr>
          <a:xfrm>
            <a:off x="454944" y="4190496"/>
            <a:ext cx="4791311" cy="1939636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ED354D8C-65B2-BA1B-8146-918F0CBF3764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096000" y="4992178"/>
            <a:ext cx="1282177" cy="504000"/>
          </a:xfrm>
          <a:prstGeom prst="rect">
            <a:avLst/>
          </a:prstGeom>
          <a:ln w="28575">
            <a:solidFill>
              <a:srgbClr val="FFC000"/>
            </a:solidFill>
          </a:ln>
        </p:spPr>
      </p:pic>
    </p:spTree>
    <p:extLst>
      <p:ext uri="{BB962C8B-B14F-4D97-AF65-F5344CB8AC3E}">
        <p14:creationId xmlns:p14="http://schemas.microsoft.com/office/powerpoint/2010/main" val="39689461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171DF-D572-6E68-B0C6-D66DD4DC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2D6803F6-DD09-0009-3DB5-0C68E759B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>
                <a:latin typeface="Book Antiqua" panose="02040602050305030304" pitchFamily="18" charset="0"/>
              </a:rPr>
              <a:t>Natural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radioactivty</a:t>
            </a:r>
            <a:r>
              <a:rPr lang="hu-HU" dirty="0">
                <a:latin typeface="Book Antiqua" panose="02040602050305030304" pitchFamily="18" charset="0"/>
              </a:rPr>
              <a:t>: </a:t>
            </a:r>
            <a:r>
              <a:rPr lang="hu-HU" dirty="0" err="1">
                <a:latin typeface="Book Antiqua" panose="02040602050305030304" pitchFamily="18" charset="0"/>
              </a:rPr>
              <a:t>decay</a:t>
            </a:r>
            <a:r>
              <a:rPr lang="hu-HU" dirty="0">
                <a:latin typeface="Book Antiqua" panose="02040602050305030304" pitchFamily="18" charset="0"/>
              </a:rPr>
              <a:t> </a:t>
            </a:r>
            <a:r>
              <a:rPr lang="hu-HU" dirty="0" err="1">
                <a:latin typeface="Book Antiqua" panose="02040602050305030304" pitchFamily="18" charset="0"/>
              </a:rPr>
              <a:t>chains</a:t>
            </a:r>
            <a:endParaRPr lang="hu-HU" dirty="0">
              <a:latin typeface="Book Antiqua" panose="02040602050305030304" pitchFamily="18" charset="0"/>
            </a:endParaRPr>
          </a:p>
        </p:txBody>
      </p:sp>
      <p:pic>
        <p:nvPicPr>
          <p:cNvPr id="8" name="Kép 7">
            <a:extLst>
              <a:ext uri="{FF2B5EF4-FFF2-40B4-BE49-F238E27FC236}">
                <a16:creationId xmlns:a16="http://schemas.microsoft.com/office/drawing/2014/main" id="{6A2DF8A6-FACA-1527-41D6-9ED1B6E36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8559" y="2143844"/>
            <a:ext cx="8515841" cy="3852000"/>
          </a:xfrm>
          <a:prstGeom prst="rect">
            <a:avLst/>
          </a:prstGeom>
        </p:spPr>
      </p:pic>
      <p:cxnSp>
        <p:nvCxnSpPr>
          <p:cNvPr id="3" name="Egyenes összekötő nyíllal 2">
            <a:extLst>
              <a:ext uri="{FF2B5EF4-FFF2-40B4-BE49-F238E27FC236}">
                <a16:creationId xmlns:a16="http://schemas.microsoft.com/office/drawing/2014/main" id="{9C720175-5C6C-D48F-B4BD-E9246FC60103}"/>
              </a:ext>
            </a:extLst>
          </p:cNvPr>
          <p:cNvCxnSpPr/>
          <p:nvPr/>
        </p:nvCxnSpPr>
        <p:spPr>
          <a:xfrm flipH="1" flipV="1">
            <a:off x="1163782" y="4396509"/>
            <a:ext cx="1145310" cy="2170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zövegdoboz 4">
            <a:extLst>
              <a:ext uri="{FF2B5EF4-FFF2-40B4-BE49-F238E27FC236}">
                <a16:creationId xmlns:a16="http://schemas.microsoft.com/office/drawing/2014/main" id="{EBCB4417-FCDA-D6A0-2A7F-CBB8E560E26C}"/>
              </a:ext>
            </a:extLst>
          </p:cNvPr>
          <p:cNvSpPr txBox="1"/>
          <p:nvPr/>
        </p:nvSpPr>
        <p:spPr>
          <a:xfrm>
            <a:off x="7139709" y="5837382"/>
            <a:ext cx="11833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</a:t>
            </a:r>
            <a:r>
              <a:rPr lang="hu-HU" sz="24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p</a:t>
            </a:r>
            <a:r>
              <a:rPr lang="hu-HU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&gt;&gt;</a:t>
            </a:r>
            <a:r>
              <a:rPr lang="hu-HU" sz="24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T</a:t>
            </a:r>
            <a:r>
              <a:rPr lang="hu-HU" sz="2400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</a:rPr>
              <a:t>d</a:t>
            </a:r>
            <a:endParaRPr lang="en-GB" sz="2400" baseline="-2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</a:endParaRPr>
          </a:p>
        </p:txBody>
      </p:sp>
      <p:sp>
        <p:nvSpPr>
          <p:cNvPr id="6" name="Ellipszis 5">
            <a:extLst>
              <a:ext uri="{FF2B5EF4-FFF2-40B4-BE49-F238E27FC236}">
                <a16:creationId xmlns:a16="http://schemas.microsoft.com/office/drawing/2014/main" id="{E2CFAFA6-E722-0454-C1FB-15B730DB1A88}"/>
              </a:ext>
            </a:extLst>
          </p:cNvPr>
          <p:cNvSpPr/>
          <p:nvPr/>
        </p:nvSpPr>
        <p:spPr>
          <a:xfrm>
            <a:off x="6834909" y="4396509"/>
            <a:ext cx="1801091" cy="43410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CC01EB37-159B-1020-73A7-E752AB11B93F}"/>
              </a:ext>
            </a:extLst>
          </p:cNvPr>
          <p:cNvSpPr txBox="1"/>
          <p:nvPr/>
        </p:nvSpPr>
        <p:spPr>
          <a:xfrm>
            <a:off x="0" y="4206166"/>
            <a:ext cx="1702304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b="1" dirty="0" err="1">
                <a:latin typeface="Book Antiqua" panose="02040602050305030304" pitchFamily="18" charset="0"/>
              </a:rPr>
              <a:t>Artificial</a:t>
            </a:r>
            <a:r>
              <a:rPr lang="hu-HU" dirty="0">
                <a:latin typeface="Book Antiqua" panose="02040602050305030304" pitchFamily="18" charset="0"/>
              </a:rPr>
              <a:t>,</a:t>
            </a:r>
          </a:p>
          <a:p>
            <a:r>
              <a:rPr lang="hu-HU" sz="1600" dirty="0" err="1">
                <a:latin typeface="Book Antiqua" panose="02040602050305030304" pitchFamily="18" charset="0"/>
              </a:rPr>
              <a:t>those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formed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at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birth</a:t>
            </a:r>
            <a:r>
              <a:rPr lang="hu-HU" sz="1600" dirty="0">
                <a:latin typeface="Book Antiqua" panose="02040602050305030304" pitchFamily="18" charset="0"/>
              </a:rPr>
              <a:t> of </a:t>
            </a:r>
            <a:r>
              <a:rPr lang="hu-HU" sz="1600" dirty="0" err="1">
                <a:latin typeface="Book Antiqua" panose="02040602050305030304" pitchFamily="18" charset="0"/>
              </a:rPr>
              <a:t>the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Earth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already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decayed</a:t>
            </a:r>
            <a:r>
              <a:rPr lang="hu-HU" sz="1600" dirty="0">
                <a:latin typeface="Book Antiqua" panose="02040602050305030304" pitchFamily="18" charset="0"/>
              </a:rPr>
              <a:t> </a:t>
            </a:r>
            <a:r>
              <a:rPr lang="hu-HU" sz="1600" dirty="0" err="1">
                <a:latin typeface="Book Antiqua" panose="02040602050305030304" pitchFamily="18" charset="0"/>
              </a:rPr>
              <a:t>away</a:t>
            </a:r>
            <a:endParaRPr lang="hu-HU" sz="1600" dirty="0">
              <a:latin typeface="Book Antiqua" panose="02040602050305030304" pitchFamily="18" charset="0"/>
            </a:endParaRPr>
          </a:p>
          <a:p>
            <a:endParaRPr lang="hu-HU" sz="1600" dirty="0">
              <a:latin typeface="Book Antiqua" panose="02040602050305030304" pitchFamily="18" charset="0"/>
            </a:endParaRPr>
          </a:p>
          <a:p>
            <a:r>
              <a:rPr lang="hu-HU" sz="1600" u="sng" dirty="0" err="1">
                <a:latin typeface="Book Antiqua" panose="02040602050305030304" pitchFamily="18" charset="0"/>
              </a:rPr>
              <a:t>Question</a:t>
            </a:r>
            <a:r>
              <a:rPr lang="hu-HU" sz="1600" dirty="0">
                <a:latin typeface="Book Antiqua" panose="02040602050305030304" pitchFamily="18" charset="0"/>
              </a:rPr>
              <a:t>: </a:t>
            </a:r>
            <a:r>
              <a:rPr lang="hu-HU" sz="1600" i="1" dirty="0" err="1">
                <a:latin typeface="Book Antiqua" panose="02040602050305030304" pitchFamily="18" charset="0"/>
              </a:rPr>
              <a:t>age</a:t>
            </a:r>
            <a:r>
              <a:rPr lang="hu-HU" sz="1600" i="1" dirty="0">
                <a:latin typeface="Book Antiqua" panose="02040602050305030304" pitchFamily="18" charset="0"/>
              </a:rPr>
              <a:t> of </a:t>
            </a:r>
            <a:r>
              <a:rPr lang="hu-HU" sz="1600" i="1" dirty="0" err="1">
                <a:latin typeface="Book Antiqua" panose="02040602050305030304" pitchFamily="18" charset="0"/>
              </a:rPr>
              <a:t>the</a:t>
            </a:r>
            <a:r>
              <a:rPr lang="hu-HU" sz="1600" i="1" dirty="0">
                <a:latin typeface="Book Antiqua" panose="02040602050305030304" pitchFamily="18" charset="0"/>
              </a:rPr>
              <a:t> </a:t>
            </a:r>
            <a:r>
              <a:rPr lang="hu-HU" sz="1600" i="1" dirty="0" err="1">
                <a:latin typeface="Book Antiqua" panose="02040602050305030304" pitchFamily="18" charset="0"/>
              </a:rPr>
              <a:t>Earth</a:t>
            </a:r>
            <a:r>
              <a:rPr lang="hu-HU" sz="1600" i="1" dirty="0">
                <a:latin typeface="Book Antiqua" panose="02040602050305030304" pitchFamily="18" charset="0"/>
              </a:rPr>
              <a:t>?</a:t>
            </a:r>
            <a:endParaRPr lang="en-GB" sz="1600" i="1" dirty="0">
              <a:latin typeface="Book Antiqua" panose="02040602050305030304" pitchFamily="18" charset="0"/>
            </a:endParaRPr>
          </a:p>
        </p:txBody>
      </p:sp>
      <p:cxnSp>
        <p:nvCxnSpPr>
          <p:cNvPr id="13" name="Egyenes összekötő nyíllal 12">
            <a:extLst>
              <a:ext uri="{FF2B5EF4-FFF2-40B4-BE49-F238E27FC236}">
                <a16:creationId xmlns:a16="http://schemas.microsoft.com/office/drawing/2014/main" id="{A1C5F198-F49D-4A3D-CED2-48FDAD9FB109}"/>
              </a:ext>
            </a:extLst>
          </p:cNvPr>
          <p:cNvCxnSpPr/>
          <p:nvPr/>
        </p:nvCxnSpPr>
        <p:spPr>
          <a:xfrm flipH="1">
            <a:off x="9541164" y="3574473"/>
            <a:ext cx="1330036" cy="563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Egyenes összekötő nyíllal 13">
            <a:extLst>
              <a:ext uri="{FF2B5EF4-FFF2-40B4-BE49-F238E27FC236}">
                <a16:creationId xmlns:a16="http://schemas.microsoft.com/office/drawing/2014/main" id="{1805FEAB-61CF-E674-C491-468C389357E5}"/>
              </a:ext>
            </a:extLst>
          </p:cNvPr>
          <p:cNvCxnSpPr/>
          <p:nvPr/>
        </p:nvCxnSpPr>
        <p:spPr>
          <a:xfrm flipH="1">
            <a:off x="9541164" y="3574473"/>
            <a:ext cx="1315236" cy="10390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gyenes összekötő nyíllal 14">
            <a:extLst>
              <a:ext uri="{FF2B5EF4-FFF2-40B4-BE49-F238E27FC236}">
                <a16:creationId xmlns:a16="http://schemas.microsoft.com/office/drawing/2014/main" id="{F8311B54-E757-6533-0B0D-76E14FD46E55}"/>
              </a:ext>
            </a:extLst>
          </p:cNvPr>
          <p:cNvCxnSpPr/>
          <p:nvPr/>
        </p:nvCxnSpPr>
        <p:spPr>
          <a:xfrm flipH="1">
            <a:off x="9541164" y="3583709"/>
            <a:ext cx="1330036" cy="155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gyenes összekötő nyíllal 15">
            <a:extLst>
              <a:ext uri="{FF2B5EF4-FFF2-40B4-BE49-F238E27FC236}">
                <a16:creationId xmlns:a16="http://schemas.microsoft.com/office/drawing/2014/main" id="{0B3B10BC-6870-260E-A896-109FF43389B5}"/>
              </a:ext>
            </a:extLst>
          </p:cNvPr>
          <p:cNvCxnSpPr/>
          <p:nvPr/>
        </p:nvCxnSpPr>
        <p:spPr>
          <a:xfrm flipH="1">
            <a:off x="9541164" y="3583709"/>
            <a:ext cx="1315236" cy="19581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Szövegdoboz 19">
            <a:extLst>
              <a:ext uri="{FF2B5EF4-FFF2-40B4-BE49-F238E27FC236}">
                <a16:creationId xmlns:a16="http://schemas.microsoft.com/office/drawing/2014/main" id="{2E495634-2F3C-1EA3-F375-C2CC46E3BD82}"/>
              </a:ext>
            </a:extLst>
          </p:cNvPr>
          <p:cNvSpPr txBox="1"/>
          <p:nvPr/>
        </p:nvSpPr>
        <p:spPr>
          <a:xfrm>
            <a:off x="10860116" y="2937378"/>
            <a:ext cx="1157799" cy="646331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u-HU" b="1" dirty="0" err="1">
                <a:latin typeface="Book Antiqua" panose="02040602050305030304" pitchFamily="18" charset="0"/>
              </a:rPr>
              <a:t>stable</a:t>
            </a:r>
            <a:r>
              <a:rPr lang="hu-HU" b="1" dirty="0">
                <a:latin typeface="Book Antiqua" panose="02040602050305030304" pitchFamily="18" charset="0"/>
              </a:rPr>
              <a:t> </a:t>
            </a:r>
            <a:r>
              <a:rPr lang="hu-HU" b="1" dirty="0" err="1">
                <a:latin typeface="Book Antiqua" panose="02040602050305030304" pitchFamily="18" charset="0"/>
              </a:rPr>
              <a:t>isotopes</a:t>
            </a:r>
            <a:endParaRPr lang="en-GB" sz="1600" dirty="0">
              <a:latin typeface="Book Antiqua" panose="02040602050305030304" pitchFamily="18" charset="0"/>
            </a:endParaRPr>
          </a:p>
        </p:txBody>
      </p:sp>
      <p:sp>
        <p:nvSpPr>
          <p:cNvPr id="22" name="Ellipszis 21">
            <a:extLst>
              <a:ext uri="{FF2B5EF4-FFF2-40B4-BE49-F238E27FC236}">
                <a16:creationId xmlns:a16="http://schemas.microsoft.com/office/drawing/2014/main" id="{914A35E5-0FAB-E7B3-3345-7E5D8E9B60F8}"/>
              </a:ext>
            </a:extLst>
          </p:cNvPr>
          <p:cNvSpPr/>
          <p:nvPr/>
        </p:nvSpPr>
        <p:spPr>
          <a:xfrm>
            <a:off x="5763491" y="4613563"/>
            <a:ext cx="286327" cy="217055"/>
          </a:xfrm>
          <a:prstGeom prst="ellipse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Egyenes összekötő nyíllal 23">
            <a:extLst>
              <a:ext uri="{FF2B5EF4-FFF2-40B4-BE49-F238E27FC236}">
                <a16:creationId xmlns:a16="http://schemas.microsoft.com/office/drawing/2014/main" id="{EB045FC0-E125-7553-0B98-B3C4B6A3905C}"/>
              </a:ext>
            </a:extLst>
          </p:cNvPr>
          <p:cNvCxnSpPr/>
          <p:nvPr/>
        </p:nvCxnSpPr>
        <p:spPr>
          <a:xfrm flipH="1">
            <a:off x="4913745" y="4722090"/>
            <a:ext cx="849746" cy="1447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Szövegdoboz 24">
            <a:extLst>
              <a:ext uri="{FF2B5EF4-FFF2-40B4-BE49-F238E27FC236}">
                <a16:creationId xmlns:a16="http://schemas.microsoft.com/office/drawing/2014/main" id="{C2FA0070-4360-6620-5A81-E61D6231E47B}"/>
              </a:ext>
            </a:extLst>
          </p:cNvPr>
          <p:cNvSpPr txBox="1"/>
          <p:nvPr/>
        </p:nvSpPr>
        <p:spPr>
          <a:xfrm>
            <a:off x="4239491" y="6068214"/>
            <a:ext cx="1111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1400" b="1" dirty="0" err="1">
                <a:latin typeface="Book Antiqua" panose="02040602050305030304" pitchFamily="18" charset="0"/>
              </a:rPr>
              <a:t>transuranic</a:t>
            </a:r>
            <a:endParaRPr lang="en-GB" sz="1400" b="1" dirty="0">
              <a:latin typeface="Book Antiqua" panose="02040602050305030304" pitchFamily="18" charset="0"/>
            </a:endParaRPr>
          </a:p>
        </p:txBody>
      </p:sp>
      <p:sp>
        <p:nvSpPr>
          <p:cNvPr id="2" name="Dia számának helye 1">
            <a:extLst>
              <a:ext uri="{FF2B5EF4-FFF2-40B4-BE49-F238E27FC236}">
                <a16:creationId xmlns:a16="http://schemas.microsoft.com/office/drawing/2014/main" id="{AA4BB88D-922A-CE92-8370-8E23FC99E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78846-98C1-4CBB-9575-B60993681694}" type="slidenum">
              <a:rPr lang="hu-HU" smtClean="0"/>
              <a:t>42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8979700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ktív">
  <a:themeElements>
    <a:clrScheme name="Retrospektív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ktív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ktív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um" ma:contentTypeID="0x0101001B3E10AA5B80CD4885EA0AE04886A9F5" ma:contentTypeVersion="3" ma:contentTypeDescription="Új dokumentum létrehozása." ma:contentTypeScope="" ma:versionID="58ba66a0da093d612f4cd75eaa4a3d4a">
  <xsd:schema xmlns:xsd="http://www.w3.org/2001/XMLSchema" xmlns:xs="http://www.w3.org/2001/XMLSchema" xmlns:p="http://schemas.microsoft.com/office/2006/metadata/properties" xmlns:ns2="ee138512-9a21-4812-8e5b-b5d0b46c1427" targetNamespace="http://schemas.microsoft.com/office/2006/metadata/properties" ma:root="true" ma:fieldsID="bda5854082841e825aae2f06d3ea2134" ns2:_="">
    <xsd:import namespace="ee138512-9a21-4812-8e5b-b5d0b46c14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138512-9a21-4812-8e5b-b5d0b46c1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artalomtípus"/>
        <xsd:element ref="dc:title" minOccurs="0" maxOccurs="1" ma:index="4" ma:displayName="Cím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811E7C0-8C4E-4B09-8A56-8BA2E17A5748}">
  <ds:schemaRefs>
    <ds:schemaRef ds:uri="http://schemas.microsoft.com/office/2006/metadata/properties"/>
    <ds:schemaRef ds:uri="http://schemas.microsoft.com/office/2006/documentManagement/types"/>
    <ds:schemaRef ds:uri="http://purl.org/dc/terms/"/>
    <ds:schemaRef ds:uri="e2f0a066-e613-4458-8822-cdd47c716d51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D5FDFB6B-13A1-4E7B-B446-599326A413CD}"/>
</file>

<file path=customXml/itemProps3.xml><?xml version="1.0" encoding="utf-8"?>
<ds:datastoreItem xmlns:ds="http://schemas.openxmlformats.org/officeDocument/2006/customXml" ds:itemID="{EADF7A1B-D765-4FEB-926A-8B3ADFB9B3E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8810</TotalTime>
  <Words>2258</Words>
  <Application>Microsoft Office PowerPoint</Application>
  <PresentationFormat>Szélesvásznú</PresentationFormat>
  <Paragraphs>441</Paragraphs>
  <Slides>42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42</vt:i4>
      </vt:variant>
    </vt:vector>
  </HeadingPairs>
  <TitlesOfParts>
    <vt:vector size="52" baseType="lpstr">
      <vt:lpstr>Arial</vt:lpstr>
      <vt:lpstr>Book Antiqua</vt:lpstr>
      <vt:lpstr>Calibri</vt:lpstr>
      <vt:lpstr>Calibri Light</vt:lpstr>
      <vt:lpstr>Cambria Math</vt:lpstr>
      <vt:lpstr>Open Sans</vt:lpstr>
      <vt:lpstr>Symbol</vt:lpstr>
      <vt:lpstr>Times New Roman</vt:lpstr>
      <vt:lpstr>Wingdings</vt:lpstr>
      <vt:lpstr>Retrospektív</vt:lpstr>
      <vt:lpstr>Lecture 13:  Radioactive decay</vt:lpstr>
      <vt:lpstr>Outline</vt:lpstr>
      <vt:lpstr>The valley of stability</vt:lpstr>
      <vt:lpstr>PowerPoint-bemutató</vt:lpstr>
      <vt:lpstr>Energy valley</vt:lpstr>
      <vt:lpstr>Energy valley</vt:lpstr>
      <vt:lpstr>Energy valley</vt:lpstr>
      <vt:lpstr>Energy valley</vt:lpstr>
      <vt:lpstr>Energy valley</vt:lpstr>
      <vt:lpstr>Energy valley</vt:lpstr>
      <vt:lpstr>Radioactive decay modes</vt:lpstr>
      <vt:lpstr>Conserved quantities</vt:lpstr>
      <vt:lpstr>Alpha decay (indtroduction)</vt:lpstr>
      <vt:lpstr>Alpha decay (indtroduction)</vt:lpstr>
      <vt:lpstr>Alpha decay (indtroduction)</vt:lpstr>
      <vt:lpstr>Alpha decay (indtroduction)</vt:lpstr>
      <vt:lpstr>Alpha decay (indtroduction)</vt:lpstr>
      <vt:lpstr>Alpha decay (indtroduction)</vt:lpstr>
      <vt:lpstr>Beta decay</vt:lpstr>
      <vt:lpstr>Beta decay</vt:lpstr>
      <vt:lpstr>Beta decay</vt:lpstr>
      <vt:lpstr>Beta decay</vt:lpstr>
      <vt:lpstr>PowerPoint-bemutató</vt:lpstr>
      <vt:lpstr>Beta decay as a weak interaction</vt:lpstr>
      <vt:lpstr>Beta decay</vt:lpstr>
      <vt:lpstr>Gamma decay</vt:lpstr>
      <vt:lpstr>PowerPoint-bemutató</vt:lpstr>
      <vt:lpstr>Quiz</vt:lpstr>
      <vt:lpstr>Statistical properties of radioactivity</vt:lpstr>
      <vt:lpstr>Exponential decay law</vt:lpstr>
      <vt:lpstr>Exponential decay law</vt:lpstr>
      <vt:lpstr>Exponential decay law</vt:lpstr>
      <vt:lpstr>Exponential decay law</vt:lpstr>
      <vt:lpstr>Natural radioactivty: decay chains</vt:lpstr>
      <vt:lpstr>Natural radioactivty: decay chains</vt:lpstr>
      <vt:lpstr>Natural radioactivty: decay chains</vt:lpstr>
      <vt:lpstr>Application: radioactive dating</vt:lpstr>
      <vt:lpstr>Application: radioactive dating</vt:lpstr>
      <vt:lpstr>PowerPoint-bemutató</vt:lpstr>
      <vt:lpstr>Application: radioactive dating</vt:lpstr>
      <vt:lpstr>Application: radioactive dating</vt:lpstr>
      <vt:lpstr>Natural radioactivty: decay chains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13:  Radioactive decay</dc:title>
  <dc:creator>Szilvási Réka</dc:creator>
  <cp:lastModifiedBy>Dr. Szilvási Réka</cp:lastModifiedBy>
  <cp:revision>161</cp:revision>
  <dcterms:created xsi:type="dcterms:W3CDTF">2025-04-09T10:24:47Z</dcterms:created>
  <dcterms:modified xsi:type="dcterms:W3CDTF">2026-05-10T19:00:42Z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0x0101001B3E10AA5B80CD4885EA0AE04886A9F5</vt:lpwstr>
  </property>
</Properties>
</file>