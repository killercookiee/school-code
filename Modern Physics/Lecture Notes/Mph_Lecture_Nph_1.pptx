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75"/>
  </p:notesMasterIdLst>
  <p:sldIdLst>
    <p:sldId id="256" r:id="rId5"/>
    <p:sldId id="263" r:id="rId6"/>
    <p:sldId id="268" r:id="rId7"/>
    <p:sldId id="266" r:id="rId8"/>
    <p:sldId id="267" r:id="rId9"/>
    <p:sldId id="265" r:id="rId10"/>
    <p:sldId id="269" r:id="rId11"/>
    <p:sldId id="270" r:id="rId12"/>
    <p:sldId id="271" r:id="rId13"/>
    <p:sldId id="289" r:id="rId14"/>
    <p:sldId id="258" r:id="rId15"/>
    <p:sldId id="286" r:id="rId16"/>
    <p:sldId id="293" r:id="rId17"/>
    <p:sldId id="294" r:id="rId18"/>
    <p:sldId id="296" r:id="rId19"/>
    <p:sldId id="298" r:id="rId20"/>
    <p:sldId id="299" r:id="rId21"/>
    <p:sldId id="300" r:id="rId22"/>
    <p:sldId id="285" r:id="rId23"/>
    <p:sldId id="259" r:id="rId24"/>
    <p:sldId id="301" r:id="rId25"/>
    <p:sldId id="302" r:id="rId26"/>
    <p:sldId id="303" r:id="rId27"/>
    <p:sldId id="279" r:id="rId28"/>
    <p:sldId id="283" r:id="rId29"/>
    <p:sldId id="284" r:id="rId30"/>
    <p:sldId id="280" r:id="rId31"/>
    <p:sldId id="281" r:id="rId32"/>
    <p:sldId id="277" r:id="rId33"/>
    <p:sldId id="348" r:id="rId34"/>
    <p:sldId id="346" r:id="rId35"/>
    <p:sldId id="273" r:id="rId36"/>
    <p:sldId id="304" r:id="rId37"/>
    <p:sldId id="307" r:id="rId38"/>
    <p:sldId id="305" r:id="rId39"/>
    <p:sldId id="306" r:id="rId40"/>
    <p:sldId id="308" r:id="rId41"/>
    <p:sldId id="309" r:id="rId42"/>
    <p:sldId id="311" r:id="rId43"/>
    <p:sldId id="313" r:id="rId44"/>
    <p:sldId id="318" r:id="rId45"/>
    <p:sldId id="319" r:id="rId46"/>
    <p:sldId id="321" r:id="rId47"/>
    <p:sldId id="323" r:id="rId48"/>
    <p:sldId id="344" r:id="rId49"/>
    <p:sldId id="322" r:id="rId50"/>
    <p:sldId id="324" r:id="rId51"/>
    <p:sldId id="345" r:id="rId52"/>
    <p:sldId id="326" r:id="rId53"/>
    <p:sldId id="274" r:id="rId54"/>
    <p:sldId id="327" r:id="rId55"/>
    <p:sldId id="329" r:id="rId56"/>
    <p:sldId id="331" r:id="rId57"/>
    <p:sldId id="332" r:id="rId58"/>
    <p:sldId id="333" r:id="rId59"/>
    <p:sldId id="336" r:id="rId60"/>
    <p:sldId id="290" r:id="rId61"/>
    <p:sldId id="340" r:id="rId62"/>
    <p:sldId id="341" r:id="rId63"/>
    <p:sldId id="342" r:id="rId64"/>
    <p:sldId id="339" r:id="rId65"/>
    <p:sldId id="343" r:id="rId66"/>
    <p:sldId id="337" r:id="rId67"/>
    <p:sldId id="338" r:id="rId68"/>
    <p:sldId id="350" r:id="rId69"/>
    <p:sldId id="349" r:id="rId70"/>
    <p:sldId id="310" r:id="rId71"/>
    <p:sldId id="312" r:id="rId72"/>
    <p:sldId id="320" r:id="rId73"/>
    <p:sldId id="325" r:id="rId7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826AE094-A9B7-4B0E-AFED-A8DF9B0DD398}">
          <p14:sldIdLst>
            <p14:sldId id="256"/>
            <p14:sldId id="263"/>
            <p14:sldId id="268"/>
            <p14:sldId id="266"/>
            <p14:sldId id="267"/>
            <p14:sldId id="265"/>
            <p14:sldId id="269"/>
            <p14:sldId id="270"/>
            <p14:sldId id="271"/>
            <p14:sldId id="289"/>
            <p14:sldId id="258"/>
            <p14:sldId id="286"/>
            <p14:sldId id="293"/>
            <p14:sldId id="294"/>
            <p14:sldId id="296"/>
            <p14:sldId id="298"/>
            <p14:sldId id="299"/>
            <p14:sldId id="300"/>
            <p14:sldId id="285"/>
            <p14:sldId id="259"/>
            <p14:sldId id="301"/>
            <p14:sldId id="302"/>
            <p14:sldId id="303"/>
            <p14:sldId id="279"/>
            <p14:sldId id="283"/>
            <p14:sldId id="284"/>
            <p14:sldId id="280"/>
            <p14:sldId id="281"/>
            <p14:sldId id="277"/>
            <p14:sldId id="348"/>
            <p14:sldId id="346"/>
            <p14:sldId id="273"/>
            <p14:sldId id="304"/>
            <p14:sldId id="307"/>
            <p14:sldId id="305"/>
            <p14:sldId id="306"/>
            <p14:sldId id="308"/>
            <p14:sldId id="309"/>
            <p14:sldId id="311"/>
            <p14:sldId id="313"/>
            <p14:sldId id="318"/>
            <p14:sldId id="319"/>
            <p14:sldId id="321"/>
            <p14:sldId id="323"/>
            <p14:sldId id="344"/>
            <p14:sldId id="322"/>
            <p14:sldId id="324"/>
            <p14:sldId id="345"/>
            <p14:sldId id="326"/>
            <p14:sldId id="274"/>
            <p14:sldId id="327"/>
            <p14:sldId id="329"/>
            <p14:sldId id="331"/>
            <p14:sldId id="332"/>
            <p14:sldId id="333"/>
            <p14:sldId id="336"/>
            <p14:sldId id="290"/>
            <p14:sldId id="340"/>
            <p14:sldId id="341"/>
            <p14:sldId id="342"/>
            <p14:sldId id="339"/>
            <p14:sldId id="343"/>
            <p14:sldId id="337"/>
            <p14:sldId id="338"/>
            <p14:sldId id="350"/>
            <p14:sldId id="349"/>
          </p14:sldIdLst>
        </p14:section>
        <p14:section name="Supplementary" id="{79F603F1-A8A5-461A-9B49-94AF4299E4B6}">
          <p14:sldIdLst>
            <p14:sldId id="310"/>
            <p14:sldId id="312"/>
            <p14:sldId id="320"/>
            <p14:sldId id="3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E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Közepesen sötét stílus 2 – 2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özepesen sötét stíl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Közepesen sötét stílus 2 – 5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25B97-C978-41CF-A51A-16A4E00A08DC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A8AFC-97B6-4BCE-8E38-FB25A8DBFB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655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thsese</a:t>
            </a:r>
            <a:r>
              <a:rPr lang="hu-HU" dirty="0"/>
              <a:t> </a:t>
            </a:r>
            <a:r>
              <a:rPr lang="hu-HU" dirty="0" err="1"/>
              <a:t>different</a:t>
            </a:r>
            <a:r>
              <a:rPr lang="hu-HU" dirty="0"/>
              <a:t> </a:t>
            </a:r>
            <a:r>
              <a:rPr lang="hu-HU" dirty="0" err="1"/>
              <a:t>energy</a:t>
            </a:r>
            <a:r>
              <a:rPr lang="hu-HU" dirty="0"/>
              <a:t> </a:t>
            </a:r>
            <a:r>
              <a:rPr lang="hu-HU" dirty="0" err="1"/>
              <a:t>scales</a:t>
            </a:r>
            <a:r>
              <a:rPr lang="hu-HU" dirty="0"/>
              <a:t> </a:t>
            </a:r>
            <a:r>
              <a:rPr lang="hu-HU" dirty="0" err="1"/>
              <a:t>different</a:t>
            </a:r>
            <a:r>
              <a:rPr lang="hu-HU" dirty="0"/>
              <a:t> </a:t>
            </a:r>
            <a:r>
              <a:rPr lang="hu-HU" dirty="0" err="1"/>
              <a:t>forces</a:t>
            </a:r>
            <a:r>
              <a:rPr lang="hu-HU" dirty="0"/>
              <a:t> start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dominate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16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How</a:t>
            </a:r>
            <a:r>
              <a:rPr lang="hu-HU" dirty="0"/>
              <a:t> </a:t>
            </a:r>
            <a:r>
              <a:rPr lang="hu-HU" dirty="0" err="1"/>
              <a:t>it</a:t>
            </a:r>
            <a:r>
              <a:rPr lang="hu-HU" dirty="0"/>
              <a:t> </a:t>
            </a:r>
            <a:r>
              <a:rPr lang="hu-HU" dirty="0" err="1"/>
              <a:t>all</a:t>
            </a:r>
            <a:r>
              <a:rPr lang="hu-HU" dirty="0"/>
              <a:t> </a:t>
            </a:r>
            <a:r>
              <a:rPr lang="hu-HU" dirty="0" err="1"/>
              <a:t>started</a:t>
            </a:r>
            <a:r>
              <a:rPr lang="hu-HU" dirty="0"/>
              <a:t>?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960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They</a:t>
            </a:r>
            <a:r>
              <a:rPr lang="hu-HU" dirty="0"/>
              <a:t> </a:t>
            </a:r>
            <a:r>
              <a:rPr lang="hu-HU" dirty="0" err="1"/>
              <a:t>could</a:t>
            </a:r>
            <a:r>
              <a:rPr lang="hu-HU" dirty="0"/>
              <a:t> </a:t>
            </a:r>
            <a:r>
              <a:rPr lang="hu-HU" dirty="0" err="1"/>
              <a:t>get</a:t>
            </a:r>
            <a:r>
              <a:rPr lang="hu-HU" dirty="0"/>
              <a:t> </a:t>
            </a:r>
            <a:r>
              <a:rPr lang="hu-HU" dirty="0" err="1"/>
              <a:t>flown</a:t>
            </a:r>
            <a:r>
              <a:rPr lang="hu-HU" dirty="0"/>
              <a:t> </a:t>
            </a:r>
            <a:r>
              <a:rPr lang="hu-HU" dirty="0" err="1"/>
              <a:t>away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11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It </a:t>
            </a:r>
            <a:r>
              <a:rPr lang="hu-HU" dirty="0" err="1"/>
              <a:t>was</a:t>
            </a:r>
            <a:r>
              <a:rPr lang="hu-HU" dirty="0"/>
              <a:t> </a:t>
            </a:r>
            <a:r>
              <a:rPr lang="hu-HU" dirty="0" err="1"/>
              <a:t>torture</a:t>
            </a:r>
            <a:r>
              <a:rPr lang="hu-HU" dirty="0"/>
              <a:t>……. </a:t>
            </a:r>
            <a:r>
              <a:rPr lang="hu-HU" dirty="0" err="1"/>
              <a:t>Why</a:t>
            </a:r>
            <a:r>
              <a:rPr lang="hu-HU" dirty="0"/>
              <a:t>, it </a:t>
            </a:r>
            <a:r>
              <a:rPr lang="hu-HU" dirty="0" err="1"/>
              <a:t>was</a:t>
            </a:r>
            <a:r>
              <a:rPr lang="hu-HU" dirty="0"/>
              <a:t> </a:t>
            </a:r>
            <a:r>
              <a:rPr lang="hu-HU" dirty="0" err="1"/>
              <a:t>worth</a:t>
            </a:r>
            <a:r>
              <a:rPr lang="hu-HU" dirty="0"/>
              <a:t> it, we</a:t>
            </a:r>
            <a:r>
              <a:rPr lang="hu-HU" baseline="0" dirty="0"/>
              <a:t> </a:t>
            </a:r>
            <a:r>
              <a:rPr lang="hu-HU" baseline="0" dirty="0" err="1"/>
              <a:t>might</a:t>
            </a:r>
            <a:r>
              <a:rPr lang="hu-HU" baseline="0" dirty="0"/>
              <a:t> </a:t>
            </a:r>
            <a:r>
              <a:rPr lang="hu-HU" baseline="0" dirty="0" err="1"/>
              <a:t>conclude</a:t>
            </a:r>
            <a:r>
              <a:rPr lang="hu-HU" baseline="0"/>
              <a:t>!</a:t>
            </a:r>
            <a:endParaRPr lang="en-GB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80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Diff</a:t>
            </a:r>
            <a:r>
              <a:rPr lang="hu-HU" dirty="0"/>
              <a:t>  </a:t>
            </a:r>
            <a:r>
              <a:rPr lang="hu-HU" dirty="0" err="1"/>
              <a:t>cross</a:t>
            </a:r>
            <a:r>
              <a:rPr lang="hu-HU" dirty="0"/>
              <a:t>: shows </a:t>
            </a:r>
            <a:r>
              <a:rPr lang="hu-HU" dirty="0" err="1"/>
              <a:t>us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angle</a:t>
            </a:r>
            <a:r>
              <a:rPr lang="hu-HU" dirty="0"/>
              <a:t> </a:t>
            </a:r>
            <a:r>
              <a:rPr lang="hu-HU" dirty="0" err="1"/>
              <a:t>distribution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scattered</a:t>
            </a:r>
            <a:r>
              <a:rPr lang="hu-HU" dirty="0"/>
              <a:t> </a:t>
            </a:r>
            <a:r>
              <a:rPr lang="hu-HU" dirty="0" err="1"/>
              <a:t>particles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537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Gamma </a:t>
            </a:r>
            <a:r>
              <a:rPr lang="hu-HU" dirty="0" err="1"/>
              <a:t>photons</a:t>
            </a:r>
            <a:r>
              <a:rPr lang="hu-HU" dirty="0"/>
              <a:t>: </a:t>
            </a:r>
            <a:r>
              <a:rPr lang="hu-HU" dirty="0" err="1"/>
              <a:t>photons</a:t>
            </a:r>
            <a:r>
              <a:rPr lang="hu-HU" dirty="0"/>
              <a:t> </a:t>
            </a:r>
            <a:r>
              <a:rPr lang="hu-HU" dirty="0" err="1"/>
              <a:t>coming</a:t>
            </a:r>
            <a:r>
              <a:rPr lang="hu-HU" baseline="0" dirty="0"/>
              <a:t> </a:t>
            </a:r>
            <a:r>
              <a:rPr lang="hu-HU" baseline="0" dirty="0" err="1"/>
              <a:t>from</a:t>
            </a:r>
            <a:r>
              <a:rPr lang="hu-HU" baseline="0" dirty="0"/>
              <a:t> </a:t>
            </a:r>
            <a:r>
              <a:rPr lang="hu-HU" baseline="0" dirty="0" err="1"/>
              <a:t>the</a:t>
            </a:r>
            <a:r>
              <a:rPr lang="hu-HU" baseline="0" dirty="0"/>
              <a:t> </a:t>
            </a:r>
            <a:r>
              <a:rPr lang="hu-HU" baseline="0" dirty="0" err="1"/>
              <a:t>nucleus</a:t>
            </a:r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511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Gamma </a:t>
            </a:r>
            <a:r>
              <a:rPr lang="hu-HU" dirty="0" err="1"/>
              <a:t>photons</a:t>
            </a:r>
            <a:r>
              <a:rPr lang="hu-HU" dirty="0"/>
              <a:t>: </a:t>
            </a:r>
            <a:r>
              <a:rPr lang="hu-HU" dirty="0" err="1"/>
              <a:t>photons</a:t>
            </a:r>
            <a:r>
              <a:rPr lang="hu-HU" dirty="0"/>
              <a:t> </a:t>
            </a:r>
            <a:r>
              <a:rPr lang="hu-HU" dirty="0" err="1"/>
              <a:t>coming</a:t>
            </a:r>
            <a:r>
              <a:rPr lang="hu-HU" baseline="0" dirty="0"/>
              <a:t> </a:t>
            </a:r>
            <a:r>
              <a:rPr lang="hu-HU" baseline="0" dirty="0" err="1"/>
              <a:t>from</a:t>
            </a:r>
            <a:r>
              <a:rPr lang="hu-HU" baseline="0" dirty="0"/>
              <a:t> </a:t>
            </a:r>
            <a:r>
              <a:rPr lang="hu-HU" baseline="0" dirty="0" err="1"/>
              <a:t>the</a:t>
            </a:r>
            <a:r>
              <a:rPr lang="hu-HU" baseline="0" dirty="0"/>
              <a:t> </a:t>
            </a:r>
            <a:r>
              <a:rPr lang="hu-HU" baseline="0" dirty="0" err="1"/>
              <a:t>nucleus</a:t>
            </a:r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520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Gamma </a:t>
            </a:r>
            <a:r>
              <a:rPr lang="hu-HU" dirty="0" err="1"/>
              <a:t>photons</a:t>
            </a:r>
            <a:r>
              <a:rPr lang="hu-HU" dirty="0"/>
              <a:t>: </a:t>
            </a:r>
            <a:r>
              <a:rPr lang="hu-HU" dirty="0" err="1"/>
              <a:t>photons</a:t>
            </a:r>
            <a:r>
              <a:rPr lang="hu-HU" dirty="0"/>
              <a:t> </a:t>
            </a:r>
            <a:r>
              <a:rPr lang="hu-HU" dirty="0" err="1"/>
              <a:t>coming</a:t>
            </a:r>
            <a:r>
              <a:rPr lang="hu-HU" baseline="0" dirty="0"/>
              <a:t> </a:t>
            </a:r>
            <a:r>
              <a:rPr lang="hu-HU" baseline="0" dirty="0" err="1"/>
              <a:t>from</a:t>
            </a:r>
            <a:r>
              <a:rPr lang="hu-HU" baseline="0" dirty="0"/>
              <a:t> </a:t>
            </a:r>
            <a:r>
              <a:rPr lang="hu-HU" baseline="0" dirty="0" err="1"/>
              <a:t>the</a:t>
            </a:r>
            <a:r>
              <a:rPr lang="hu-HU" baseline="0" dirty="0"/>
              <a:t> </a:t>
            </a:r>
            <a:r>
              <a:rPr lang="hu-HU" baseline="0" dirty="0" err="1"/>
              <a:t>nucleus</a:t>
            </a:r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923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We</a:t>
            </a:r>
            <a:r>
              <a:rPr lang="hu-HU" dirty="0"/>
              <a:t> love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equate</a:t>
            </a:r>
            <a:r>
              <a:rPr lang="hu-HU" dirty="0"/>
              <a:t> </a:t>
            </a:r>
            <a:r>
              <a:rPr lang="hu-HU" dirty="0" err="1"/>
              <a:t>it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1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11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A,Z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used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describe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composition</a:t>
            </a:r>
            <a:r>
              <a:rPr lang="hu-HU" dirty="0"/>
              <a:t> of </a:t>
            </a:r>
            <a:r>
              <a:rPr lang="hu-HU" dirty="0" err="1"/>
              <a:t>nuclei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924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Which</a:t>
            </a:r>
            <a:r>
              <a:rPr lang="hu-HU" dirty="0"/>
              <a:t> </a:t>
            </a:r>
            <a:r>
              <a:rPr lang="hu-HU" dirty="0" err="1"/>
              <a:t>particle</a:t>
            </a:r>
            <a:r>
              <a:rPr lang="hu-HU" dirty="0"/>
              <a:t> is </a:t>
            </a:r>
            <a:r>
              <a:rPr lang="hu-HU" dirty="0" err="1"/>
              <a:t>suitable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this</a:t>
            </a:r>
            <a:r>
              <a:rPr lang="hu-HU" dirty="0"/>
              <a:t>?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586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Nucleons</a:t>
            </a:r>
            <a:r>
              <a:rPr lang="hu-HU" dirty="0"/>
              <a:t> </a:t>
            </a:r>
            <a:r>
              <a:rPr lang="hu-HU" dirty="0" err="1"/>
              <a:t>cannot</a:t>
            </a:r>
            <a:r>
              <a:rPr lang="hu-HU" dirty="0"/>
              <a:t> </a:t>
            </a:r>
            <a:r>
              <a:rPr lang="hu-HU" dirty="0" err="1"/>
              <a:t>get</a:t>
            </a:r>
            <a:r>
              <a:rPr lang="hu-HU" dirty="0"/>
              <a:t> </a:t>
            </a:r>
            <a:r>
              <a:rPr lang="hu-HU" dirty="0" err="1"/>
              <a:t>indefinitely</a:t>
            </a:r>
            <a:r>
              <a:rPr lang="hu-HU" dirty="0"/>
              <a:t> </a:t>
            </a:r>
            <a:r>
              <a:rPr lang="hu-HU" dirty="0" err="1"/>
              <a:t>close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each</a:t>
            </a:r>
            <a:r>
              <a:rPr lang="hu-HU" dirty="0"/>
              <a:t> </a:t>
            </a:r>
            <a:r>
              <a:rPr lang="hu-HU" dirty="0" err="1"/>
              <a:t>other</a:t>
            </a:r>
            <a:r>
              <a:rPr lang="hu-HU" dirty="0"/>
              <a:t>!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206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hu-HU" dirty="0" err="1"/>
              <a:t>basic</a:t>
            </a:r>
            <a:r>
              <a:rPr lang="hu-HU" dirty="0"/>
              <a:t> idea </a:t>
            </a:r>
            <a:r>
              <a:rPr lang="hu-HU" dirty="0" err="1"/>
              <a:t>behind</a:t>
            </a:r>
            <a:r>
              <a:rPr lang="hu-HU" dirty="0"/>
              <a:t> </a:t>
            </a:r>
            <a:r>
              <a:rPr lang="hu-HU" dirty="0" err="1"/>
              <a:t>mangetic</a:t>
            </a:r>
            <a:r>
              <a:rPr lang="hu-HU" dirty="0"/>
              <a:t> </a:t>
            </a:r>
            <a:r>
              <a:rPr lang="hu-HU" dirty="0" err="1"/>
              <a:t>resonance</a:t>
            </a:r>
            <a:r>
              <a:rPr lang="hu-HU" dirty="0"/>
              <a:t> </a:t>
            </a:r>
            <a:r>
              <a:rPr lang="hu-HU" dirty="0" err="1"/>
              <a:t>imaging</a:t>
            </a:r>
            <a:r>
              <a:rPr lang="hu-HU" dirty="0"/>
              <a:t> </a:t>
            </a:r>
            <a:r>
              <a:rPr lang="hu-HU" dirty="0" err="1"/>
              <a:t>technics</a:t>
            </a:r>
            <a:r>
              <a:rPr lang="hu-HU" dirty="0"/>
              <a:t> is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nuclear</a:t>
            </a:r>
            <a:r>
              <a:rPr lang="hu-HU" dirty="0"/>
              <a:t> </a:t>
            </a:r>
            <a:r>
              <a:rPr lang="hu-HU" dirty="0" err="1"/>
              <a:t>magnetic</a:t>
            </a:r>
            <a:r>
              <a:rPr lang="hu-HU" dirty="0"/>
              <a:t> </a:t>
            </a:r>
            <a:r>
              <a:rPr lang="hu-HU" dirty="0" err="1"/>
              <a:t>moment</a:t>
            </a:r>
            <a:r>
              <a:rPr lang="hu-HU" dirty="0"/>
              <a:t>. </a:t>
            </a:r>
            <a:r>
              <a:rPr lang="hu-HU" dirty="0" err="1"/>
              <a:t>Eg</a:t>
            </a:r>
            <a:r>
              <a:rPr lang="hu-HU" dirty="0"/>
              <a:t>. </a:t>
            </a:r>
            <a:r>
              <a:rPr lang="hu-HU" dirty="0" err="1"/>
              <a:t>What</a:t>
            </a:r>
            <a:r>
              <a:rPr lang="hu-HU" dirty="0"/>
              <a:t> </a:t>
            </a:r>
            <a:r>
              <a:rPr lang="hu-HU" dirty="0" err="1"/>
              <a:t>happens</a:t>
            </a:r>
            <a:r>
              <a:rPr lang="hu-HU" dirty="0"/>
              <a:t> in  proton NMR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962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hu-HU" dirty="0" err="1"/>
              <a:t>atomic</a:t>
            </a:r>
            <a:r>
              <a:rPr lang="hu-HU" dirty="0"/>
              <a:t> </a:t>
            </a:r>
            <a:r>
              <a:rPr lang="hu-HU" dirty="0" err="1"/>
              <a:t>ionization</a:t>
            </a:r>
            <a:r>
              <a:rPr lang="hu-HU" dirty="0"/>
              <a:t> </a:t>
            </a:r>
            <a:r>
              <a:rPr lang="hu-HU" dirty="0" err="1"/>
              <a:t>energies</a:t>
            </a:r>
            <a:r>
              <a:rPr lang="hu-HU" dirty="0"/>
              <a:t> </a:t>
            </a:r>
            <a:r>
              <a:rPr lang="hu-HU" dirty="0" err="1"/>
              <a:t>range</a:t>
            </a:r>
            <a:r>
              <a:rPr lang="hu-HU" dirty="0"/>
              <a:t> </a:t>
            </a:r>
            <a:r>
              <a:rPr lang="hu-HU" dirty="0" err="1"/>
              <a:t>from</a:t>
            </a:r>
            <a:r>
              <a:rPr lang="hu-HU" dirty="0"/>
              <a:t> a </a:t>
            </a:r>
            <a:r>
              <a:rPr lang="hu-HU" dirty="0" err="1"/>
              <a:t>couple</a:t>
            </a:r>
            <a:r>
              <a:rPr lang="hu-HU" dirty="0"/>
              <a:t> of 10 eV-s </a:t>
            </a:r>
            <a:r>
              <a:rPr lang="hu-HU" dirty="0" err="1"/>
              <a:t>to</a:t>
            </a:r>
            <a:r>
              <a:rPr lang="hu-HU" dirty="0"/>
              <a:t> a 10 </a:t>
            </a:r>
            <a:r>
              <a:rPr lang="hu-HU" dirty="0" err="1"/>
              <a:t>keV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289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Every</a:t>
            </a:r>
            <a:r>
              <a:rPr lang="hu-HU" dirty="0"/>
              <a:t> </a:t>
            </a:r>
            <a:r>
              <a:rPr lang="hu-HU" dirty="0" err="1"/>
              <a:t>nucleon</a:t>
            </a:r>
            <a:r>
              <a:rPr lang="hu-HU" dirty="0"/>
              <a:t> </a:t>
            </a:r>
            <a:r>
              <a:rPr lang="hu-HU" dirty="0" err="1"/>
              <a:t>only</a:t>
            </a:r>
            <a:r>
              <a:rPr lang="hu-HU" dirty="0"/>
              <a:t> </a:t>
            </a:r>
            <a:r>
              <a:rPr lang="hu-HU" dirty="0" err="1"/>
              <a:t>feels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attractive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surrounding</a:t>
            </a:r>
            <a:r>
              <a:rPr lang="hu-HU" dirty="0"/>
              <a:t> </a:t>
            </a:r>
            <a:r>
              <a:rPr lang="hu-HU" dirty="0" err="1"/>
              <a:t>nucleons</a:t>
            </a:r>
            <a:r>
              <a:rPr lang="hu-HU" dirty="0"/>
              <a:t> 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5469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525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6265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When</a:t>
            </a:r>
            <a:r>
              <a:rPr lang="hu-HU" dirty="0"/>
              <a:t> a </a:t>
            </a:r>
            <a:r>
              <a:rPr lang="hu-HU" dirty="0" err="1"/>
              <a:t>nucleus</a:t>
            </a:r>
            <a:r>
              <a:rPr lang="hu-HU" dirty="0"/>
              <a:t> </a:t>
            </a:r>
            <a:r>
              <a:rPr lang="hu-HU" dirty="0" err="1"/>
              <a:t>strives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minimize</a:t>
            </a:r>
            <a:r>
              <a:rPr lang="hu-HU" dirty="0"/>
              <a:t> </a:t>
            </a:r>
            <a:r>
              <a:rPr lang="hu-HU" dirty="0" err="1"/>
              <a:t>its</a:t>
            </a:r>
            <a:r>
              <a:rPr lang="hu-HU" dirty="0"/>
              <a:t> </a:t>
            </a:r>
            <a:r>
              <a:rPr lang="hu-HU" dirty="0" err="1"/>
              <a:t>energy</a:t>
            </a:r>
            <a:r>
              <a:rPr lang="hu-HU" dirty="0"/>
              <a:t> </a:t>
            </a:r>
            <a:r>
              <a:rPr lang="hu-HU" dirty="0" err="1"/>
              <a:t>it</a:t>
            </a:r>
            <a:r>
              <a:rPr lang="hu-HU" dirty="0"/>
              <a:t> </a:t>
            </a:r>
            <a:r>
              <a:rPr lang="hu-HU" dirty="0" err="1"/>
              <a:t>wants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avoid</a:t>
            </a:r>
            <a:r>
              <a:rPr lang="hu-HU" dirty="0"/>
              <a:t> neutron </a:t>
            </a:r>
            <a:r>
              <a:rPr lang="hu-HU" dirty="0" err="1"/>
              <a:t>or</a:t>
            </a:r>
            <a:r>
              <a:rPr lang="hu-HU" dirty="0"/>
              <a:t> proton </a:t>
            </a:r>
            <a:r>
              <a:rPr lang="hu-HU" dirty="0" err="1"/>
              <a:t>excess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5898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It</a:t>
            </a:r>
            <a:r>
              <a:rPr lang="hu-HU" dirty="0"/>
              <a:t> is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first</a:t>
            </a:r>
            <a:r>
              <a:rPr lang="hu-HU" dirty="0"/>
              <a:t> </a:t>
            </a:r>
            <a:r>
              <a:rPr lang="hu-HU" dirty="0" err="1"/>
              <a:t>attempt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understand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nuclear</a:t>
            </a:r>
            <a:r>
              <a:rPr lang="hu-HU" dirty="0"/>
              <a:t> </a:t>
            </a:r>
            <a:r>
              <a:rPr lang="hu-HU" dirty="0" err="1"/>
              <a:t>fine</a:t>
            </a:r>
            <a:r>
              <a:rPr lang="hu-HU" dirty="0"/>
              <a:t> </a:t>
            </a:r>
            <a:r>
              <a:rPr lang="hu-HU" dirty="0" err="1"/>
              <a:t>structure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0840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hu-HU" dirty="0" err="1"/>
              <a:t>result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mutual</a:t>
            </a:r>
            <a:r>
              <a:rPr lang="hu-HU" dirty="0"/>
              <a:t> </a:t>
            </a:r>
            <a:r>
              <a:rPr lang="hu-HU" dirty="0" err="1"/>
              <a:t>interactions</a:t>
            </a:r>
            <a:r>
              <a:rPr lang="hu-HU" dirty="0"/>
              <a:t> </a:t>
            </a:r>
            <a:r>
              <a:rPr lang="hu-HU" dirty="0" err="1"/>
              <a:t>between</a:t>
            </a:r>
            <a:r>
              <a:rPr lang="hu-HU" dirty="0"/>
              <a:t> </a:t>
            </a:r>
            <a:r>
              <a:rPr lang="hu-HU" dirty="0" err="1"/>
              <a:t>all</a:t>
            </a:r>
            <a:r>
              <a:rPr lang="hu-HU" dirty="0"/>
              <a:t> </a:t>
            </a:r>
            <a:r>
              <a:rPr lang="hu-HU" dirty="0" err="1"/>
              <a:t>nulceons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A8AFC-97B6-4BCE-8E38-FB25A8DBFB36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825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F70D-7400-4BAC-80E7-16584520C069}" type="datetime1">
              <a:rPr lang="hu-HU" smtClean="0"/>
              <a:t>2026. 05. 05.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02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5417-C36A-4EC6-9125-0FA8D8AEF706}" type="datetime1">
              <a:rPr lang="hu-HU" smtClean="0"/>
              <a:t>2026. 05. 05.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064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B7D3-7B44-478A-88E7-504F9611D914}" type="datetime1">
              <a:rPr lang="hu-HU" smtClean="0"/>
              <a:t>2026. 05. 05.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644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7F0E-1F6D-4117-A5FD-36D22C8E2AB4}" type="datetime1">
              <a:rPr lang="hu-HU" smtClean="0"/>
              <a:t>2026. 05. 05.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093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A8AC1-6B8B-4558-8504-0689AA3D872F}" type="datetime1">
              <a:rPr lang="hu-HU" smtClean="0"/>
              <a:t>2026. 05. 05.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192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44E7A-847D-43A0-8251-58D7F573D576}" type="datetime1">
              <a:rPr lang="hu-HU" smtClean="0"/>
              <a:t>2026. 05. 05.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62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ED7B-8FEF-4076-9E32-88A51F098849}" type="datetime1">
              <a:rPr lang="hu-HU" smtClean="0"/>
              <a:t>2026. 05. 05.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176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94D7727-FEFD-4BE9-A694-0437CA1B98E4}" type="datetime1">
              <a:rPr lang="hu-HU" smtClean="0"/>
              <a:t>2026. 05. 05.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412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BA81-1CDC-41DA-9D2E-F15F4096ED49}" type="datetime1">
              <a:rPr lang="hu-HU" smtClean="0"/>
              <a:t>2026. 05. 05.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09156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5A1-F9E0-4D08-8216-2D9EBD9786F7}" type="datetime1">
              <a:rPr lang="hu-HU" smtClean="0"/>
              <a:t>2026. 05. 05.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178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0005-72DB-41FA-9D1C-70C38518197A}" type="datetime1">
              <a:rPr lang="hu-HU" smtClean="0"/>
              <a:t>2026. 05. 05.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720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EDBAE0B-A757-4F91-80C9-FE5C22BB5EB2}" type="datetime1">
              <a:rPr lang="hu-HU" smtClean="0"/>
              <a:t>2026. 05. 05.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03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515/phys-2023-0155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0.png"/><Relationship Id="rId4" Type="http://schemas.openxmlformats.org/officeDocument/2006/relationships/image" Target="../media/image2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png"/><Relationship Id="rId3" Type="http://schemas.openxmlformats.org/officeDocument/2006/relationships/image" Target="../media/image32.png"/><Relationship Id="rId7" Type="http://schemas.openxmlformats.org/officeDocument/2006/relationships/image" Target="../media/image4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5" Type="http://schemas.openxmlformats.org/officeDocument/2006/relationships/image" Target="../media/image35.jpe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46.png"/><Relationship Id="rId4" Type="http://schemas.openxmlformats.org/officeDocument/2006/relationships/image" Target="../media/image35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11" Type="http://schemas.openxmlformats.org/officeDocument/2006/relationships/image" Target="../media/image40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7" Type="http://schemas.openxmlformats.org/officeDocument/2006/relationships/image" Target="../media/image44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420.png"/><Relationship Id="rId4" Type="http://schemas.openxmlformats.org/officeDocument/2006/relationships/image" Target="../media/image4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48.png"/><Relationship Id="rId7" Type="http://schemas.openxmlformats.org/officeDocument/2006/relationships/image" Target="../media/image4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51.png"/><Relationship Id="rId4" Type="http://schemas.openxmlformats.org/officeDocument/2006/relationships/image" Target="../media/image4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51.png"/><Relationship Id="rId4" Type="http://schemas.openxmlformats.org/officeDocument/2006/relationships/image" Target="../media/image4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3.png"/><Relationship Id="rId4" Type="http://schemas.openxmlformats.org/officeDocument/2006/relationships/image" Target="../media/image7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3.png"/><Relationship Id="rId4" Type="http://schemas.openxmlformats.org/officeDocument/2006/relationships/image" Target="../media/image7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6.png"/><Relationship Id="rId5" Type="http://schemas.openxmlformats.org/officeDocument/2006/relationships/image" Target="../media/image76.png"/><Relationship Id="rId4" Type="http://schemas.openxmlformats.org/officeDocument/2006/relationships/image" Target="../media/image10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6.png"/><Relationship Id="rId5" Type="http://schemas.openxmlformats.org/officeDocument/2006/relationships/image" Target="../media/image76.png"/><Relationship Id="rId4" Type="http://schemas.openxmlformats.org/officeDocument/2006/relationships/image" Target="../media/image10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7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0.png"/><Relationship Id="rId5" Type="http://schemas.openxmlformats.org/officeDocument/2006/relationships/image" Target="../media/image311.png"/><Relationship Id="rId10" Type="http://schemas.openxmlformats.org/officeDocument/2006/relationships/image" Target="../media/image331.png"/><Relationship Id="rId4" Type="http://schemas.openxmlformats.org/officeDocument/2006/relationships/image" Target="../media/image300.png"/><Relationship Id="rId9" Type="http://schemas.openxmlformats.org/officeDocument/2006/relationships/image" Target="../media/image31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340.png"/><Relationship Id="rId7" Type="http://schemas.openxmlformats.org/officeDocument/2006/relationships/image" Target="../media/image38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0.png"/><Relationship Id="rId3" Type="http://schemas.openxmlformats.org/officeDocument/2006/relationships/image" Target="../media/image640.png"/><Relationship Id="rId7" Type="http://schemas.openxmlformats.org/officeDocument/2006/relationships/image" Target="../media/image680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0.png"/><Relationship Id="rId5" Type="http://schemas.openxmlformats.org/officeDocument/2006/relationships/image" Target="../media/image660.png"/><Relationship Id="rId10" Type="http://schemas.openxmlformats.org/officeDocument/2006/relationships/image" Target="../media/image53.png"/><Relationship Id="rId4" Type="http://schemas.openxmlformats.org/officeDocument/2006/relationships/image" Target="../media/image650.png"/><Relationship Id="rId9" Type="http://schemas.openxmlformats.org/officeDocument/2006/relationships/image" Target="../media/image70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0.png"/><Relationship Id="rId13" Type="http://schemas.openxmlformats.org/officeDocument/2006/relationships/image" Target="../media/image840.png"/><Relationship Id="rId3" Type="http://schemas.openxmlformats.org/officeDocument/2006/relationships/image" Target="../media/image730.png"/><Relationship Id="rId7" Type="http://schemas.openxmlformats.org/officeDocument/2006/relationships/image" Target="../media/image770.png"/><Relationship Id="rId12" Type="http://schemas.openxmlformats.org/officeDocument/2006/relationships/image" Target="../media/image830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60.png"/><Relationship Id="rId11" Type="http://schemas.openxmlformats.org/officeDocument/2006/relationships/image" Target="../media/image820.png"/><Relationship Id="rId5" Type="http://schemas.openxmlformats.org/officeDocument/2006/relationships/image" Target="../media/image750.png"/><Relationship Id="rId15" Type="http://schemas.openxmlformats.org/officeDocument/2006/relationships/image" Target="../media/image860.png"/><Relationship Id="rId10" Type="http://schemas.openxmlformats.org/officeDocument/2006/relationships/image" Target="../media/image810.png"/><Relationship Id="rId4" Type="http://schemas.openxmlformats.org/officeDocument/2006/relationships/image" Target="../media/image740.png"/><Relationship Id="rId9" Type="http://schemas.openxmlformats.org/officeDocument/2006/relationships/image" Target="../media/image800.png"/><Relationship Id="rId14" Type="http://schemas.openxmlformats.org/officeDocument/2006/relationships/image" Target="../media/image8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4AFE90-7400-D4AF-41D4-00BC4EFF7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374982" cy="3566160"/>
          </a:xfrm>
        </p:spPr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Lecture</a:t>
            </a:r>
            <a:r>
              <a:rPr lang="hu-HU" dirty="0">
                <a:latin typeface="Book Antiqua" panose="02040602050305030304" pitchFamily="18" charset="0"/>
              </a:rPr>
              <a:t> 12: </a:t>
            </a:r>
            <a:br>
              <a:rPr lang="hu-HU" dirty="0">
                <a:latin typeface="Book Antiqua" panose="02040602050305030304" pitchFamily="18" charset="0"/>
              </a:rPr>
            </a:br>
            <a:r>
              <a:rPr lang="hu-HU" b="1" dirty="0">
                <a:latin typeface="Book Antiqua" panose="02040602050305030304" pitchFamily="18" charset="0"/>
              </a:rPr>
              <a:t>The </a:t>
            </a:r>
            <a:r>
              <a:rPr lang="hu-HU" b="1" dirty="0" err="1">
                <a:latin typeface="Book Antiqua" panose="02040602050305030304" pitchFamily="18" charset="0"/>
              </a:rPr>
              <a:t>atomic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nucleus</a:t>
            </a:r>
            <a:endParaRPr lang="hu-HU" b="1" dirty="0">
              <a:latin typeface="Book Antiqua" panose="02040602050305030304" pitchFamily="18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C049085-C019-8B5F-2F13-A600D3FD2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822234"/>
          </a:xfrm>
        </p:spPr>
        <p:txBody>
          <a:bodyPr/>
          <a:lstStyle/>
          <a:p>
            <a:r>
              <a:rPr lang="hu-HU" dirty="0"/>
              <a:t>Modern </a:t>
            </a:r>
            <a:r>
              <a:rPr lang="hu-HU" dirty="0" err="1"/>
              <a:t>physics</a:t>
            </a:r>
            <a:endParaRPr lang="hu-HU" dirty="0"/>
          </a:p>
          <a:p>
            <a:r>
              <a:rPr lang="hu-HU" b="1" dirty="0"/>
              <a:t>Dr. Szilvási Réka</a:t>
            </a:r>
          </a:p>
          <a:p>
            <a:r>
              <a:rPr lang="hu-HU" sz="1800" dirty="0" err="1"/>
              <a:t>Assistant</a:t>
            </a:r>
            <a:r>
              <a:rPr lang="hu-HU" sz="1800" dirty="0"/>
              <a:t> professor</a:t>
            </a:r>
          </a:p>
          <a:p>
            <a:r>
              <a:rPr lang="hu-HU" sz="1600" dirty="0"/>
              <a:t>BME </a:t>
            </a:r>
            <a:r>
              <a:rPr lang="hu-HU" sz="1600" dirty="0" err="1"/>
              <a:t>ttk</a:t>
            </a:r>
            <a:r>
              <a:rPr lang="hu-HU" sz="1600" dirty="0"/>
              <a:t> NTI</a:t>
            </a:r>
          </a:p>
          <a:p>
            <a:endParaRPr lang="hu-HU" dirty="0"/>
          </a:p>
        </p:txBody>
      </p:sp>
      <p:pic>
        <p:nvPicPr>
          <p:cNvPr id="4" name="Picture 8" descr="D:\aszodi\doc\Reaktor\Logo\NTIlogo6-single_400.GIF">
            <a:extLst>
              <a:ext uri="{FF2B5EF4-FFF2-40B4-BE49-F238E27FC236}">
                <a16:creationId xmlns:a16="http://schemas.microsoft.com/office/drawing/2014/main" id="{60C23D00-DB5C-2F93-40D4-B195C6226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96" y="186575"/>
            <a:ext cx="1147762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 descr="intezetiigazgato">
            <a:extLst>
              <a:ext uri="{FF2B5EF4-FFF2-40B4-BE49-F238E27FC236}">
                <a16:creationId xmlns:a16="http://schemas.microsoft.com/office/drawing/2014/main" id="{3622D414-6DED-832F-42CF-DF8CFAA53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22"/>
          <a:stretch>
            <a:fillRect/>
          </a:stretch>
        </p:blipFill>
        <p:spPr bwMode="auto">
          <a:xfrm>
            <a:off x="344342" y="153948"/>
            <a:ext cx="238125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6516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16" y="74493"/>
            <a:ext cx="5041852" cy="6156000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914400" y="5963478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latin typeface="Book Antiqua" panose="02040602050305030304" pitchFamily="18" charset="0"/>
              </a:rPr>
              <a:t>1 eV=11600 K</a:t>
            </a:r>
            <a:endParaRPr lang="en-GB" b="1" dirty="0">
              <a:latin typeface="Book Antiqua" panose="02040602050305030304" pitchFamily="18" charset="0"/>
            </a:endParaRPr>
          </a:p>
        </p:txBody>
      </p:sp>
      <p:sp>
        <p:nvSpPr>
          <p:cNvPr id="7" name="Szövegdoboz 6"/>
          <p:cNvSpPr txBox="1"/>
          <p:nvPr/>
        </p:nvSpPr>
        <p:spPr>
          <a:xfrm>
            <a:off x="6221895" y="793154"/>
            <a:ext cx="50689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 err="1">
                <a:latin typeface="Book Antiqua" panose="02040602050305030304" pitchFamily="18" charset="0"/>
              </a:rPr>
              <a:t>Constituents</a:t>
            </a:r>
            <a:r>
              <a:rPr lang="hu-HU" sz="2400" b="1" dirty="0">
                <a:latin typeface="Book Antiqua" panose="02040602050305030304" pitchFamily="18" charset="0"/>
              </a:rPr>
              <a:t> of </a:t>
            </a:r>
            <a:r>
              <a:rPr lang="hu-HU" sz="2400" b="1" dirty="0" err="1">
                <a:latin typeface="Book Antiqua" panose="02040602050305030304" pitchFamily="18" charset="0"/>
              </a:rPr>
              <a:t>matter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at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different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distance</a:t>
            </a:r>
            <a:r>
              <a:rPr lang="hu-HU" sz="2400" b="1" dirty="0">
                <a:latin typeface="Book Antiqua" panose="02040602050305030304" pitchFamily="18" charset="0"/>
              </a:rPr>
              <a:t> and </a:t>
            </a:r>
            <a:r>
              <a:rPr lang="hu-HU" sz="2400" b="1" dirty="0" err="1">
                <a:latin typeface="Book Antiqua" panose="02040602050305030304" pitchFamily="18" charset="0"/>
              </a:rPr>
              <a:t>energy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scales</a:t>
            </a:r>
            <a:endParaRPr lang="en-GB" sz="2400" b="1" dirty="0">
              <a:latin typeface="Book Antiqua" panose="02040602050305030304" pitchFamily="18" charset="0"/>
            </a:endParaRPr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8870A18D-A6F6-0B54-C86A-2DAB62FFA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512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16" y="74493"/>
            <a:ext cx="5041852" cy="6156000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914400" y="5963478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latin typeface="Book Antiqua" panose="02040602050305030304" pitchFamily="18" charset="0"/>
              </a:rPr>
              <a:t>1 eV=11600 K</a:t>
            </a:r>
            <a:endParaRPr lang="en-GB" b="1" dirty="0">
              <a:latin typeface="Book Antiqua" panose="02040602050305030304" pitchFamily="18" charset="0"/>
            </a:endParaRPr>
          </a:p>
        </p:txBody>
      </p:sp>
      <p:sp>
        <p:nvSpPr>
          <p:cNvPr id="7" name="Szövegdoboz 6"/>
          <p:cNvSpPr txBox="1"/>
          <p:nvPr/>
        </p:nvSpPr>
        <p:spPr>
          <a:xfrm>
            <a:off x="6221895" y="793154"/>
            <a:ext cx="50689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 err="1">
                <a:latin typeface="Book Antiqua" panose="02040602050305030304" pitchFamily="18" charset="0"/>
              </a:rPr>
              <a:t>Constituents</a:t>
            </a:r>
            <a:r>
              <a:rPr lang="hu-HU" sz="2400" b="1" dirty="0">
                <a:latin typeface="Book Antiqua" panose="02040602050305030304" pitchFamily="18" charset="0"/>
              </a:rPr>
              <a:t> of </a:t>
            </a:r>
            <a:r>
              <a:rPr lang="hu-HU" sz="2400" b="1" dirty="0" err="1">
                <a:latin typeface="Book Antiqua" panose="02040602050305030304" pitchFamily="18" charset="0"/>
              </a:rPr>
              <a:t>matter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at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different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distance</a:t>
            </a:r>
            <a:r>
              <a:rPr lang="hu-HU" sz="2400" b="1" dirty="0">
                <a:latin typeface="Book Antiqua" panose="02040602050305030304" pitchFamily="18" charset="0"/>
              </a:rPr>
              <a:t> and </a:t>
            </a:r>
            <a:r>
              <a:rPr lang="hu-HU" sz="2400" b="1" dirty="0" err="1">
                <a:latin typeface="Book Antiqua" panose="02040602050305030304" pitchFamily="18" charset="0"/>
              </a:rPr>
              <a:t>energy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scales</a:t>
            </a:r>
            <a:endParaRPr lang="en-GB" sz="2400" b="1" dirty="0">
              <a:latin typeface="Book Antiqua" panose="02040602050305030304" pitchFamily="18" charset="0"/>
            </a:endParaRPr>
          </a:p>
        </p:txBody>
      </p:sp>
      <p:sp>
        <p:nvSpPr>
          <p:cNvPr id="9" name="Lekerekített téglalap 8"/>
          <p:cNvSpPr/>
          <p:nvPr/>
        </p:nvSpPr>
        <p:spPr>
          <a:xfrm>
            <a:off x="8505410" y="835883"/>
            <a:ext cx="1046094" cy="400110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Egyenes összekötő nyíllal 10"/>
          <p:cNvCxnSpPr>
            <a:stCxn id="9" idx="2"/>
          </p:cNvCxnSpPr>
          <p:nvPr/>
        </p:nvCxnSpPr>
        <p:spPr>
          <a:xfrm>
            <a:off x="9028457" y="1235993"/>
            <a:ext cx="339173" cy="1449804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11"/>
          <p:cNvSpPr txBox="1"/>
          <p:nvPr/>
        </p:nvSpPr>
        <p:spPr>
          <a:xfrm>
            <a:off x="8619527" y="2624242"/>
            <a:ext cx="1496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u="sng" dirty="0" err="1">
                <a:latin typeface="Book Antiqua" panose="02040602050305030304" pitchFamily="18" charset="0"/>
              </a:rPr>
              <a:t>fermions</a:t>
            </a:r>
            <a:endParaRPr lang="en-GB" sz="2400" b="1" u="sng" dirty="0">
              <a:latin typeface="Book Antiqua" panose="02040602050305030304" pitchFamily="18" charset="0"/>
            </a:endParaRPr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C7F6571F-AE3A-D15F-7FD8-C6588B48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5730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16" y="74493"/>
            <a:ext cx="5041852" cy="6156000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914400" y="5963478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latin typeface="Book Antiqua" panose="02040602050305030304" pitchFamily="18" charset="0"/>
              </a:rPr>
              <a:t>1 eV=11600 K</a:t>
            </a:r>
            <a:endParaRPr lang="en-GB" b="1" dirty="0">
              <a:latin typeface="Book Antiqua" panose="02040602050305030304" pitchFamily="18" charset="0"/>
            </a:endParaRP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422" y="1961572"/>
            <a:ext cx="6120000" cy="3597410"/>
          </a:xfrm>
          <a:prstGeom prst="rect">
            <a:avLst/>
          </a:prstGeom>
        </p:spPr>
      </p:pic>
      <p:sp>
        <p:nvSpPr>
          <p:cNvPr id="2" name="Lekerekített téglalap 1"/>
          <p:cNvSpPr/>
          <p:nvPr/>
        </p:nvSpPr>
        <p:spPr>
          <a:xfrm>
            <a:off x="10525539" y="2186609"/>
            <a:ext cx="1182757" cy="337930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Egyenes összekötő nyíllal 4"/>
          <p:cNvCxnSpPr/>
          <p:nvPr/>
        </p:nvCxnSpPr>
        <p:spPr>
          <a:xfrm flipV="1">
            <a:off x="10813774" y="1423611"/>
            <a:ext cx="303143" cy="74312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8"/>
          <p:cNvSpPr txBox="1"/>
          <p:nvPr/>
        </p:nvSpPr>
        <p:spPr>
          <a:xfrm>
            <a:off x="10599600" y="961946"/>
            <a:ext cx="1175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u="sng" dirty="0" err="1">
                <a:latin typeface="Book Antiqua" panose="02040602050305030304" pitchFamily="18" charset="0"/>
              </a:rPr>
              <a:t>bosons</a:t>
            </a:r>
            <a:endParaRPr lang="en-GB" sz="2400" b="1" u="sng" dirty="0">
              <a:latin typeface="Book Antiqua" panose="02040602050305030304" pitchFamily="18" charset="0"/>
            </a:endParaRPr>
          </a:p>
        </p:txBody>
      </p:sp>
      <p:sp>
        <p:nvSpPr>
          <p:cNvPr id="11" name="Szövegdoboz 10"/>
          <p:cNvSpPr txBox="1"/>
          <p:nvPr/>
        </p:nvSpPr>
        <p:spPr>
          <a:xfrm>
            <a:off x="6915578" y="452967"/>
            <a:ext cx="3684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>
                <a:latin typeface="Book Antiqua" panose="02040602050305030304" pitchFamily="18" charset="0"/>
              </a:rPr>
              <a:t>Basic </a:t>
            </a:r>
            <a:r>
              <a:rPr lang="hu-HU" sz="2800" b="1" dirty="0" err="1">
                <a:latin typeface="Book Antiqua" panose="02040602050305030304" pitchFamily="18" charset="0"/>
              </a:rPr>
              <a:t>forces</a:t>
            </a:r>
            <a:r>
              <a:rPr lang="hu-HU" sz="2800" b="1" dirty="0">
                <a:latin typeface="Book Antiqua" panose="02040602050305030304" pitchFamily="18" charset="0"/>
              </a:rPr>
              <a:t> of </a:t>
            </a:r>
            <a:r>
              <a:rPr lang="hu-HU" sz="2800" b="1" dirty="0" err="1">
                <a:latin typeface="Book Antiqua" panose="02040602050305030304" pitchFamily="18" charset="0"/>
              </a:rPr>
              <a:t>nature</a:t>
            </a:r>
            <a:endParaRPr lang="en-GB" sz="2800" b="1" dirty="0">
              <a:latin typeface="Book Antiqua" panose="02040602050305030304" pitchFamily="18" charset="0"/>
            </a:endParaRP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0A24DBA5-4FD5-3B48-A539-E83796FF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9124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16" y="74493"/>
            <a:ext cx="5041852" cy="6156000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914400" y="5963478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latin typeface="Book Antiqua" panose="02040602050305030304" pitchFamily="18" charset="0"/>
              </a:rPr>
              <a:t>1 eV=11600 K</a:t>
            </a:r>
            <a:endParaRPr lang="en-GB" b="1" dirty="0">
              <a:latin typeface="Book Antiqua" panose="02040602050305030304" pitchFamily="18" charset="0"/>
            </a:endParaRPr>
          </a:p>
        </p:txBody>
      </p:sp>
      <p:sp>
        <p:nvSpPr>
          <p:cNvPr id="7" name="Szövegdoboz 6"/>
          <p:cNvSpPr txBox="1"/>
          <p:nvPr/>
        </p:nvSpPr>
        <p:spPr>
          <a:xfrm>
            <a:off x="6915578" y="452967"/>
            <a:ext cx="3684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>
                <a:latin typeface="Book Antiqua" panose="02040602050305030304" pitchFamily="18" charset="0"/>
              </a:rPr>
              <a:t>Basic </a:t>
            </a:r>
            <a:r>
              <a:rPr lang="hu-HU" sz="2800" b="1" dirty="0" err="1">
                <a:latin typeface="Book Antiqua" panose="02040602050305030304" pitchFamily="18" charset="0"/>
              </a:rPr>
              <a:t>forces</a:t>
            </a:r>
            <a:r>
              <a:rPr lang="hu-HU" sz="2800" b="1" dirty="0">
                <a:latin typeface="Book Antiqua" panose="02040602050305030304" pitchFamily="18" charset="0"/>
              </a:rPr>
              <a:t> of </a:t>
            </a:r>
            <a:r>
              <a:rPr lang="hu-HU" sz="2800" b="1" dirty="0" err="1">
                <a:latin typeface="Book Antiqua" panose="02040602050305030304" pitchFamily="18" charset="0"/>
              </a:rPr>
              <a:t>nature</a:t>
            </a:r>
            <a:endParaRPr lang="en-GB" sz="2800" b="1" dirty="0">
              <a:latin typeface="Book Antiqua" panose="02040602050305030304" pitchFamily="18" charset="0"/>
            </a:endParaRP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422" y="1961572"/>
            <a:ext cx="6120000" cy="3597410"/>
          </a:xfrm>
          <a:prstGeom prst="rect">
            <a:avLst/>
          </a:prstGeom>
        </p:spPr>
      </p:pic>
      <p:sp>
        <p:nvSpPr>
          <p:cNvPr id="2" name="Lekerekített téglalap 1"/>
          <p:cNvSpPr/>
          <p:nvPr/>
        </p:nvSpPr>
        <p:spPr>
          <a:xfrm>
            <a:off x="10525539" y="2186609"/>
            <a:ext cx="1182757" cy="337930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Egyenes összekötő nyíllal 4"/>
          <p:cNvCxnSpPr/>
          <p:nvPr/>
        </p:nvCxnSpPr>
        <p:spPr>
          <a:xfrm flipV="1">
            <a:off x="10813774" y="1423611"/>
            <a:ext cx="303143" cy="74312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8"/>
          <p:cNvSpPr txBox="1"/>
          <p:nvPr/>
        </p:nvSpPr>
        <p:spPr>
          <a:xfrm>
            <a:off x="10599600" y="961946"/>
            <a:ext cx="1175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u="sng" dirty="0" err="1">
                <a:latin typeface="Book Antiqua" panose="02040602050305030304" pitchFamily="18" charset="0"/>
              </a:rPr>
              <a:t>bosons</a:t>
            </a:r>
            <a:endParaRPr lang="en-GB" sz="2400" b="1" u="sng" dirty="0">
              <a:latin typeface="Book Antiqua" panose="02040602050305030304" pitchFamily="18" charset="0"/>
            </a:endParaRPr>
          </a:p>
        </p:txBody>
      </p:sp>
      <p:sp>
        <p:nvSpPr>
          <p:cNvPr id="10" name="Lekerekített téglalap 9"/>
          <p:cNvSpPr/>
          <p:nvPr/>
        </p:nvSpPr>
        <p:spPr>
          <a:xfrm>
            <a:off x="5724939" y="3409122"/>
            <a:ext cx="6204483" cy="2149860"/>
          </a:xfrm>
          <a:prstGeom prst="roundRect">
            <a:avLst/>
          </a:prstGeom>
          <a:gradFill flip="none" rotWithShape="1">
            <a:gsLst>
              <a:gs pos="8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zövegdoboz 10"/>
          <p:cNvSpPr txBox="1"/>
          <p:nvPr/>
        </p:nvSpPr>
        <p:spPr>
          <a:xfrm>
            <a:off x="7168051" y="5727611"/>
            <a:ext cx="3179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b="1" u="sng" dirty="0" err="1">
                <a:latin typeface="Book Antiqua" panose="02040602050305030304" pitchFamily="18" charset="0"/>
              </a:rPr>
              <a:t>Nuclear</a:t>
            </a:r>
            <a:r>
              <a:rPr lang="hu-HU" b="1" u="sng" dirty="0">
                <a:latin typeface="Book Antiqua" panose="02040602050305030304" pitchFamily="18" charset="0"/>
              </a:rPr>
              <a:t> and </a:t>
            </a:r>
            <a:r>
              <a:rPr lang="hu-HU" b="1" u="sng" dirty="0" err="1">
                <a:latin typeface="Book Antiqua" panose="02040602050305030304" pitchFamily="18" charset="0"/>
              </a:rPr>
              <a:t>particle</a:t>
            </a:r>
            <a:r>
              <a:rPr lang="hu-HU" b="1" u="sng" dirty="0"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latin typeface="Book Antiqua" panose="02040602050305030304" pitchFamily="18" charset="0"/>
              </a:rPr>
              <a:t>physics</a:t>
            </a:r>
            <a:endParaRPr lang="en-GB" b="1" u="sng" dirty="0">
              <a:latin typeface="Book Antiqua" panose="02040602050305030304" pitchFamily="18" charset="0"/>
            </a:endParaRP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83C383A1-E2BB-E73A-4AD8-2381498A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9185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16" y="74493"/>
            <a:ext cx="5041852" cy="6156000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914400" y="5963478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latin typeface="Book Antiqua" panose="02040602050305030304" pitchFamily="18" charset="0"/>
              </a:rPr>
              <a:t>1 eV=11600 K</a:t>
            </a:r>
            <a:endParaRPr lang="en-GB" b="1" dirty="0">
              <a:latin typeface="Book Antiqua" panose="02040602050305030304" pitchFamily="18" charset="0"/>
            </a:endParaRPr>
          </a:p>
        </p:txBody>
      </p:sp>
      <p:sp>
        <p:nvSpPr>
          <p:cNvPr id="2" name="Ellipszis 1"/>
          <p:cNvSpPr/>
          <p:nvPr/>
        </p:nvSpPr>
        <p:spPr>
          <a:xfrm>
            <a:off x="3896139" y="2007704"/>
            <a:ext cx="1500809" cy="2077279"/>
          </a:xfrm>
          <a:prstGeom prst="ellipse">
            <a:avLst/>
          </a:prstGeom>
          <a:gradFill flip="none" rotWithShape="1">
            <a:gsLst>
              <a:gs pos="25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zövegdoboz 9"/>
          <p:cNvSpPr txBox="1"/>
          <p:nvPr/>
        </p:nvSpPr>
        <p:spPr>
          <a:xfrm>
            <a:off x="7822075" y="5727611"/>
            <a:ext cx="1871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b="1" u="sng" dirty="0" err="1">
                <a:latin typeface="Book Antiqua" panose="02040602050305030304" pitchFamily="18" charset="0"/>
              </a:rPr>
              <a:t>Nuclear</a:t>
            </a:r>
            <a:r>
              <a:rPr lang="hu-HU" b="1" u="sng" dirty="0"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latin typeface="Book Antiqua" panose="02040602050305030304" pitchFamily="18" charset="0"/>
              </a:rPr>
              <a:t>physics</a:t>
            </a:r>
            <a:endParaRPr lang="en-GB" b="1" u="sng" dirty="0">
              <a:latin typeface="Book Antiqua" panose="02040602050305030304" pitchFamily="18" charset="0"/>
            </a:endParaRP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63A3BC86-6F81-CFCF-8B2D-86F5188F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0674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16" y="74493"/>
            <a:ext cx="5041852" cy="6156000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21" y="1055411"/>
            <a:ext cx="3790950" cy="4429125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914400" y="5963478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latin typeface="Book Antiqua" panose="02040602050305030304" pitchFamily="18" charset="0"/>
              </a:rPr>
              <a:t>1 eV=11600 K</a:t>
            </a:r>
            <a:endParaRPr lang="en-GB" b="1" dirty="0">
              <a:latin typeface="Book Antiqua" panose="02040602050305030304" pitchFamily="18" charset="0"/>
            </a:endParaRPr>
          </a:p>
        </p:txBody>
      </p:sp>
      <p:sp>
        <p:nvSpPr>
          <p:cNvPr id="2" name="Ellipszis 1"/>
          <p:cNvSpPr/>
          <p:nvPr/>
        </p:nvSpPr>
        <p:spPr>
          <a:xfrm>
            <a:off x="3896139" y="2007704"/>
            <a:ext cx="1500809" cy="2077279"/>
          </a:xfrm>
          <a:prstGeom prst="ellipse">
            <a:avLst/>
          </a:prstGeom>
          <a:gradFill flip="none" rotWithShape="1">
            <a:gsLst>
              <a:gs pos="25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Egyenes összekötő 6"/>
          <p:cNvCxnSpPr/>
          <p:nvPr/>
        </p:nvCxnSpPr>
        <p:spPr>
          <a:xfrm flipV="1">
            <a:off x="5396948" y="1272209"/>
            <a:ext cx="2166730" cy="148093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/>
          <p:cNvCxnSpPr/>
          <p:nvPr/>
        </p:nvCxnSpPr>
        <p:spPr>
          <a:xfrm>
            <a:off x="5396948" y="3381946"/>
            <a:ext cx="1825487" cy="177579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8"/>
          <p:cNvSpPr txBox="1"/>
          <p:nvPr/>
        </p:nvSpPr>
        <p:spPr>
          <a:xfrm>
            <a:off x="7822075" y="5727611"/>
            <a:ext cx="1871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b="1" u="sng" dirty="0" err="1">
                <a:latin typeface="Book Antiqua" panose="02040602050305030304" pitchFamily="18" charset="0"/>
              </a:rPr>
              <a:t>Nuclear</a:t>
            </a:r>
            <a:r>
              <a:rPr lang="hu-HU" b="1" u="sng" dirty="0"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latin typeface="Book Antiqua" panose="02040602050305030304" pitchFamily="18" charset="0"/>
              </a:rPr>
              <a:t>physics</a:t>
            </a:r>
            <a:endParaRPr lang="en-GB" b="1" u="sng" dirty="0">
              <a:latin typeface="Book Antiqua" panose="02040602050305030304" pitchFamily="18" charset="0"/>
            </a:endParaRP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839CBCDC-A578-3FBA-E5D7-7951330B5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3807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What</a:t>
            </a:r>
            <a:r>
              <a:rPr lang="hu-HU" dirty="0">
                <a:latin typeface="Book Antiqua" panose="02040602050305030304" pitchFamily="18" charset="0"/>
              </a:rPr>
              <a:t> is </a:t>
            </a:r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physics</a:t>
            </a:r>
            <a:r>
              <a:rPr lang="hu-HU" dirty="0">
                <a:latin typeface="Book Antiqua" panose="02040602050305030304" pitchFamily="18" charset="0"/>
              </a:rPr>
              <a:t>?</a:t>
            </a:r>
            <a:endParaRPr lang="en-GB" dirty="0">
              <a:latin typeface="Book Antiqua" panose="02040602050305030304" pitchFamily="18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0D9EBC7B-C0CA-1A21-E9D7-3C1268DC9148}"/>
              </a:ext>
            </a:extLst>
          </p:cNvPr>
          <p:cNvSpPr txBox="1"/>
          <p:nvPr/>
        </p:nvSpPr>
        <p:spPr>
          <a:xfrm>
            <a:off x="1097280" y="2311596"/>
            <a:ext cx="2074607" cy="461665"/>
          </a:xfrm>
          <a:prstGeom prst="rect">
            <a:avLst/>
          </a:prstGeom>
          <a:gradFill flip="none" rotWithShape="1">
            <a:gsLst>
              <a:gs pos="83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hu-HU" sz="2400" b="1" dirty="0" err="1">
                <a:latin typeface="Book Antiqua" panose="02040602050305030304" pitchFamily="18" charset="0"/>
              </a:rPr>
              <a:t>Nuclear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force</a:t>
            </a:r>
            <a:endParaRPr lang="hu-HU" sz="2400" b="1" dirty="0">
              <a:latin typeface="Book Antiqua" panose="02040602050305030304" pitchFamily="18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8BB4954-671B-8803-4F4B-B5406F68E1A4}"/>
              </a:ext>
            </a:extLst>
          </p:cNvPr>
          <p:cNvSpPr txBox="1"/>
          <p:nvPr/>
        </p:nvSpPr>
        <p:spPr>
          <a:xfrm>
            <a:off x="3806450" y="2311596"/>
            <a:ext cx="2799164" cy="461665"/>
          </a:xfrm>
          <a:prstGeom prst="rect">
            <a:avLst/>
          </a:prstGeom>
          <a:gradFill>
            <a:gsLst>
              <a:gs pos="83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hu-HU" sz="2400" b="1" dirty="0" err="1">
                <a:latin typeface="Book Antiqua" panose="02040602050305030304" pitchFamily="18" charset="0"/>
              </a:rPr>
              <a:t>Structure</a:t>
            </a:r>
            <a:r>
              <a:rPr lang="hu-HU" sz="2400" b="1" dirty="0">
                <a:latin typeface="Book Antiqua" panose="02040602050305030304" pitchFamily="18" charset="0"/>
              </a:rPr>
              <a:t> of </a:t>
            </a:r>
            <a:r>
              <a:rPr lang="hu-HU" sz="2400" b="1" dirty="0" err="1">
                <a:latin typeface="Book Antiqua" panose="02040602050305030304" pitchFamily="18" charset="0"/>
              </a:rPr>
              <a:t>nuclei</a:t>
            </a:r>
            <a:endParaRPr lang="hu-HU" sz="2400" b="1" dirty="0">
              <a:latin typeface="Book Antiqua" panose="02040602050305030304" pitchFamily="18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BD5A02C-6FBE-4169-08C7-727CAE2E1D0A}"/>
              </a:ext>
            </a:extLst>
          </p:cNvPr>
          <p:cNvSpPr txBox="1"/>
          <p:nvPr/>
        </p:nvSpPr>
        <p:spPr>
          <a:xfrm>
            <a:off x="7539505" y="2311596"/>
            <a:ext cx="2953053" cy="461665"/>
          </a:xfrm>
          <a:prstGeom prst="rect">
            <a:avLst/>
          </a:prstGeom>
          <a:gradFill>
            <a:gsLst>
              <a:gs pos="83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hu-HU" sz="2400" b="1" dirty="0" err="1">
                <a:latin typeface="Book Antiqua" panose="02040602050305030304" pitchFamily="18" charset="0"/>
              </a:rPr>
              <a:t>How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nuclei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interact</a:t>
            </a:r>
            <a:endParaRPr lang="hu-HU" sz="2400" b="1" dirty="0">
              <a:latin typeface="Book Antiqua" panose="02040602050305030304" pitchFamily="18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4CDD36A-3E94-9FFC-711E-42D8366C0FB2}"/>
              </a:ext>
            </a:extLst>
          </p:cNvPr>
          <p:cNvSpPr txBox="1"/>
          <p:nvPr/>
        </p:nvSpPr>
        <p:spPr>
          <a:xfrm>
            <a:off x="7235288" y="3809163"/>
            <a:ext cx="4115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400" b="1" dirty="0">
                <a:latin typeface="Book Antiqua" panose="02040602050305030304" pitchFamily="18" charset="0"/>
              </a:rPr>
              <a:t>Low-</a:t>
            </a:r>
            <a:r>
              <a:rPr lang="hu-HU" sz="2400" b="1" dirty="0" err="1">
                <a:latin typeface="Book Antiqua" panose="02040602050305030304" pitchFamily="18" charset="0"/>
              </a:rPr>
              <a:t>energy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nuclear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physics</a:t>
            </a:r>
            <a:endParaRPr lang="hu-HU" sz="2400" b="1" dirty="0">
              <a:latin typeface="Book Antiqua" panose="02040602050305030304" pitchFamily="18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F0756DF-8D22-709B-42CE-8A06D3382B6F}"/>
              </a:ext>
            </a:extLst>
          </p:cNvPr>
          <p:cNvSpPr txBox="1"/>
          <p:nvPr/>
        </p:nvSpPr>
        <p:spPr>
          <a:xfrm>
            <a:off x="738891" y="3809164"/>
            <a:ext cx="4217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400" b="1" dirty="0" err="1">
                <a:latin typeface="Book Antiqua" panose="02040602050305030304" pitchFamily="18" charset="0"/>
              </a:rPr>
              <a:t>High-energy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nuclear</a:t>
            </a:r>
            <a:r>
              <a:rPr lang="hu-HU" sz="2400" b="1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latin typeface="Book Antiqua" panose="02040602050305030304" pitchFamily="18" charset="0"/>
              </a:rPr>
              <a:t>physics</a:t>
            </a:r>
            <a:endParaRPr lang="hu-HU" sz="2400" b="1" dirty="0">
              <a:latin typeface="Book Antiqua" panose="02040602050305030304" pitchFamily="18" charset="0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E6069F63-ADE8-A307-84C4-DF2D8B652E31}"/>
              </a:ext>
            </a:extLst>
          </p:cNvPr>
          <p:cNvSpPr txBox="1"/>
          <p:nvPr/>
        </p:nvSpPr>
        <p:spPr>
          <a:xfrm>
            <a:off x="8210716" y="4475732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dirty="0" err="1">
                <a:latin typeface="Book Antiqua" panose="02040602050305030304" pitchFamily="18" charset="0"/>
              </a:rPr>
              <a:t>e.g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nucleosynthesis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54D8240A-74A0-A784-F1B1-3ABAE0DDD007}"/>
              </a:ext>
            </a:extLst>
          </p:cNvPr>
          <p:cNvSpPr txBox="1"/>
          <p:nvPr/>
        </p:nvSpPr>
        <p:spPr>
          <a:xfrm>
            <a:off x="641724" y="4363161"/>
            <a:ext cx="421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err="1">
                <a:latin typeface="Book Antiqua" panose="02040602050305030304" pitchFamily="18" charset="0"/>
              </a:rPr>
              <a:t>Heavy</a:t>
            </a:r>
            <a:r>
              <a:rPr lang="hu-HU" dirty="0">
                <a:latin typeface="Book Antiqua" panose="02040602050305030304" pitchFamily="18" charset="0"/>
              </a:rPr>
              <a:t>-ion </a:t>
            </a:r>
            <a:r>
              <a:rPr lang="hu-HU" dirty="0" err="1">
                <a:latin typeface="Book Antiqua" panose="02040602050305030304" pitchFamily="18" charset="0"/>
              </a:rPr>
              <a:t>collisions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quark-gluon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plasma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10" name="Ellipszis 9">
            <a:extLst>
              <a:ext uri="{FF2B5EF4-FFF2-40B4-BE49-F238E27FC236}">
                <a16:creationId xmlns:a16="http://schemas.microsoft.com/office/drawing/2014/main" id="{B576ED2E-0043-F6E3-A16E-CF638158B8CE}"/>
              </a:ext>
            </a:extLst>
          </p:cNvPr>
          <p:cNvSpPr/>
          <p:nvPr/>
        </p:nvSpPr>
        <p:spPr>
          <a:xfrm>
            <a:off x="114186" y="3601944"/>
            <a:ext cx="5641845" cy="1747575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2D123552-8F69-7A1D-C76B-7F4FD649D68A}"/>
              </a:ext>
            </a:extLst>
          </p:cNvPr>
          <p:cNvSpPr/>
          <p:nvPr/>
        </p:nvSpPr>
        <p:spPr>
          <a:xfrm>
            <a:off x="6471979" y="3489373"/>
            <a:ext cx="5641845" cy="1747575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Dia számának helye 11">
            <a:extLst>
              <a:ext uri="{FF2B5EF4-FFF2-40B4-BE49-F238E27FC236}">
                <a16:creationId xmlns:a16="http://schemas.microsoft.com/office/drawing/2014/main" id="{3B7B2291-20C6-F2D4-52A4-E9B8128A3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944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ook Antiqua" panose="02040602050305030304" pitchFamily="18" charset="0"/>
              </a:rPr>
              <a:t>The </a:t>
            </a:r>
            <a:r>
              <a:rPr lang="hu-HU" dirty="0" err="1">
                <a:latin typeface="Book Antiqua" panose="02040602050305030304" pitchFamily="18" charset="0"/>
              </a:rPr>
              <a:t>birth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physics</a:t>
            </a:r>
            <a:endParaRPr lang="en-GB" dirty="0">
              <a:latin typeface="Book Antiqua" panose="02040602050305030304" pitchFamily="18" charset="0"/>
            </a:endParaRPr>
          </a:p>
        </p:txBody>
      </p:sp>
      <p:sp>
        <p:nvSpPr>
          <p:cNvPr id="4" name="Szöveg hely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discovery</a:t>
            </a:r>
            <a:r>
              <a:rPr lang="hu-HU" dirty="0"/>
              <a:t> of the </a:t>
            </a:r>
            <a:r>
              <a:rPr lang="hu-HU" dirty="0" err="1"/>
              <a:t>atomic</a:t>
            </a:r>
            <a:r>
              <a:rPr lang="hu-HU" dirty="0"/>
              <a:t> </a:t>
            </a:r>
            <a:r>
              <a:rPr lang="hu-HU" dirty="0" err="1"/>
              <a:t>nucleus</a:t>
            </a:r>
            <a:r>
              <a:rPr lang="hu-HU" dirty="0"/>
              <a:t>, the neutron</a:t>
            </a:r>
            <a:endParaRPr lang="en-GB" dirty="0"/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1B31A3DD-3E8C-9DF1-2CE0-958AF8E7F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7417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6F579-8750-E640-30BB-2E8AA1EC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2AFA7C9-9628-630E-9231-5503FEBEA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6D1067F-4530-7880-2B91-9FFD1EF51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754787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74952468-5664-902B-CCBE-13A7D75C9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5977937" cy="1666501"/>
          </a:xfrm>
        </p:spPr>
        <p:txBody>
          <a:bodyPr>
            <a:normAutofit/>
          </a:bodyPr>
          <a:lstStyle/>
          <a:p>
            <a:r>
              <a:rPr lang="hu-HU" sz="40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Discovery</a:t>
            </a:r>
            <a:r>
              <a:rPr lang="hu-HU" sz="4000" b="1" dirty="0">
                <a:solidFill>
                  <a:srgbClr val="FFFFFF"/>
                </a:solidFill>
                <a:latin typeface="Book Antiqua" panose="02040602050305030304" pitchFamily="18" charset="0"/>
              </a:rPr>
              <a:t> of </a:t>
            </a:r>
            <a:r>
              <a:rPr lang="hu-HU" sz="40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radioactivity</a:t>
            </a:r>
            <a:endParaRPr lang="en-GB" sz="4000" b="1" dirty="0">
              <a:solidFill>
                <a:srgbClr val="FFFFFF"/>
              </a:solidFill>
              <a:latin typeface="Book Antiqua" panose="02040602050305030304" pitchFamily="18" charset="0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157288F1-2E91-F0C2-1546-51AEBF1C2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6C21394E-4D22-80D6-36DB-DF6DFC539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439" y="484631"/>
            <a:ext cx="2679573" cy="1748422"/>
          </a:xfrm>
          <a:prstGeom prst="rect">
            <a:avLst/>
          </a:prstGeom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21E80BB-07D3-8663-79B5-EB209E2C7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2361916"/>
            <a:ext cx="464256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784CC3D9-D535-5873-BFF3-D930F2F08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225" y="2717684"/>
            <a:ext cx="4464000" cy="1629360"/>
          </a:xfrm>
          <a:prstGeom prst="rect">
            <a:avLst/>
          </a:prstGeom>
        </p:spPr>
      </p:pic>
      <p:sp>
        <p:nvSpPr>
          <p:cNvPr id="1048" name="Rectangle 1038">
            <a:extLst>
              <a:ext uri="{FF2B5EF4-FFF2-40B4-BE49-F238E27FC236}">
                <a16:creationId xmlns:a16="http://schemas.microsoft.com/office/drawing/2014/main" id="{B3393D42-D001-EE2C-B666-57489ECF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4432072"/>
            <a:ext cx="464256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enetration power of ionizing rays Royalty Free Vector Image">
            <a:extLst>
              <a:ext uri="{FF2B5EF4-FFF2-40B4-BE49-F238E27FC236}">
                <a16:creationId xmlns:a16="http://schemas.microsoft.com/office/drawing/2014/main" id="{B0573561-4EDA-B87C-8E17-3B73AC8FE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72079" y="4496080"/>
            <a:ext cx="2988000" cy="233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78CAE9D9-CB54-40C1-8C6A-8AE9D37771FD}"/>
              </a:ext>
            </a:extLst>
          </p:cNvPr>
          <p:cNvSpPr txBox="1"/>
          <p:nvPr/>
        </p:nvSpPr>
        <p:spPr>
          <a:xfrm>
            <a:off x="9266945" y="173090"/>
            <a:ext cx="14750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>
                <a:latin typeface="Book Antiqua" panose="02040602050305030304" pitchFamily="18" charset="0"/>
              </a:rPr>
              <a:t>Henri Becquerel</a:t>
            </a:r>
          </a:p>
        </p:txBody>
      </p:sp>
      <p:sp>
        <p:nvSpPr>
          <p:cNvPr id="9" name="Tartalom helye 4">
            <a:extLst>
              <a:ext uri="{FF2B5EF4-FFF2-40B4-BE49-F238E27FC236}">
                <a16:creationId xmlns:a16="http://schemas.microsoft.com/office/drawing/2014/main" id="{5832CAAF-867E-9200-AA01-565435DA7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36304"/>
            <a:ext cx="5977938" cy="44735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800" b="1" u="sng" dirty="0">
                <a:solidFill>
                  <a:srgbClr val="FFFFFF"/>
                </a:solidFill>
                <a:latin typeface="Book Antiqua" panose="02040602050305030304" pitchFamily="18" charset="0"/>
              </a:rPr>
              <a:t>1896, Becquerel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: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radiation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emitted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from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uranium</a:t>
            </a:r>
            <a:endParaRPr lang="hu-HU" sz="1800" b="1" dirty="0">
              <a:solidFill>
                <a:srgbClr val="FFFFFF"/>
              </a:solidFill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800" b="1" u="sng" dirty="0">
                <a:solidFill>
                  <a:srgbClr val="FFFFFF"/>
                </a:solidFill>
                <a:latin typeface="Book Antiqua" panose="02040602050305030304" pitchFamily="18" charset="0"/>
              </a:rPr>
              <a:t>1897, Thomson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: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discovery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of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the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electron</a:t>
            </a:r>
            <a:endParaRPr lang="hu-HU" sz="1800" b="1" dirty="0">
              <a:solidFill>
                <a:srgbClr val="FFFFFF"/>
              </a:solidFill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800" b="1" u="sng" dirty="0" err="1">
                <a:solidFill>
                  <a:srgbClr val="FFFFFF"/>
                </a:solidFill>
                <a:latin typeface="Book Antiqua" panose="02040602050305030304" pitchFamily="18" charset="0"/>
              </a:rPr>
              <a:t>early</a:t>
            </a:r>
            <a:r>
              <a:rPr lang="hu-HU" sz="1800" b="1" u="sng" dirty="0">
                <a:solidFill>
                  <a:srgbClr val="FFFFFF"/>
                </a:solidFill>
                <a:latin typeface="Book Antiqua" panose="02040602050305030304" pitchFamily="18" charset="0"/>
              </a:rPr>
              <a:t> 1900s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: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differentiate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the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three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types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of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emitted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particles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by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8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their</a:t>
            </a:r>
            <a:r>
              <a:rPr lang="hu-HU" sz="1800" b="1" dirty="0">
                <a:solidFill>
                  <a:srgbClr val="FFFFFF"/>
                </a:solidFill>
                <a:latin typeface="Book Antiqua" panose="02040602050305030304" pitchFamily="18" charset="0"/>
              </a:rPr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u-HU" sz="16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charge</a:t>
            </a:r>
            <a:r>
              <a:rPr lang="hu-HU" sz="16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/</a:t>
            </a:r>
            <a:r>
              <a:rPr lang="hu-HU" sz="16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mass</a:t>
            </a:r>
            <a:r>
              <a:rPr lang="hu-HU" sz="16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>
                <a:solidFill>
                  <a:srgbClr val="FFFFFF"/>
                </a:solidFill>
                <a:latin typeface="Book Antiqua" panose="02040602050305030304" pitchFamily="18" charset="0"/>
              </a:rPr>
              <a:t>ratio: </a:t>
            </a:r>
            <a:r>
              <a:rPr lang="hu-HU" sz="16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how</a:t>
            </a:r>
            <a:r>
              <a:rPr lang="hu-HU" sz="1600" b="1" dirty="0">
                <a:solidFill>
                  <a:srgbClr val="FFFFFF"/>
                </a:solidFill>
                <a:latin typeface="Book Antiqua" panose="02040602050305030304" pitchFamily="18" charset="0"/>
              </a:rPr>
              <a:t> an </a:t>
            </a:r>
            <a:r>
              <a:rPr lang="hu-HU" sz="16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external</a:t>
            </a:r>
            <a:r>
              <a:rPr lang="hu-HU" sz="16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electric</a:t>
            </a:r>
            <a:r>
              <a:rPr lang="hu-HU" sz="1600" b="1" dirty="0">
                <a:solidFill>
                  <a:srgbClr val="FFFFFF"/>
                </a:solidFill>
                <a:latin typeface="Book Antiqua" panose="02040602050305030304" pitchFamily="18" charset="0"/>
              </a:rPr>
              <a:t> and </a:t>
            </a:r>
            <a:r>
              <a:rPr lang="hu-HU" sz="16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magnetic</a:t>
            </a:r>
            <a:r>
              <a:rPr lang="hu-HU" sz="16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field</a:t>
            </a:r>
            <a:r>
              <a:rPr lang="hu-HU" sz="16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deflect</a:t>
            </a:r>
            <a:r>
              <a:rPr lang="hu-HU" sz="16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the</a:t>
            </a:r>
            <a:r>
              <a:rPr lang="hu-HU" sz="16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particles</a:t>
            </a:r>
            <a:endParaRPr lang="hu-HU" sz="1600" b="1" dirty="0">
              <a:solidFill>
                <a:srgbClr val="FFFFFF"/>
              </a:solidFill>
              <a:latin typeface="Book Antiqua" panose="0204060205030503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hu-HU" sz="1600" b="1" dirty="0">
              <a:solidFill>
                <a:srgbClr val="FFFFFF"/>
              </a:solidFill>
              <a:latin typeface="Book Antiqua" panose="02040602050305030304" pitchFamily="18" charset="0"/>
            </a:endParaRPr>
          </a:p>
          <a:p>
            <a:pPr marL="201168" lvl="1" indent="0">
              <a:lnSpc>
                <a:spcPct val="150000"/>
              </a:lnSpc>
              <a:buNone/>
            </a:pPr>
            <a:endParaRPr lang="hu-HU" sz="1600" b="1" dirty="0">
              <a:solidFill>
                <a:srgbClr val="FFFFFF"/>
              </a:solidFill>
              <a:latin typeface="Book Antiqua" panose="0204060205030503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u-HU" sz="16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penetrating</a:t>
            </a:r>
            <a:r>
              <a:rPr lang="hu-HU" sz="16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power</a:t>
            </a:r>
            <a:r>
              <a:rPr lang="hu-HU" sz="1600" b="1" dirty="0">
                <a:solidFill>
                  <a:srgbClr val="FFFFFF"/>
                </a:solidFill>
                <a:latin typeface="Book Antiqua" panose="02040602050305030304" pitchFamily="18" charset="0"/>
              </a:rPr>
              <a:t>: </a:t>
            </a:r>
            <a:r>
              <a:rPr lang="hu-HU" sz="16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entirely</a:t>
            </a:r>
            <a:r>
              <a:rPr lang="hu-HU" sz="16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different</a:t>
            </a:r>
            <a:r>
              <a:rPr lang="hu-HU" sz="16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nature</a:t>
            </a:r>
            <a:r>
              <a:rPr lang="hu-HU" sz="1600" b="1" dirty="0">
                <a:solidFill>
                  <a:srgbClr val="FFFFFF"/>
                </a:solidFill>
                <a:latin typeface="Book Antiqua" panose="02040602050305030304" pitchFamily="18" charset="0"/>
              </a:rPr>
              <a:t> of </a:t>
            </a:r>
            <a:r>
              <a:rPr lang="hu-HU" sz="16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the</a:t>
            </a:r>
            <a:r>
              <a:rPr lang="hu-HU" sz="1600" b="1" dirty="0">
                <a:solidFill>
                  <a:srgbClr val="FFFFFF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FFFF"/>
                </a:solidFill>
                <a:latin typeface="Book Antiqua" panose="02040602050305030304" pitchFamily="18" charset="0"/>
              </a:rPr>
              <a:t>particles</a:t>
            </a:r>
            <a:endParaRPr lang="en-GB" sz="1600" b="1" dirty="0">
              <a:solidFill>
                <a:srgbClr val="FFFFFF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95FE96E9-3A49-3F97-A188-6E41E5D1C1CF}"/>
              </a:ext>
            </a:extLst>
          </p:cNvPr>
          <p:cNvSpPr txBox="1"/>
          <p:nvPr/>
        </p:nvSpPr>
        <p:spPr>
          <a:xfrm>
            <a:off x="1725769" y="5102215"/>
            <a:ext cx="57768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altLang="hu-HU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anose="05050102010706020507" pitchFamily="18" charset="2"/>
              </a:rPr>
              <a:t>a</a:t>
            </a:r>
            <a:r>
              <a:rPr lang="hu-HU" altLang="hu-HU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– </a:t>
            </a:r>
            <a:r>
              <a:rPr lang="hu-HU" altLang="hu-HU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particles</a:t>
            </a:r>
            <a:r>
              <a:rPr lang="hu-HU" altLang="hu-HU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  </a:t>
            </a:r>
            <a:r>
              <a:rPr lang="hu-HU" altLang="hu-HU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heavy</a:t>
            </a:r>
            <a:r>
              <a:rPr lang="hu-HU" altLang="hu-HU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, </a:t>
            </a:r>
            <a:r>
              <a:rPr lang="hu-HU" altLang="hu-HU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He</a:t>
            </a:r>
            <a:r>
              <a:rPr lang="hu-HU" altLang="hu-HU" b="1" baseline="30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2+</a:t>
            </a:r>
            <a:r>
              <a:rPr lang="hu-HU" altLang="hu-HU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altLang="hu-HU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ions</a:t>
            </a:r>
            <a:endParaRPr lang="hu-HU" altLang="hu-HU" b="1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altLang="hu-HU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anose="05050102010706020507" pitchFamily="18" charset="2"/>
              </a:rPr>
              <a:t>b</a:t>
            </a:r>
            <a:r>
              <a:rPr lang="hu-HU" altLang="hu-HU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– </a:t>
            </a:r>
            <a:r>
              <a:rPr lang="hu-HU" altLang="hu-HU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particles</a:t>
            </a:r>
            <a:r>
              <a:rPr lang="hu-HU" altLang="hu-HU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  </a:t>
            </a:r>
            <a:r>
              <a:rPr lang="hu-HU" altLang="hu-HU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high-energy</a:t>
            </a:r>
            <a:r>
              <a:rPr lang="hu-HU" altLang="hu-HU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altLang="hu-HU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electrons</a:t>
            </a:r>
            <a:endParaRPr lang="hu-HU" altLang="hu-HU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altLang="hu-HU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anose="05050102010706020507" pitchFamily="18" charset="2"/>
              </a:rPr>
              <a:t>g</a:t>
            </a:r>
            <a:r>
              <a:rPr lang="hu-HU" altLang="hu-HU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- </a:t>
            </a:r>
            <a:r>
              <a:rPr lang="hu-HU" altLang="hu-HU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radiation</a:t>
            </a:r>
            <a:r>
              <a:rPr lang="hu-HU" altLang="hu-HU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</a:t>
            </a:r>
            <a:r>
              <a:rPr lang="hu-HU" altLang="hu-HU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altLang="hu-HU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electromagnetic</a:t>
            </a:r>
            <a:r>
              <a:rPr lang="hu-HU" altLang="hu-HU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altLang="hu-HU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radiation</a:t>
            </a:r>
            <a:r>
              <a:rPr lang="hu-HU" altLang="hu-HU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altLang="hu-HU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(</a:t>
            </a:r>
            <a:r>
              <a:rPr lang="hu-HU" altLang="hu-HU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photons</a:t>
            </a:r>
            <a:r>
              <a:rPr lang="hu-HU" altLang="hu-HU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3CEAC85-F3E7-C0A7-563C-0507B47D0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4633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718E5B-FD2F-6C59-9272-FE7111322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Thomson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atomic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model</a:t>
            </a:r>
            <a:endParaRPr lang="hu-HU" b="1" dirty="0">
              <a:latin typeface="Book Antiqua" panose="0204060205030503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FEFA92D-4255-ADA2-222B-1DE5E7E5E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966" y="729360"/>
            <a:ext cx="1439998" cy="1008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C69C8FAE-4997-0694-789B-09FCB0E49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953" y="2265731"/>
            <a:ext cx="4538533" cy="2916000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0C0844EB-203B-1FF7-2359-D793C00563DE}"/>
              </a:ext>
            </a:extLst>
          </p:cNvPr>
          <p:cNvSpPr txBox="1"/>
          <p:nvPr/>
        </p:nvSpPr>
        <p:spPr>
          <a:xfrm>
            <a:off x="746760" y="2523402"/>
            <a:ext cx="4762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hu-HU" b="1" u="sng" dirty="0" err="1">
                <a:solidFill>
                  <a:srgbClr val="000000"/>
                </a:solidFill>
                <a:latin typeface="Times New Roman"/>
              </a:rPr>
              <a:t>Properties</a:t>
            </a:r>
            <a:r>
              <a:rPr lang="hu-HU" b="1" u="sng" dirty="0">
                <a:solidFill>
                  <a:srgbClr val="000000"/>
                </a:solidFill>
                <a:latin typeface="Times New Roman"/>
              </a:rPr>
              <a:t> of </a:t>
            </a:r>
            <a:r>
              <a:rPr lang="hu-HU" b="1" u="sng" dirty="0" err="1">
                <a:solidFill>
                  <a:srgbClr val="000000"/>
                </a:solidFill>
                <a:latin typeface="Times New Roman"/>
              </a:rPr>
              <a:t>the</a:t>
            </a:r>
            <a:r>
              <a:rPr lang="hu-HU" b="1" u="sng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hu-HU" b="1" u="sng" dirty="0" err="1">
                <a:solidFill>
                  <a:srgbClr val="000000"/>
                </a:solidFill>
                <a:latin typeface="Times New Roman"/>
              </a:rPr>
              <a:t>electron</a:t>
            </a:r>
            <a:r>
              <a:rPr lang="hu-HU" dirty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 err="1">
                <a:solidFill>
                  <a:srgbClr val="000000"/>
                </a:solidFill>
                <a:latin typeface="Times New Roman"/>
              </a:rPr>
              <a:t>m</a:t>
            </a:r>
            <a:r>
              <a:rPr lang="hu-HU" baseline="-25000" dirty="0" err="1">
                <a:solidFill>
                  <a:srgbClr val="000000"/>
                </a:solidFill>
                <a:latin typeface="Times New Roman"/>
              </a:rPr>
              <a:t>e</a:t>
            </a:r>
            <a:r>
              <a:rPr kumimoji="0" lang="hu-H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=0,5109989461 ±0,0000000031 </a:t>
            </a:r>
            <a:r>
              <a:rPr kumimoji="0" lang="hu-H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MeV</a:t>
            </a:r>
            <a:r>
              <a:rPr kumimoji="0" lang="hu-H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/c</a:t>
            </a:r>
            <a:r>
              <a:rPr kumimoji="0" lang="hu-HU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</a:t>
            </a:r>
            <a:endParaRPr kumimoji="0" lang="hu-H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q = -1e</a:t>
            </a:r>
          </a:p>
          <a:p>
            <a:endParaRPr lang="hu-HU" dirty="0"/>
          </a:p>
        </p:txBody>
      </p:sp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A30E3AE7-24B1-2EB7-9B8B-83E258F90778}"/>
              </a:ext>
            </a:extLst>
          </p:cNvPr>
          <p:cNvCxnSpPr/>
          <p:nvPr/>
        </p:nvCxnSpPr>
        <p:spPr>
          <a:xfrm>
            <a:off x="2430780" y="3123566"/>
            <a:ext cx="0" cy="658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>
            <a:extLst>
              <a:ext uri="{FF2B5EF4-FFF2-40B4-BE49-F238E27FC236}">
                <a16:creationId xmlns:a16="http://schemas.microsoft.com/office/drawing/2014/main" id="{C99E76F3-894E-905D-919F-6BD74E994676}"/>
              </a:ext>
            </a:extLst>
          </p:cNvPr>
          <p:cNvSpPr txBox="1"/>
          <p:nvPr/>
        </p:nvSpPr>
        <p:spPr>
          <a:xfrm>
            <a:off x="7582809" y="5464102"/>
            <a:ext cx="21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electrically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neutral</a:t>
            </a:r>
            <a:endParaRPr lang="hu-HU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EEB1EA7C-E38B-CE8F-0E94-32E9D9B59952}"/>
              </a:ext>
            </a:extLst>
          </p:cNvPr>
          <p:cNvSpPr txBox="1"/>
          <p:nvPr/>
        </p:nvSpPr>
        <p:spPr>
          <a:xfrm>
            <a:off x="1143748" y="4048108"/>
            <a:ext cx="30556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Large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portion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of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mass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belongs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to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positively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charged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matter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CD57019D-15F2-3F14-9AFE-2B699EB5DD98}"/>
              </a:ext>
            </a:extLst>
          </p:cNvPr>
          <p:cNvSpPr txBox="1"/>
          <p:nvPr/>
        </p:nvSpPr>
        <p:spPr>
          <a:xfrm>
            <a:off x="1379460" y="5279436"/>
            <a:ext cx="2153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u-HU" altLang="hu-HU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|q/</a:t>
            </a:r>
            <a:r>
              <a:rPr lang="hu-HU" altLang="hu-HU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</a:t>
            </a:r>
            <a:r>
              <a:rPr lang="hu-HU" altLang="hu-HU" baseline="-25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hu-HU" altLang="hu-HU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| &gt;&gt; |q/</a:t>
            </a:r>
            <a:r>
              <a:rPr lang="hu-HU" altLang="hu-HU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</a:t>
            </a:r>
            <a:r>
              <a:rPr lang="hu-HU" altLang="hu-HU" baseline="-25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positive</a:t>
            </a:r>
            <a:r>
              <a:rPr lang="hu-HU" altLang="hu-HU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|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0957F1D7-5F0D-1415-DC37-AF300ADE15AA}"/>
              </a:ext>
            </a:extLst>
          </p:cNvPr>
          <p:cNvSpPr txBox="1"/>
          <p:nvPr/>
        </p:nvSpPr>
        <p:spPr>
          <a:xfrm>
            <a:off x="9420636" y="2986406"/>
            <a:ext cx="2171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Homogeneous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charge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distribution</a:t>
            </a:r>
            <a:endParaRPr lang="hu-HU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0830ABE1-94C3-67F5-8A56-5FF3A829BAC8}"/>
              </a:ext>
            </a:extLst>
          </p:cNvPr>
          <p:cNvCxnSpPr>
            <a:cxnSpLocks/>
          </p:cNvCxnSpPr>
          <p:nvPr/>
        </p:nvCxnSpPr>
        <p:spPr>
          <a:xfrm flipH="1" flipV="1">
            <a:off x="3694621" y="5506108"/>
            <a:ext cx="3888188" cy="20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E10A41C-B6DB-0A72-89A8-606EA5867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4660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C5EDB9-ED0E-CB07-DD64-9123E7D07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491" y="1844947"/>
            <a:ext cx="10384236" cy="1406969"/>
          </a:xfrm>
        </p:spPr>
        <p:txBody>
          <a:bodyPr>
            <a:normAutofit/>
          </a:bodyPr>
          <a:lstStyle/>
          <a:p>
            <a:pPr algn="ctr"/>
            <a:r>
              <a:rPr lang="hu-H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How</a:t>
            </a:r>
            <a:r>
              <a:rPr lang="hu-H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alpha</a:t>
            </a:r>
            <a:r>
              <a:rPr lang="hu-H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particles</a:t>
            </a:r>
            <a:r>
              <a:rPr lang="hu-H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are</a:t>
            </a:r>
            <a:r>
              <a:rPr lang="hu-H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absorbed</a:t>
            </a:r>
            <a:r>
              <a:rPr lang="hu-H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by</a:t>
            </a:r>
            <a:r>
              <a:rPr lang="hu-H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a </a:t>
            </a:r>
            <a:r>
              <a:rPr lang="hu-H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sheet</a:t>
            </a:r>
            <a:r>
              <a:rPr lang="hu-H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</a:t>
            </a:r>
            <a:r>
              <a:rPr lang="hu-H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paper</a:t>
            </a:r>
            <a:r>
              <a:rPr lang="hu-H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when</a:t>
            </a:r>
            <a:r>
              <a:rPr lang="hu-H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atoms</a:t>
            </a:r>
            <a:r>
              <a:rPr lang="hu-H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are</a:t>
            </a:r>
            <a:r>
              <a:rPr lang="hu-H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neutral</a:t>
            </a:r>
            <a:r>
              <a:rPr lang="hu-H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?</a:t>
            </a: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6CF0A7CE-70EC-898B-C20E-5E71D979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6449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BD442-D10D-83FB-3095-0C7A808C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CABDAF-5235-0DAA-AE84-CC3F1482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>
                <a:solidFill>
                  <a:schemeClr val="accent1"/>
                </a:solidFill>
                <a:latin typeface="Book Antiqua" panose="02040602050305030304" pitchFamily="18" charset="0"/>
              </a:rPr>
              <a:t>Rutherford</a:t>
            </a:r>
            <a:r>
              <a:rPr lang="hu-HU" b="1">
                <a:solidFill>
                  <a:schemeClr val="tx1"/>
                </a:solidFill>
                <a:latin typeface="Book Antiqua" panose="02040602050305030304" pitchFamily="18" charset="0"/>
              </a:rPr>
              <a:t>’s experiment: the discovery of the </a:t>
            </a:r>
            <a:r>
              <a:rPr lang="hu-HU" b="1">
                <a:solidFill>
                  <a:schemeClr val="accent1"/>
                </a:solidFill>
                <a:latin typeface="Book Antiqua" panose="02040602050305030304" pitchFamily="18" charset="0"/>
              </a:rPr>
              <a:t>nucleus</a:t>
            </a:r>
            <a:endParaRPr lang="hu-HU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8047D43-ECAD-B294-0B7E-96FF281F2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2169" y="369360"/>
            <a:ext cx="985145" cy="1368000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419F53A2-BD3D-A99D-614C-872220F1F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107" y="1941600"/>
            <a:ext cx="3797000" cy="1908000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886DE6DA-C078-C439-E78D-56F8161EF76D}"/>
              </a:ext>
            </a:extLst>
          </p:cNvPr>
          <p:cNvSpPr txBox="1"/>
          <p:nvPr/>
        </p:nvSpPr>
        <p:spPr>
          <a:xfrm>
            <a:off x="587267" y="3954780"/>
            <a:ext cx="53873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Maximal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effect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alpha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deflection</a:t>
            </a:r>
            <a:endParaRPr lang="hu-HU" dirty="0">
              <a:latin typeface="Book Antiqua" panose="0204060205030503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Fully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ionized</a:t>
            </a:r>
            <a:r>
              <a:rPr lang="hu-HU" dirty="0">
                <a:latin typeface="Book Antiqua" panose="02040602050305030304" pitchFamily="18" charset="0"/>
              </a:rPr>
              <a:t> atom (</a:t>
            </a:r>
            <a:r>
              <a:rPr lang="hu-HU" dirty="0" err="1">
                <a:latin typeface="Book Antiqua" panose="02040602050305030304" pitchFamily="18" charset="0"/>
              </a:rPr>
              <a:t>positive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Size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atom: R≈10</a:t>
            </a:r>
            <a:r>
              <a:rPr lang="hu-HU" baseline="30000" dirty="0">
                <a:latin typeface="Book Antiqua" panose="02040602050305030304" pitchFamily="18" charset="0"/>
              </a:rPr>
              <a:t>-10</a:t>
            </a:r>
            <a:r>
              <a:rPr lang="hu-HU" dirty="0">
                <a:latin typeface="Book Antiqua" panose="02040602050305030304" pitchFamily="18" charset="0"/>
              </a:rPr>
              <a:t> 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Estimate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>
                <a:latin typeface="Book Antiqua" panose="02040602050305030304" pitchFamily="18" charset="0"/>
              </a:rPr>
              <a:t>maximum </a:t>
            </a:r>
            <a:r>
              <a:rPr lang="hu-HU" b="1" dirty="0" err="1">
                <a:latin typeface="Book Antiqua" panose="02040602050305030304" pitchFamily="18" charset="0"/>
              </a:rPr>
              <a:t>electric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potential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energy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alpha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 (</a:t>
            </a:r>
            <a:r>
              <a:rPr lang="hu-HU" dirty="0" err="1">
                <a:latin typeface="Book Antiqua" panose="02040602050305030304" pitchFamily="18" charset="0"/>
              </a:rPr>
              <a:t>consider</a:t>
            </a:r>
            <a:r>
              <a:rPr lang="hu-HU" dirty="0">
                <a:latin typeface="Book Antiqua" panose="02040602050305030304" pitchFamily="18" charset="0"/>
              </a:rPr>
              <a:t> a </a:t>
            </a:r>
            <a:r>
              <a:rPr lang="hu-HU" dirty="0" err="1">
                <a:latin typeface="Book Antiqua" panose="02040602050305030304" pitchFamily="18" charset="0"/>
              </a:rPr>
              <a:t>spherically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symmetric</a:t>
            </a:r>
            <a:r>
              <a:rPr lang="hu-HU" dirty="0">
                <a:latin typeface="Book Antiqua" panose="02040602050305030304" pitchFamily="18" charset="0"/>
              </a:rPr>
              <a:t> atom </a:t>
            </a:r>
            <a:r>
              <a:rPr lang="hu-HU" dirty="0" err="1">
                <a:latin typeface="Book Antiqua" panose="02040602050305030304" pitchFamily="18" charset="0"/>
              </a:rPr>
              <a:t>with</a:t>
            </a:r>
            <a:r>
              <a:rPr lang="hu-HU" dirty="0">
                <a:latin typeface="Book Antiqua" panose="02040602050305030304" pitchFamily="18" charset="0"/>
              </a:rPr>
              <a:t> uniform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distribution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12" name="Ellipszis 11">
            <a:extLst>
              <a:ext uri="{FF2B5EF4-FFF2-40B4-BE49-F238E27FC236}">
                <a16:creationId xmlns:a16="http://schemas.microsoft.com/office/drawing/2014/main" id="{8D4D10DC-A325-1530-E859-E1A13D74A23D}"/>
              </a:ext>
            </a:extLst>
          </p:cNvPr>
          <p:cNvSpPr/>
          <p:nvPr/>
        </p:nvSpPr>
        <p:spPr>
          <a:xfrm>
            <a:off x="3810000" y="1851660"/>
            <a:ext cx="2164607" cy="210312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DF3F9B9C-987A-F9D1-61EB-561DEC43DBF9}"/>
              </a:ext>
            </a:extLst>
          </p:cNvPr>
          <p:cNvSpPr/>
          <p:nvPr/>
        </p:nvSpPr>
        <p:spPr>
          <a:xfrm>
            <a:off x="5974607" y="1798320"/>
            <a:ext cx="2034013" cy="2156460"/>
          </a:xfrm>
          <a:prstGeom prst="roundRect">
            <a:avLst/>
          </a:prstGeom>
          <a:gradFill flip="none" rotWithShape="1">
            <a:gsLst>
              <a:gs pos="93000">
                <a:schemeClr val="accent1">
                  <a:lumMod val="10000"/>
                  <a:lumOff val="90000"/>
                  <a:alpha val="83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4000">
                <a:schemeClr val="accent1">
                  <a:lumMod val="10000"/>
                  <a:lumOff val="9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3DD893C-B8D3-29D0-E52B-D5CFB55F3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7099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951F0-C115-DC06-41D1-671B9A30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0B65B6-74D4-17B6-B670-BB5410D1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Rutherford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’s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experiment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discovery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nucleus</a:t>
            </a:r>
            <a:endParaRPr lang="hu-HU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E49DC78-9928-B88D-A25E-E4A123DD6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169" y="369360"/>
            <a:ext cx="985145" cy="1368000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C4015462-B894-55CB-5FBA-3F1A7566D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107" y="1941600"/>
            <a:ext cx="3797000" cy="1908000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05B577D5-381B-9BEA-8914-F743171987D1}"/>
              </a:ext>
            </a:extLst>
          </p:cNvPr>
          <p:cNvSpPr txBox="1"/>
          <p:nvPr/>
        </p:nvSpPr>
        <p:spPr>
          <a:xfrm>
            <a:off x="587267" y="3954780"/>
            <a:ext cx="53873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Maximal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effect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alpha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deflection</a:t>
            </a:r>
            <a:endParaRPr lang="hu-HU" dirty="0">
              <a:latin typeface="Book Antiqua" panose="0204060205030503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Fully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ionized</a:t>
            </a:r>
            <a:r>
              <a:rPr lang="hu-HU" dirty="0">
                <a:latin typeface="Book Antiqua" panose="02040602050305030304" pitchFamily="18" charset="0"/>
              </a:rPr>
              <a:t> atom (</a:t>
            </a:r>
            <a:r>
              <a:rPr lang="hu-HU" dirty="0" err="1">
                <a:latin typeface="Book Antiqua" panose="02040602050305030304" pitchFamily="18" charset="0"/>
              </a:rPr>
              <a:t>positive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Size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atom: R≈10</a:t>
            </a:r>
            <a:r>
              <a:rPr lang="hu-HU" baseline="30000" dirty="0">
                <a:latin typeface="Book Antiqua" panose="02040602050305030304" pitchFamily="18" charset="0"/>
              </a:rPr>
              <a:t>-10</a:t>
            </a:r>
            <a:r>
              <a:rPr lang="hu-HU" dirty="0">
                <a:latin typeface="Book Antiqua" panose="02040602050305030304" pitchFamily="18" charset="0"/>
              </a:rPr>
              <a:t> 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Estimate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>
                <a:latin typeface="Book Antiqua" panose="02040602050305030304" pitchFamily="18" charset="0"/>
              </a:rPr>
              <a:t>maximum </a:t>
            </a:r>
            <a:r>
              <a:rPr lang="hu-HU" b="1" dirty="0" err="1">
                <a:latin typeface="Book Antiqua" panose="02040602050305030304" pitchFamily="18" charset="0"/>
              </a:rPr>
              <a:t>electric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potential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energy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alpha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 (</a:t>
            </a:r>
            <a:r>
              <a:rPr lang="hu-HU" dirty="0" err="1">
                <a:latin typeface="Book Antiqua" panose="02040602050305030304" pitchFamily="18" charset="0"/>
              </a:rPr>
              <a:t>consider</a:t>
            </a:r>
            <a:r>
              <a:rPr lang="hu-HU" dirty="0">
                <a:latin typeface="Book Antiqua" panose="02040602050305030304" pitchFamily="18" charset="0"/>
              </a:rPr>
              <a:t> a </a:t>
            </a:r>
            <a:r>
              <a:rPr lang="hu-HU" dirty="0" err="1">
                <a:latin typeface="Book Antiqua" panose="02040602050305030304" pitchFamily="18" charset="0"/>
              </a:rPr>
              <a:t>spherically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symmetric</a:t>
            </a:r>
            <a:r>
              <a:rPr lang="hu-HU" dirty="0">
                <a:latin typeface="Book Antiqua" panose="02040602050305030304" pitchFamily="18" charset="0"/>
              </a:rPr>
              <a:t> atom </a:t>
            </a:r>
            <a:r>
              <a:rPr lang="hu-HU" dirty="0" err="1">
                <a:latin typeface="Book Antiqua" panose="02040602050305030304" pitchFamily="18" charset="0"/>
              </a:rPr>
              <a:t>with</a:t>
            </a:r>
            <a:r>
              <a:rPr lang="hu-HU" dirty="0">
                <a:latin typeface="Book Antiqua" panose="02040602050305030304" pitchFamily="18" charset="0"/>
              </a:rPr>
              <a:t> uniform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distribution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12" name="Ellipszis 11">
            <a:extLst>
              <a:ext uri="{FF2B5EF4-FFF2-40B4-BE49-F238E27FC236}">
                <a16:creationId xmlns:a16="http://schemas.microsoft.com/office/drawing/2014/main" id="{A81EFBF0-BB1B-23DB-38EE-910FC81D8026}"/>
              </a:ext>
            </a:extLst>
          </p:cNvPr>
          <p:cNvSpPr/>
          <p:nvPr/>
        </p:nvSpPr>
        <p:spPr>
          <a:xfrm>
            <a:off x="3810000" y="1851660"/>
            <a:ext cx="2164607" cy="210312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8527C42A-712E-FDC6-65B5-92DCD6F9F0FB}"/>
              </a:ext>
            </a:extLst>
          </p:cNvPr>
          <p:cNvSpPr/>
          <p:nvPr/>
        </p:nvSpPr>
        <p:spPr>
          <a:xfrm>
            <a:off x="5974607" y="1798320"/>
            <a:ext cx="2034013" cy="2156460"/>
          </a:xfrm>
          <a:prstGeom prst="roundRect">
            <a:avLst/>
          </a:prstGeom>
          <a:gradFill flip="none" rotWithShape="1">
            <a:gsLst>
              <a:gs pos="93000">
                <a:schemeClr val="accent1">
                  <a:lumMod val="10000"/>
                  <a:lumOff val="90000"/>
                  <a:alpha val="83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4000">
                <a:schemeClr val="accent1">
                  <a:lumMod val="10000"/>
                  <a:lumOff val="9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6A8A2953-2F7A-6510-DE44-13D9ED6CEA34}"/>
              </a:ext>
            </a:extLst>
          </p:cNvPr>
          <p:cNvCxnSpPr/>
          <p:nvPr/>
        </p:nvCxnSpPr>
        <p:spPr>
          <a:xfrm>
            <a:off x="6267713" y="5288280"/>
            <a:ext cx="937260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Kép 7">
            <a:extLst>
              <a:ext uri="{FF2B5EF4-FFF2-40B4-BE49-F238E27FC236}">
                <a16:creationId xmlns:a16="http://schemas.microsoft.com/office/drawing/2014/main" id="{A346AEA8-6473-28E3-15D2-BEC0EE499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976" y="3818442"/>
            <a:ext cx="2636338" cy="2304000"/>
          </a:xfrm>
          <a:prstGeom prst="rect">
            <a:avLst/>
          </a:prstGeom>
        </p:spPr>
      </p:pic>
      <p:sp>
        <p:nvSpPr>
          <p:cNvPr id="10" name="Text Box 8">
            <a:extLst>
              <a:ext uri="{FF2B5EF4-FFF2-40B4-BE49-F238E27FC236}">
                <a16:creationId xmlns:a16="http://schemas.microsoft.com/office/drawing/2014/main" id="{8F026F85-6CAE-E496-6322-6E6EAD629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9" y="2607430"/>
            <a:ext cx="2636338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u-HU" altLang="hu-HU" sz="21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hu-HU" altLang="hu-HU" sz="21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alpha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~ 7700 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10</a:t>
            </a:r>
            <a:r>
              <a:rPr lang="hu-HU" altLang="hu-HU" sz="2100" b="1" baseline="30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-16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J</a:t>
            </a:r>
          </a:p>
        </p:txBody>
      </p: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70D2E2CE-B2CD-C8A1-2756-E8C4FE50EAF5}"/>
              </a:ext>
            </a:extLst>
          </p:cNvPr>
          <p:cNvCxnSpPr>
            <a:cxnSpLocks/>
          </p:cNvCxnSpPr>
          <p:nvPr/>
        </p:nvCxnSpPr>
        <p:spPr>
          <a:xfrm>
            <a:off x="3122558" y="2868930"/>
            <a:ext cx="316757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zis 17">
            <a:extLst>
              <a:ext uri="{FF2B5EF4-FFF2-40B4-BE49-F238E27FC236}">
                <a16:creationId xmlns:a16="http://schemas.microsoft.com/office/drawing/2014/main" id="{7C489284-C940-47C2-B2CC-77DA9F48C5F7}"/>
              </a:ext>
            </a:extLst>
          </p:cNvPr>
          <p:cNvSpPr/>
          <p:nvPr/>
        </p:nvSpPr>
        <p:spPr>
          <a:xfrm>
            <a:off x="8656321" y="3642360"/>
            <a:ext cx="1805940" cy="71628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29FECB2-0F4E-3718-4EA5-16522945C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6418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32E9A-F0D5-18BA-7F26-F1C19B423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BA0AF6-ABAC-1956-58AC-465F40BC0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Rutherford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’s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experiment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discovery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nucleus</a:t>
            </a:r>
            <a:endParaRPr lang="hu-HU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7D87AD2-970E-2557-50EE-D187218C8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169" y="369360"/>
            <a:ext cx="985145" cy="1368000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B41C2C37-92BB-3403-DF3A-6E19CBD62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107" y="1941600"/>
            <a:ext cx="3797000" cy="1908000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FB2784C3-DC72-25FA-EA57-C539D8E2244B}"/>
              </a:ext>
            </a:extLst>
          </p:cNvPr>
          <p:cNvSpPr txBox="1"/>
          <p:nvPr/>
        </p:nvSpPr>
        <p:spPr>
          <a:xfrm>
            <a:off x="587267" y="3954780"/>
            <a:ext cx="53873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Maximal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effect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alpha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deflection</a:t>
            </a:r>
            <a:endParaRPr lang="hu-HU" dirty="0">
              <a:latin typeface="Book Antiqua" panose="0204060205030503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Fully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ionized</a:t>
            </a:r>
            <a:r>
              <a:rPr lang="hu-HU" dirty="0">
                <a:latin typeface="Book Antiqua" panose="02040602050305030304" pitchFamily="18" charset="0"/>
              </a:rPr>
              <a:t> atom (</a:t>
            </a:r>
            <a:r>
              <a:rPr lang="hu-HU" dirty="0" err="1">
                <a:latin typeface="Book Antiqua" panose="02040602050305030304" pitchFamily="18" charset="0"/>
              </a:rPr>
              <a:t>positive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Size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atom: R≈10</a:t>
            </a:r>
            <a:r>
              <a:rPr lang="hu-HU" baseline="30000" dirty="0">
                <a:latin typeface="Book Antiqua" panose="02040602050305030304" pitchFamily="18" charset="0"/>
              </a:rPr>
              <a:t>-10</a:t>
            </a:r>
            <a:r>
              <a:rPr lang="hu-HU" dirty="0">
                <a:latin typeface="Book Antiqua" panose="02040602050305030304" pitchFamily="18" charset="0"/>
              </a:rPr>
              <a:t> 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Estimate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>
                <a:latin typeface="Book Antiqua" panose="02040602050305030304" pitchFamily="18" charset="0"/>
              </a:rPr>
              <a:t>maximum </a:t>
            </a:r>
            <a:r>
              <a:rPr lang="hu-HU" b="1" dirty="0" err="1">
                <a:latin typeface="Book Antiqua" panose="02040602050305030304" pitchFamily="18" charset="0"/>
              </a:rPr>
              <a:t>electric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potential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energy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alpha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 (</a:t>
            </a:r>
            <a:r>
              <a:rPr lang="hu-HU" dirty="0" err="1">
                <a:latin typeface="Book Antiqua" panose="02040602050305030304" pitchFamily="18" charset="0"/>
              </a:rPr>
              <a:t>consider</a:t>
            </a:r>
            <a:r>
              <a:rPr lang="hu-HU" dirty="0">
                <a:latin typeface="Book Antiqua" panose="02040602050305030304" pitchFamily="18" charset="0"/>
              </a:rPr>
              <a:t> a </a:t>
            </a:r>
            <a:r>
              <a:rPr lang="hu-HU" dirty="0" err="1">
                <a:latin typeface="Book Antiqua" panose="02040602050305030304" pitchFamily="18" charset="0"/>
              </a:rPr>
              <a:t>spherically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symmetric</a:t>
            </a:r>
            <a:r>
              <a:rPr lang="hu-HU" dirty="0">
                <a:latin typeface="Book Antiqua" panose="02040602050305030304" pitchFamily="18" charset="0"/>
              </a:rPr>
              <a:t> atom </a:t>
            </a:r>
            <a:r>
              <a:rPr lang="hu-HU" dirty="0" err="1">
                <a:latin typeface="Book Antiqua" panose="02040602050305030304" pitchFamily="18" charset="0"/>
              </a:rPr>
              <a:t>with</a:t>
            </a:r>
            <a:r>
              <a:rPr lang="hu-HU" dirty="0">
                <a:latin typeface="Book Antiqua" panose="02040602050305030304" pitchFamily="18" charset="0"/>
              </a:rPr>
              <a:t> uniform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distribution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12" name="Ellipszis 11">
            <a:extLst>
              <a:ext uri="{FF2B5EF4-FFF2-40B4-BE49-F238E27FC236}">
                <a16:creationId xmlns:a16="http://schemas.microsoft.com/office/drawing/2014/main" id="{6ED9E916-95FD-25C8-6AAA-DD937839C94E}"/>
              </a:ext>
            </a:extLst>
          </p:cNvPr>
          <p:cNvSpPr/>
          <p:nvPr/>
        </p:nvSpPr>
        <p:spPr>
          <a:xfrm>
            <a:off x="3810000" y="1851660"/>
            <a:ext cx="2164607" cy="210312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D6EDA1D5-D77D-5E1C-4F9B-2E843878322A}"/>
              </a:ext>
            </a:extLst>
          </p:cNvPr>
          <p:cNvSpPr/>
          <p:nvPr/>
        </p:nvSpPr>
        <p:spPr>
          <a:xfrm>
            <a:off x="5974607" y="1798320"/>
            <a:ext cx="2034013" cy="2156460"/>
          </a:xfrm>
          <a:prstGeom prst="roundRect">
            <a:avLst/>
          </a:prstGeom>
          <a:gradFill flip="none" rotWithShape="1">
            <a:gsLst>
              <a:gs pos="93000">
                <a:schemeClr val="accent1">
                  <a:lumMod val="10000"/>
                  <a:lumOff val="90000"/>
                  <a:alpha val="83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4000">
                <a:schemeClr val="accent1">
                  <a:lumMod val="10000"/>
                  <a:lumOff val="9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80BABBE3-24E0-AB51-2341-D07E7A97ED88}"/>
              </a:ext>
            </a:extLst>
          </p:cNvPr>
          <p:cNvCxnSpPr/>
          <p:nvPr/>
        </p:nvCxnSpPr>
        <p:spPr>
          <a:xfrm>
            <a:off x="6267713" y="5288280"/>
            <a:ext cx="937260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Kép 7">
            <a:extLst>
              <a:ext uri="{FF2B5EF4-FFF2-40B4-BE49-F238E27FC236}">
                <a16:creationId xmlns:a16="http://schemas.microsoft.com/office/drawing/2014/main" id="{4334DD73-307A-A926-8019-9F575B090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976" y="3818442"/>
            <a:ext cx="2636338" cy="2304000"/>
          </a:xfrm>
          <a:prstGeom prst="rect">
            <a:avLst/>
          </a:prstGeom>
        </p:spPr>
      </p:pic>
      <p:sp>
        <p:nvSpPr>
          <p:cNvPr id="10" name="Text Box 8">
            <a:extLst>
              <a:ext uri="{FF2B5EF4-FFF2-40B4-BE49-F238E27FC236}">
                <a16:creationId xmlns:a16="http://schemas.microsoft.com/office/drawing/2014/main" id="{B808088D-6BA5-8E0B-7224-C5BC3BDFC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9" y="2607430"/>
            <a:ext cx="2636338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u-HU" altLang="hu-HU" sz="21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hu-HU" altLang="hu-HU" sz="21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alpha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~ 7700 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10</a:t>
            </a:r>
            <a:r>
              <a:rPr lang="hu-HU" altLang="hu-HU" sz="2100" b="1" baseline="30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-16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J</a:t>
            </a:r>
          </a:p>
        </p:txBody>
      </p: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2BB11738-61C3-28EB-8E71-E96F8AFEA450}"/>
              </a:ext>
            </a:extLst>
          </p:cNvPr>
          <p:cNvCxnSpPr>
            <a:cxnSpLocks/>
          </p:cNvCxnSpPr>
          <p:nvPr/>
        </p:nvCxnSpPr>
        <p:spPr>
          <a:xfrm>
            <a:off x="3122558" y="2868930"/>
            <a:ext cx="316757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8">
            <a:extLst>
              <a:ext uri="{FF2B5EF4-FFF2-40B4-BE49-F238E27FC236}">
                <a16:creationId xmlns:a16="http://schemas.microsoft.com/office/drawing/2014/main" id="{62C80503-5D48-D5A8-8380-878B9D11DD48}"/>
              </a:ext>
            </a:extLst>
          </p:cNvPr>
          <p:cNvSpPr txBox="1"/>
          <p:nvPr/>
        </p:nvSpPr>
        <p:spPr>
          <a:xfrm>
            <a:off x="8648700" y="2168848"/>
            <a:ext cx="3543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u-HU" altLang="hu-HU" i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Z</a:t>
            </a:r>
            <a:r>
              <a:rPr lang="hu-HU" altLang="hu-HU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hu-HU" altLang="hu-HU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= 2 (</a:t>
            </a:r>
            <a:r>
              <a:rPr lang="hu-HU" altLang="hu-HU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atomic</a:t>
            </a:r>
            <a:r>
              <a:rPr lang="hu-HU" altLang="hu-HU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hu-HU" altLang="hu-HU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number</a:t>
            </a:r>
            <a:r>
              <a:rPr lang="hu-HU" altLang="hu-HU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of He)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u-HU" altLang="hu-HU" i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Z</a:t>
            </a:r>
            <a:r>
              <a:rPr lang="hu-HU" altLang="hu-HU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hu-HU" altLang="hu-HU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= 79 (</a:t>
            </a:r>
            <a:r>
              <a:rPr lang="hu-HU" altLang="hu-HU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atomic</a:t>
            </a:r>
            <a:r>
              <a:rPr lang="hu-HU" altLang="hu-HU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hu-HU" altLang="hu-HU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number</a:t>
            </a:r>
            <a:r>
              <a:rPr lang="hu-HU" altLang="hu-HU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of Au)</a:t>
            </a:r>
            <a:endParaRPr lang="hu-HU" dirty="0">
              <a:solidFill>
                <a:srgbClr val="002060"/>
              </a:solidFill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CCBBD877-6F3C-499E-5294-84E967F20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4467" y="2831809"/>
            <a:ext cx="233574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u-HU" altLang="hu-HU" sz="21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hu-HU" altLang="hu-HU" sz="21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max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~ 5,5 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10</a:t>
            </a:r>
            <a:r>
              <a:rPr lang="hu-HU" altLang="hu-HU" sz="2100" b="1" baseline="30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-16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J</a:t>
            </a:r>
          </a:p>
        </p:txBody>
      </p:sp>
      <p:sp>
        <p:nvSpPr>
          <p:cNvPr id="14" name="Ellipszis 13">
            <a:extLst>
              <a:ext uri="{FF2B5EF4-FFF2-40B4-BE49-F238E27FC236}">
                <a16:creationId xmlns:a16="http://schemas.microsoft.com/office/drawing/2014/main" id="{CE5C3E90-15F1-468E-ECF2-3A516A833EE5}"/>
              </a:ext>
            </a:extLst>
          </p:cNvPr>
          <p:cNvSpPr/>
          <p:nvPr/>
        </p:nvSpPr>
        <p:spPr>
          <a:xfrm>
            <a:off x="8656321" y="3642360"/>
            <a:ext cx="1805940" cy="71628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115BCFB-DECA-96DC-AF8F-93802B2F9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7688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6C5FF-A969-FBA5-D376-1CB3BAD3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15E2CE-EE55-D022-980F-AA978F5A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Rutherford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’s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experiment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discovery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nucleus</a:t>
            </a:r>
            <a:endParaRPr lang="hu-HU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8820BA1-1706-C14E-5EBF-CABC3A4F9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169" y="369360"/>
            <a:ext cx="985145" cy="1368000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4A24911B-F700-1F78-34B2-587BAC132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107" y="1941600"/>
            <a:ext cx="3797000" cy="1908000"/>
          </a:xfrm>
          <a:prstGeom prst="rect">
            <a:avLst/>
          </a:prstGeom>
        </p:spPr>
      </p:pic>
      <p:sp>
        <p:nvSpPr>
          <p:cNvPr id="12" name="Ellipszis 11">
            <a:extLst>
              <a:ext uri="{FF2B5EF4-FFF2-40B4-BE49-F238E27FC236}">
                <a16:creationId xmlns:a16="http://schemas.microsoft.com/office/drawing/2014/main" id="{0255D045-10BE-D3A2-E276-C75DAB0A3591}"/>
              </a:ext>
            </a:extLst>
          </p:cNvPr>
          <p:cNvSpPr/>
          <p:nvPr/>
        </p:nvSpPr>
        <p:spPr>
          <a:xfrm>
            <a:off x="3810000" y="1851660"/>
            <a:ext cx="2164607" cy="210312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436EAB0A-5ECE-BF4B-2A52-284790BEE997}"/>
              </a:ext>
            </a:extLst>
          </p:cNvPr>
          <p:cNvSpPr/>
          <p:nvPr/>
        </p:nvSpPr>
        <p:spPr>
          <a:xfrm>
            <a:off x="5974607" y="1798320"/>
            <a:ext cx="2034013" cy="2156460"/>
          </a:xfrm>
          <a:prstGeom prst="roundRect">
            <a:avLst/>
          </a:prstGeom>
          <a:gradFill flip="none" rotWithShape="1">
            <a:gsLst>
              <a:gs pos="93000">
                <a:schemeClr val="accent1">
                  <a:lumMod val="10000"/>
                  <a:lumOff val="90000"/>
                  <a:alpha val="83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4000">
                <a:schemeClr val="accent1">
                  <a:lumMod val="10000"/>
                  <a:lumOff val="9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9DD2910A-8EAC-1035-ED0E-056CA3CAB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976" y="3818442"/>
            <a:ext cx="2636338" cy="2304000"/>
          </a:xfrm>
          <a:prstGeom prst="rect">
            <a:avLst/>
          </a:prstGeom>
        </p:spPr>
      </p:pic>
      <p:sp>
        <p:nvSpPr>
          <p:cNvPr id="10" name="Text Box 8">
            <a:extLst>
              <a:ext uri="{FF2B5EF4-FFF2-40B4-BE49-F238E27FC236}">
                <a16:creationId xmlns:a16="http://schemas.microsoft.com/office/drawing/2014/main" id="{E0B9B949-0BA7-C41B-0B02-45335E494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9" y="2607430"/>
            <a:ext cx="2636338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u-HU" altLang="hu-HU" sz="21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hu-HU" altLang="hu-HU" sz="21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alpha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~ 7700 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10</a:t>
            </a:r>
            <a:r>
              <a:rPr lang="hu-HU" altLang="hu-HU" sz="2100" b="1" baseline="30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-16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J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D8127836-254D-432A-88EC-9161C047A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628" y="3226862"/>
            <a:ext cx="233574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u-HU" altLang="hu-HU" sz="21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hu-HU" altLang="hu-HU" sz="21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max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~ 5,5 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10</a:t>
            </a:r>
            <a:r>
              <a:rPr lang="hu-HU" altLang="hu-HU" sz="2100" b="1" baseline="30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-16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J</a:t>
            </a:r>
          </a:p>
        </p:txBody>
      </p:sp>
      <p:sp>
        <p:nvSpPr>
          <p:cNvPr id="14" name="Ellipszis 13">
            <a:extLst>
              <a:ext uri="{FF2B5EF4-FFF2-40B4-BE49-F238E27FC236}">
                <a16:creationId xmlns:a16="http://schemas.microsoft.com/office/drawing/2014/main" id="{D2379581-EC1C-2CD3-138D-3FB7215FBA7D}"/>
              </a:ext>
            </a:extLst>
          </p:cNvPr>
          <p:cNvSpPr/>
          <p:nvPr/>
        </p:nvSpPr>
        <p:spPr>
          <a:xfrm>
            <a:off x="8656321" y="3642360"/>
            <a:ext cx="1805940" cy="71628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5A7A0CB1-B837-5A96-156B-1FE600E5F862}"/>
              </a:ext>
            </a:extLst>
          </p:cNvPr>
          <p:cNvSpPr/>
          <p:nvPr/>
        </p:nvSpPr>
        <p:spPr>
          <a:xfrm>
            <a:off x="518160" y="2346960"/>
            <a:ext cx="2762777" cy="160782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978B7ABD-0F6F-72A3-CAD2-B711EF7FD47F}"/>
              </a:ext>
            </a:extLst>
          </p:cNvPr>
          <p:cNvSpPr txBox="1"/>
          <p:nvPr/>
        </p:nvSpPr>
        <p:spPr>
          <a:xfrm>
            <a:off x="248196" y="4051374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No back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scattering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is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expected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58D0FF4-EA9E-C711-D7EF-CBF3A7B3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3765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1C87-B2AC-0045-CF1B-BECA47D4C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0695EA-640D-EC60-CB0C-531268C8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Rutherford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’s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experiment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discovery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nucleus</a:t>
            </a:r>
            <a:endParaRPr lang="hu-HU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4F4177A-B2DA-1101-3B24-881108517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169" y="369360"/>
            <a:ext cx="985145" cy="1368000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BAF6B2B7-66F6-A892-BD99-028E636BB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107" y="1941600"/>
            <a:ext cx="3797000" cy="1908000"/>
          </a:xfrm>
          <a:prstGeom prst="rect">
            <a:avLst/>
          </a:prstGeom>
        </p:spPr>
      </p:pic>
      <p:sp>
        <p:nvSpPr>
          <p:cNvPr id="10" name="Text Box 8">
            <a:extLst>
              <a:ext uri="{FF2B5EF4-FFF2-40B4-BE49-F238E27FC236}">
                <a16:creationId xmlns:a16="http://schemas.microsoft.com/office/drawing/2014/main" id="{2CA8B6F2-D2D6-4466-57D6-700FF6C53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9" y="2607430"/>
            <a:ext cx="2636338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u-HU" altLang="hu-HU" sz="21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hu-HU" altLang="hu-HU" sz="21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alpha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~ 7700 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10</a:t>
            </a:r>
            <a:r>
              <a:rPr lang="hu-HU" altLang="hu-HU" sz="2100" b="1" baseline="30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-16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J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4EEC06F7-D761-78A7-13C5-BBA2B7624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628" y="3226862"/>
            <a:ext cx="233574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u-HU" altLang="hu-HU" sz="21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hu-HU" altLang="hu-HU" sz="21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max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~ 5,5 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10</a:t>
            </a:r>
            <a:r>
              <a:rPr lang="hu-HU" altLang="hu-HU" sz="2100" b="1" baseline="30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-16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J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E45D68A0-7A66-1FAA-9F44-956504FEA2A9}"/>
              </a:ext>
            </a:extLst>
          </p:cNvPr>
          <p:cNvSpPr/>
          <p:nvPr/>
        </p:nvSpPr>
        <p:spPr>
          <a:xfrm>
            <a:off x="518160" y="2346960"/>
            <a:ext cx="2762777" cy="160782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729EDC7A-CE8F-4E84-301D-34C7B6D87862}"/>
              </a:ext>
            </a:extLst>
          </p:cNvPr>
          <p:cNvSpPr txBox="1"/>
          <p:nvPr/>
        </p:nvSpPr>
        <p:spPr>
          <a:xfrm>
            <a:off x="248196" y="4051374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No back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scattering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is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expected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7E2893F9-9860-E9F5-9FF3-D4EECE1DF928}"/>
              </a:ext>
            </a:extLst>
          </p:cNvPr>
          <p:cNvCxnSpPr/>
          <p:nvPr/>
        </p:nvCxnSpPr>
        <p:spPr>
          <a:xfrm>
            <a:off x="3970020" y="1859280"/>
            <a:ext cx="1821180" cy="21920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53CD0C9D-B668-8A44-C2FE-F515E7D03F75}"/>
              </a:ext>
            </a:extLst>
          </p:cNvPr>
          <p:cNvCxnSpPr/>
          <p:nvPr/>
        </p:nvCxnSpPr>
        <p:spPr>
          <a:xfrm flipH="1">
            <a:off x="4617720" y="1859280"/>
            <a:ext cx="1082040" cy="21920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lipszis 16">
            <a:extLst>
              <a:ext uri="{FF2B5EF4-FFF2-40B4-BE49-F238E27FC236}">
                <a16:creationId xmlns:a16="http://schemas.microsoft.com/office/drawing/2014/main" id="{B144166B-609E-2885-66CF-040CBE1AB944}"/>
              </a:ext>
            </a:extLst>
          </p:cNvPr>
          <p:cNvSpPr/>
          <p:nvPr/>
        </p:nvSpPr>
        <p:spPr>
          <a:xfrm>
            <a:off x="5754208" y="1618255"/>
            <a:ext cx="2554940" cy="256032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0FB53A90-951C-28E6-731D-157FB437A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976" y="3818442"/>
            <a:ext cx="2636338" cy="2304000"/>
          </a:xfrm>
          <a:prstGeom prst="rect">
            <a:avLst/>
          </a:prstGeom>
        </p:spPr>
      </p:pic>
      <p:sp>
        <p:nvSpPr>
          <p:cNvPr id="19" name="Ellipszis 18">
            <a:extLst>
              <a:ext uri="{FF2B5EF4-FFF2-40B4-BE49-F238E27FC236}">
                <a16:creationId xmlns:a16="http://schemas.microsoft.com/office/drawing/2014/main" id="{AF4DD9C8-2482-F6EE-141A-5989A733B60E}"/>
              </a:ext>
            </a:extLst>
          </p:cNvPr>
          <p:cNvSpPr/>
          <p:nvPr/>
        </p:nvSpPr>
        <p:spPr>
          <a:xfrm>
            <a:off x="8656321" y="3642360"/>
            <a:ext cx="1805940" cy="71628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1B2A12C0-A2EA-EEDA-FBAA-364F147734E5}"/>
              </a:ext>
            </a:extLst>
          </p:cNvPr>
          <p:cNvSpPr txBox="1"/>
          <p:nvPr/>
        </p:nvSpPr>
        <p:spPr>
          <a:xfrm>
            <a:off x="3863948" y="4420706"/>
            <a:ext cx="415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i="1" dirty="0">
                <a:latin typeface="Book Antiqua" panose="02040602050305030304" pitchFamily="18" charset="0"/>
              </a:rPr>
              <a:t>Back </a:t>
            </a:r>
            <a:r>
              <a:rPr lang="hu-HU" b="1" i="1" dirty="0" err="1">
                <a:latin typeface="Book Antiqua" panose="02040602050305030304" pitchFamily="18" charset="0"/>
              </a:rPr>
              <a:t>scattering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events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latin typeface="Book Antiqua" panose="02040602050305030304" pitchFamily="18" charset="0"/>
              </a:rPr>
              <a:t>were</a:t>
            </a:r>
            <a:r>
              <a:rPr lang="hu-HU" b="1" u="sng" dirty="0"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latin typeface="Book Antiqua" panose="02040602050305030304" pitchFamily="18" charset="0"/>
              </a:rPr>
              <a:t>observed</a:t>
            </a:r>
            <a:r>
              <a:rPr lang="hu-HU" dirty="0"/>
              <a:t>!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1C8C1D8F-F2A8-D26A-01DE-949D94FE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0529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C8948-E947-AE17-EF1C-3ADC4CBB0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C3635F-447F-2E53-7DE6-D0402F49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Rutherford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’s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experiment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discovery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nucleus</a:t>
            </a:r>
            <a:endParaRPr lang="hu-HU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9310367-A45E-0BF0-3CA0-A07432B40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169" y="369360"/>
            <a:ext cx="985145" cy="1368000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FF82D324-DAC2-6B1C-5CAF-341CDD159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107" y="1941600"/>
            <a:ext cx="3797000" cy="1908000"/>
          </a:xfrm>
          <a:prstGeom prst="rect">
            <a:avLst/>
          </a:prstGeom>
        </p:spPr>
      </p:pic>
      <p:sp>
        <p:nvSpPr>
          <p:cNvPr id="10" name="Text Box 8">
            <a:extLst>
              <a:ext uri="{FF2B5EF4-FFF2-40B4-BE49-F238E27FC236}">
                <a16:creationId xmlns:a16="http://schemas.microsoft.com/office/drawing/2014/main" id="{9D337EB0-7DED-673D-D918-9CAA8AC49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9" y="2607430"/>
            <a:ext cx="2636338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u-HU" altLang="hu-HU" sz="21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hu-HU" altLang="hu-HU" sz="21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alpha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~ 7700 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10</a:t>
            </a:r>
            <a:r>
              <a:rPr lang="hu-HU" altLang="hu-HU" sz="2100" b="1" baseline="30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-16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J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2734A36D-1F45-73DF-2CFB-5DDCDF0FA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628" y="3226862"/>
            <a:ext cx="233574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u-HU" altLang="hu-HU" sz="21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hu-HU" altLang="hu-HU" sz="21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max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~ 5,5 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10</a:t>
            </a:r>
            <a:r>
              <a:rPr lang="hu-HU" altLang="hu-HU" sz="2100" b="1" baseline="30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-16</a:t>
            </a:r>
            <a:r>
              <a:rPr lang="hu-HU" altLang="hu-HU" sz="21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J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5491114A-F7E3-EBF8-FB92-AA9FF9D3997C}"/>
              </a:ext>
            </a:extLst>
          </p:cNvPr>
          <p:cNvSpPr/>
          <p:nvPr/>
        </p:nvSpPr>
        <p:spPr>
          <a:xfrm>
            <a:off x="518160" y="2346960"/>
            <a:ext cx="2762777" cy="160782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494F8BDD-21FA-9B1E-EE42-86AF84F08493}"/>
              </a:ext>
            </a:extLst>
          </p:cNvPr>
          <p:cNvSpPr txBox="1"/>
          <p:nvPr/>
        </p:nvSpPr>
        <p:spPr>
          <a:xfrm>
            <a:off x="248196" y="4051374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No back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scattering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is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expected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C379529D-D326-7CC9-3B30-4361F2AFC79C}"/>
              </a:ext>
            </a:extLst>
          </p:cNvPr>
          <p:cNvCxnSpPr/>
          <p:nvPr/>
        </p:nvCxnSpPr>
        <p:spPr>
          <a:xfrm>
            <a:off x="3970020" y="1859280"/>
            <a:ext cx="1821180" cy="21920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0F01AF27-69A4-9F4E-8E07-3852D1718EDE}"/>
              </a:ext>
            </a:extLst>
          </p:cNvPr>
          <p:cNvCxnSpPr/>
          <p:nvPr/>
        </p:nvCxnSpPr>
        <p:spPr>
          <a:xfrm flipH="1">
            <a:off x="4617720" y="1859280"/>
            <a:ext cx="1082040" cy="21920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lipszis 16">
            <a:extLst>
              <a:ext uri="{FF2B5EF4-FFF2-40B4-BE49-F238E27FC236}">
                <a16:creationId xmlns:a16="http://schemas.microsoft.com/office/drawing/2014/main" id="{403C036A-4263-4F64-E330-90B2BC2F4D79}"/>
              </a:ext>
            </a:extLst>
          </p:cNvPr>
          <p:cNvSpPr/>
          <p:nvPr/>
        </p:nvSpPr>
        <p:spPr>
          <a:xfrm>
            <a:off x="5754208" y="1618255"/>
            <a:ext cx="2554940" cy="256032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60C1510A-68EF-1EC4-96D3-FD8748BCD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976" y="3818442"/>
            <a:ext cx="2636338" cy="2304000"/>
          </a:xfrm>
          <a:prstGeom prst="rect">
            <a:avLst/>
          </a:prstGeom>
        </p:spPr>
      </p:pic>
      <p:sp>
        <p:nvSpPr>
          <p:cNvPr id="19" name="Ellipszis 18">
            <a:extLst>
              <a:ext uri="{FF2B5EF4-FFF2-40B4-BE49-F238E27FC236}">
                <a16:creationId xmlns:a16="http://schemas.microsoft.com/office/drawing/2014/main" id="{7B01C1DB-FFDF-27D5-8049-7C8DED93738E}"/>
              </a:ext>
            </a:extLst>
          </p:cNvPr>
          <p:cNvSpPr/>
          <p:nvPr/>
        </p:nvSpPr>
        <p:spPr>
          <a:xfrm>
            <a:off x="8656321" y="3642360"/>
            <a:ext cx="1805940" cy="71628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A22CDB98-EFC1-F44C-11D8-0FDF9C48B41D}"/>
              </a:ext>
            </a:extLst>
          </p:cNvPr>
          <p:cNvSpPr txBox="1"/>
          <p:nvPr/>
        </p:nvSpPr>
        <p:spPr>
          <a:xfrm>
            <a:off x="3863948" y="4420706"/>
            <a:ext cx="415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i="1" dirty="0">
                <a:latin typeface="Book Antiqua" panose="02040602050305030304" pitchFamily="18" charset="0"/>
              </a:rPr>
              <a:t>Back </a:t>
            </a:r>
            <a:r>
              <a:rPr lang="hu-HU" b="1" i="1" dirty="0" err="1">
                <a:latin typeface="Book Antiqua" panose="02040602050305030304" pitchFamily="18" charset="0"/>
              </a:rPr>
              <a:t>scattering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events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latin typeface="Book Antiqua" panose="02040602050305030304" pitchFamily="18" charset="0"/>
              </a:rPr>
              <a:t>were</a:t>
            </a:r>
            <a:r>
              <a:rPr lang="hu-HU" b="1" u="sng" dirty="0"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latin typeface="Book Antiqua" panose="02040602050305030304" pitchFamily="18" charset="0"/>
              </a:rPr>
              <a:t>observed</a:t>
            </a:r>
            <a:r>
              <a:rPr lang="hu-HU" dirty="0"/>
              <a:t>!</a:t>
            </a:r>
          </a:p>
        </p:txBody>
      </p:sp>
      <p:grpSp>
        <p:nvGrpSpPr>
          <p:cNvPr id="21" name="Csoportba foglalás 20">
            <a:extLst>
              <a:ext uri="{FF2B5EF4-FFF2-40B4-BE49-F238E27FC236}">
                <a16:creationId xmlns:a16="http://schemas.microsoft.com/office/drawing/2014/main" id="{0360CFEC-4BC5-04D9-7651-017ACD831E39}"/>
              </a:ext>
            </a:extLst>
          </p:cNvPr>
          <p:cNvGrpSpPr/>
          <p:nvPr/>
        </p:nvGrpSpPr>
        <p:grpSpPr>
          <a:xfrm>
            <a:off x="3943373" y="5121275"/>
            <a:ext cx="3929040" cy="704850"/>
            <a:chOff x="2335384" y="2111864"/>
            <a:chExt cx="3929040" cy="7048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4">
                  <a:extLst>
                    <a:ext uri="{FF2B5EF4-FFF2-40B4-BE49-F238E27FC236}">
                      <a16:creationId xmlns:a16="http://schemas.microsoft.com/office/drawing/2014/main" id="{94C6F629-226C-2386-6022-30EC2F2F093E}"/>
                    </a:ext>
                  </a:extLst>
                </p:cNvPr>
                <p:cNvSpPr txBox="1"/>
                <p:nvPr/>
              </p:nvSpPr>
              <p:spPr bwMode="auto">
                <a:xfrm>
                  <a:off x="2335384" y="2181596"/>
                  <a:ext cx="1674812" cy="6286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u-HU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hu-H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𝑎𝑙</m:t>
                            </m:r>
                            <m:r>
                              <a:rPr lang="hu-HU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𝑝h</m:t>
                            </m:r>
                            <m:r>
                              <a:rPr lang="hu-H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hu-H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hu-H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hu-H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hu-H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f>
                          <m:fPr>
                            <m:ctrlPr>
                              <a:rPr lang="hu-H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hu-H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oMath>
                    </m:oMathPara>
                  </a14:m>
                  <a:endParaRPr lang="hu-HU" dirty="0"/>
                </a:p>
              </p:txBody>
            </p:sp>
          </mc:Choice>
          <mc:Fallback xmlns="">
            <p:sp>
              <p:nvSpPr>
                <p:cNvPr id="22" name="Object 4">
                  <a:extLst>
                    <a:ext uri="{FF2B5EF4-FFF2-40B4-BE49-F238E27FC236}">
                      <a16:creationId xmlns:a16="http://schemas.microsoft.com/office/drawing/2014/main" id="{94C6F629-226C-2386-6022-30EC2F2F0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35384" y="2181596"/>
                  <a:ext cx="1674812" cy="62865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 Box 5">
              <a:extLst>
                <a:ext uri="{FF2B5EF4-FFF2-40B4-BE49-F238E27FC236}">
                  <a16:creationId xmlns:a16="http://schemas.microsoft.com/office/drawing/2014/main" id="{CDC1A041-26C1-5215-3A01-7FF6C62905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8163" y="2311255"/>
              <a:ext cx="94128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u-HU" altLang="hu-HU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hence: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6">
                  <a:extLst>
                    <a:ext uri="{FF2B5EF4-FFF2-40B4-BE49-F238E27FC236}">
                      <a16:creationId xmlns:a16="http://schemas.microsoft.com/office/drawing/2014/main" id="{3720B7C0-FE6C-A099-846E-6559B7BDA1A5}"/>
                    </a:ext>
                  </a:extLst>
                </p:cNvPr>
                <p:cNvSpPr txBox="1"/>
                <p:nvPr/>
              </p:nvSpPr>
              <p:spPr bwMode="auto">
                <a:xfrm>
                  <a:off x="4818211" y="2111864"/>
                  <a:ext cx="1446213" cy="704850"/>
                </a:xfrm>
                <a:prstGeom prst="rect">
                  <a:avLst/>
                </a:prstGeom>
                <a:noFill/>
                <a:ln w="3175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hu-HU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hu-HU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hu-H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hu-H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hu-H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f>
                          <m:fPr>
                            <m:ctrlPr>
                              <a:rPr lang="hu-H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𝑎𝑙</m:t>
                                </m:r>
                                <m:r>
                                  <a:rPr lang="hu-HU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𝑝h</m:t>
                                </m:r>
                                <m:r>
                                  <a:rPr lang="hu-H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hu-HU" dirty="0"/>
                </a:p>
              </p:txBody>
            </p:sp>
          </mc:Choice>
          <mc:Fallback xmlns="">
            <p:sp>
              <p:nvSpPr>
                <p:cNvPr id="24" name="Object 6">
                  <a:extLst>
                    <a:ext uri="{FF2B5EF4-FFF2-40B4-BE49-F238E27FC236}">
                      <a16:creationId xmlns:a16="http://schemas.microsoft.com/office/drawing/2014/main" id="{3720B7C0-FE6C-A099-846E-6559B7BDA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18211" y="2111864"/>
                  <a:ext cx="1446213" cy="70485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175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097FFCD0-91EC-3C48-2D86-6CDC10CFECB4}"/>
              </a:ext>
            </a:extLst>
          </p:cNvPr>
          <p:cNvSpPr txBox="1"/>
          <p:nvPr/>
        </p:nvSpPr>
        <p:spPr>
          <a:xfrm>
            <a:off x="734714" y="5120387"/>
            <a:ext cx="324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i="1" dirty="0">
                <a:solidFill>
                  <a:srgbClr val="C00000"/>
                </a:solidFill>
                <a:latin typeface="Book Antiqua" panose="02040602050305030304" pitchFamily="18" charset="0"/>
              </a:rPr>
              <a:t>The </a:t>
            </a:r>
            <a:r>
              <a:rPr lang="hu-HU" b="1" i="1" dirty="0" err="1">
                <a:solidFill>
                  <a:srgbClr val="C00000"/>
                </a:solidFill>
                <a:latin typeface="Book Antiqua" panose="02040602050305030304" pitchFamily="18" charset="0"/>
              </a:rPr>
              <a:t>positive</a:t>
            </a:r>
            <a:r>
              <a:rPr lang="hu-HU" b="1" i="1" dirty="0">
                <a:solidFill>
                  <a:srgbClr val="C00000"/>
                </a:solidFill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solidFill>
                  <a:srgbClr val="C00000"/>
                </a:solidFill>
                <a:latin typeface="Book Antiqua" panose="02040602050305030304" pitchFamily="18" charset="0"/>
              </a:rPr>
              <a:t>charge</a:t>
            </a:r>
            <a:r>
              <a:rPr lang="hu-HU" b="1" i="1" dirty="0">
                <a:solidFill>
                  <a:srgbClr val="C00000"/>
                </a:solidFill>
                <a:latin typeface="Book Antiqua" panose="02040602050305030304" pitchFamily="18" charset="0"/>
              </a:rPr>
              <a:t> and </a:t>
            </a:r>
            <a:r>
              <a:rPr lang="hu-HU" b="1" i="1" dirty="0" err="1">
                <a:solidFill>
                  <a:srgbClr val="C00000"/>
                </a:solidFill>
                <a:latin typeface="Book Antiqua" panose="02040602050305030304" pitchFamily="18" charset="0"/>
              </a:rPr>
              <a:t>the</a:t>
            </a:r>
            <a:r>
              <a:rPr lang="hu-HU" b="1" i="1" dirty="0">
                <a:solidFill>
                  <a:srgbClr val="C00000"/>
                </a:solidFill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solidFill>
                  <a:srgbClr val="C00000"/>
                </a:solidFill>
                <a:latin typeface="Book Antiqua" panose="02040602050305030304" pitchFamily="18" charset="0"/>
              </a:rPr>
              <a:t>mass</a:t>
            </a:r>
            <a:r>
              <a:rPr lang="hu-HU" b="1" i="1" dirty="0">
                <a:solidFill>
                  <a:srgbClr val="C00000"/>
                </a:solidFill>
                <a:latin typeface="Book Antiqua" panose="02040602050305030304" pitchFamily="18" charset="0"/>
              </a:rPr>
              <a:t> must be </a:t>
            </a:r>
            <a:r>
              <a:rPr lang="hu-HU" b="1" i="1" dirty="0" err="1">
                <a:solidFill>
                  <a:srgbClr val="C00000"/>
                </a:solidFill>
                <a:latin typeface="Book Antiqua" panose="02040602050305030304" pitchFamily="18" charset="0"/>
              </a:rPr>
              <a:t>confined</a:t>
            </a:r>
            <a:r>
              <a:rPr lang="hu-HU" b="1" i="1" dirty="0">
                <a:solidFill>
                  <a:srgbClr val="C00000"/>
                </a:solidFill>
                <a:latin typeface="Book Antiqua" panose="02040602050305030304" pitchFamily="18" charset="0"/>
              </a:rPr>
              <a:t> in a </a:t>
            </a:r>
            <a:r>
              <a:rPr lang="hu-HU" b="1" i="1" dirty="0" err="1">
                <a:solidFill>
                  <a:srgbClr val="C00000"/>
                </a:solidFill>
                <a:latin typeface="Book Antiqua" panose="02040602050305030304" pitchFamily="18" charset="0"/>
              </a:rPr>
              <a:t>small</a:t>
            </a:r>
            <a:r>
              <a:rPr lang="hu-HU" b="1" i="1" dirty="0">
                <a:solidFill>
                  <a:srgbClr val="C00000"/>
                </a:solidFill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solidFill>
                  <a:srgbClr val="C00000"/>
                </a:solidFill>
                <a:latin typeface="Book Antiqua" panose="02040602050305030304" pitchFamily="18" charset="0"/>
              </a:rPr>
              <a:t>region</a:t>
            </a:r>
            <a:r>
              <a:rPr lang="hu-HU" b="1" i="1" dirty="0">
                <a:solidFill>
                  <a:srgbClr val="C00000"/>
                </a:solidFill>
                <a:latin typeface="Book Antiqua" panose="02040602050305030304" pitchFamily="18" charset="0"/>
              </a:rPr>
              <a:t> of R</a:t>
            </a:r>
          </a:p>
        </p:txBody>
      </p:sp>
      <p:cxnSp>
        <p:nvCxnSpPr>
          <p:cNvPr id="35" name="Összekötő: görbe 34">
            <a:extLst>
              <a:ext uri="{FF2B5EF4-FFF2-40B4-BE49-F238E27FC236}">
                <a16:creationId xmlns:a16="http://schemas.microsoft.com/office/drawing/2014/main" id="{F8EDDC32-DE09-28D0-66F2-5C202EC1DF70}"/>
              </a:ext>
            </a:extLst>
          </p:cNvPr>
          <p:cNvCxnSpPr>
            <a:cxnSpLocks/>
          </p:cNvCxnSpPr>
          <p:nvPr/>
        </p:nvCxnSpPr>
        <p:spPr>
          <a:xfrm flipV="1">
            <a:off x="2660691" y="5593977"/>
            <a:ext cx="3913126" cy="283466"/>
          </a:xfrm>
          <a:prstGeom prst="curvedConnector3">
            <a:avLst>
              <a:gd name="adj1" fmla="val 9946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531862D-A2E7-684E-EE0D-3CE3F1EE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2407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F89FC01-D0CF-4899-A184-1F0070363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E5A9FF-C93F-4A6D-ABDE-2533C301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90A4124-979D-4376-AA58-6501D58B6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D008ECC-51D4-4E47-80DF-1D22FBBC5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7A7A0104-A4CB-897C-5321-CC4453044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8" y="2349000"/>
            <a:ext cx="7199998" cy="216000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EF352D9-7BCC-436E-8520-E9D0BAAA1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4F122ADD-DA1B-D035-F236-6F22EE4BDFCB}"/>
              </a:ext>
            </a:extLst>
          </p:cNvPr>
          <p:cNvSpPr txBox="1"/>
          <p:nvPr/>
        </p:nvSpPr>
        <p:spPr>
          <a:xfrm>
            <a:off x="7859485" y="2198914"/>
            <a:ext cx="3690257" cy="36701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b="1" dirty="0">
                <a:solidFill>
                  <a:schemeClr val="accent2"/>
                </a:solidFill>
                <a:latin typeface="Book Antiqua" panose="02040602050305030304" pitchFamily="18" charset="0"/>
              </a:rPr>
              <a:t>Ernest Rutherford</a:t>
            </a:r>
            <a:r>
              <a:rPr lang="en-US" dirty="0">
                <a:solidFill>
                  <a:schemeClr val="accent2"/>
                </a:solidFill>
                <a:latin typeface="Book Antiqua" panose="02040602050305030304" pitchFamily="18" charset="0"/>
              </a:rPr>
              <a:t> on the</a:t>
            </a:r>
            <a:r>
              <a:rPr lang="hu-HU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discovery</a:t>
            </a:r>
            <a:r>
              <a:rPr lang="hu-HU" dirty="0">
                <a:solidFill>
                  <a:schemeClr val="accent2"/>
                </a:solidFill>
                <a:latin typeface="Book Antiqua" panose="02040602050305030304" pitchFamily="18" charset="0"/>
              </a:rPr>
              <a:t> of back </a:t>
            </a:r>
            <a:r>
              <a:rPr lang="hu-HU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scattering</a:t>
            </a:r>
            <a:r>
              <a:rPr lang="hu-HU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events</a:t>
            </a:r>
            <a:r>
              <a:rPr lang="hu-HU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during</a:t>
            </a:r>
            <a:r>
              <a:rPr lang="hu-HU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their</a:t>
            </a:r>
            <a:r>
              <a:rPr lang="hu-HU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experiment</a:t>
            </a:r>
            <a:r>
              <a:rPr lang="hu-HU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with</a:t>
            </a:r>
            <a:r>
              <a:rPr lang="hu-HU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alpha</a:t>
            </a:r>
            <a:r>
              <a:rPr lang="hu-HU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particles</a:t>
            </a:r>
            <a:r>
              <a:rPr lang="hu-HU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scattering</a:t>
            </a:r>
            <a:r>
              <a:rPr lang="hu-HU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on</a:t>
            </a:r>
            <a:r>
              <a:rPr lang="hu-HU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gold</a:t>
            </a:r>
            <a:r>
              <a:rPr lang="hu-HU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atoms</a:t>
            </a:r>
            <a:endParaRPr lang="en-US" dirty="0">
              <a:solidFill>
                <a:schemeClr val="accent2"/>
              </a:solidFill>
              <a:latin typeface="Book Antiqua" panose="0204060205030503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EEBA64A-08C9-4EE7-A7DD-C4309E575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A644F7-E61C-4BDD-9510-112510F64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033969FF-0A09-686C-0373-C9956A2CB6BE}"/>
              </a:ext>
            </a:extLst>
          </p:cNvPr>
          <p:cNvSpPr txBox="1"/>
          <p:nvPr/>
        </p:nvSpPr>
        <p:spPr>
          <a:xfrm>
            <a:off x="176458" y="1429473"/>
            <a:ext cx="4203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400" dirty="0"/>
              <a:t>„</a:t>
            </a:r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D4412DE2-CA37-7E5F-0023-A70248B5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5884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AB53C97-517C-E407-684B-A08E087A9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728" y="905933"/>
            <a:ext cx="6440547" cy="5039728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EF8D5D3B-5C5E-CEA4-DA75-E72BCBAA9832}"/>
              </a:ext>
            </a:extLst>
          </p:cNvPr>
          <p:cNvSpPr txBox="1"/>
          <p:nvPr/>
        </p:nvSpPr>
        <p:spPr>
          <a:xfrm>
            <a:off x="8903514" y="5818477"/>
            <a:ext cx="2622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0" i="0" u="sng" dirty="0">
                <a:solidFill>
                  <a:srgbClr val="525254"/>
                </a:solidFill>
                <a:effectLst/>
                <a:latin typeface="inherit"/>
                <a:hlinkClick r:id="rId3"/>
              </a:rPr>
              <a:t>10.1515/phys-2023-0155</a:t>
            </a:r>
            <a:endParaRPr lang="hu-HU" b="0" i="0" dirty="0">
              <a:solidFill>
                <a:srgbClr val="525254"/>
              </a:solidFill>
              <a:effectLst/>
              <a:latin typeface="Inter Var"/>
            </a:endParaRPr>
          </a:p>
          <a:p>
            <a:endParaRPr lang="hu-HU" dirty="0"/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9FBE6666-4DB7-6710-CDA9-FBEE30749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1363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E2EC0-E69E-0C50-3E81-96CD58C70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8316B0-E0AD-0544-9DB6-7DA3226A9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Rutherford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’s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experiment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b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</a:b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analysis</a:t>
            </a:r>
            <a:endParaRPr lang="hu-HU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B5E5FC4-22FE-ED8D-C08E-BC88D0506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2169" y="369360"/>
            <a:ext cx="985145" cy="1368000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BB885255-0343-724C-18CD-F1FDC7B8A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27" y="1848682"/>
            <a:ext cx="3797000" cy="1908000"/>
          </a:xfrm>
          <a:prstGeom prst="rect">
            <a:avLst/>
          </a:prstGeom>
        </p:spPr>
      </p:pic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43D05C1F-DEB0-6FEA-DD8F-EAAC0124ABC1}"/>
              </a:ext>
            </a:extLst>
          </p:cNvPr>
          <p:cNvSpPr/>
          <p:nvPr/>
        </p:nvSpPr>
        <p:spPr>
          <a:xfrm>
            <a:off x="377679" y="1724452"/>
            <a:ext cx="2034013" cy="2156460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10000"/>
                  <a:lumOff val="90000"/>
                  <a:alpha val="83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89000">
                <a:schemeClr val="accent1">
                  <a:lumMod val="10000"/>
                  <a:lumOff val="9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FE03183E-E7F4-C874-9FE8-4A402A909A50}"/>
              </a:ext>
            </a:extLst>
          </p:cNvPr>
          <p:cNvSpPr txBox="1"/>
          <p:nvPr/>
        </p:nvSpPr>
        <p:spPr>
          <a:xfrm>
            <a:off x="777241" y="4259580"/>
            <a:ext cx="5410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Rutherford’s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hypothesis</a:t>
            </a:r>
            <a:r>
              <a:rPr lang="hu-HU" dirty="0">
                <a:latin typeface="Book Antiqua" panose="02040602050305030304" pitchFamily="18" charset="0"/>
              </a:rPr>
              <a:t> of a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Positive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For</a:t>
            </a:r>
            <a:r>
              <a:rPr lang="hu-HU" dirty="0">
                <a:latin typeface="Book Antiqua" panose="02040602050305030304" pitchFamily="18" charset="0"/>
              </a:rPr>
              <a:t> Z=79 </a:t>
            </a:r>
            <a:r>
              <a:rPr lang="hu-HU" dirty="0" err="1">
                <a:latin typeface="Book Antiqua" panose="02040602050305030304" pitchFamily="18" charset="0"/>
              </a:rPr>
              <a:t>large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compared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to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alpha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Appears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point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-like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to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alpha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particle</a:t>
            </a:r>
            <a:endParaRPr lang="hu-HU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3" name="Jobb oldali kapcsos zárójel 12">
            <a:extLst>
              <a:ext uri="{FF2B5EF4-FFF2-40B4-BE49-F238E27FC236}">
                <a16:creationId xmlns:a16="http://schemas.microsoft.com/office/drawing/2014/main" id="{39618254-E193-D30E-CBB2-ED855628245B}"/>
              </a:ext>
            </a:extLst>
          </p:cNvPr>
          <p:cNvSpPr/>
          <p:nvPr/>
        </p:nvSpPr>
        <p:spPr>
          <a:xfrm rot="20608932">
            <a:off x="5394960" y="3589020"/>
            <a:ext cx="685801" cy="2209800"/>
          </a:xfrm>
          <a:prstGeom prst="rightBrace">
            <a:avLst>
              <a:gd name="adj1" fmla="val 50887"/>
              <a:gd name="adj2" fmla="val 467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AD25675A-DF9C-B403-088A-B35B5634F6AB}"/>
              </a:ext>
            </a:extLst>
          </p:cNvPr>
          <p:cNvSpPr txBox="1"/>
          <p:nvPr/>
        </p:nvSpPr>
        <p:spPr>
          <a:xfrm>
            <a:off x="5943600" y="2598420"/>
            <a:ext cx="5928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Construct</a:t>
            </a:r>
            <a:r>
              <a:rPr lang="hu-HU" dirty="0">
                <a:latin typeface="Book Antiqua" panose="02040602050305030304" pitchFamily="18" charset="0"/>
              </a:rPr>
              <a:t> a </a:t>
            </a:r>
            <a:r>
              <a:rPr lang="hu-HU" b="1" dirty="0" err="1">
                <a:latin typeface="Book Antiqua" panose="02040602050305030304" pitchFamily="18" charset="0"/>
              </a:rPr>
              <a:t>model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scattering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process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>
                <a:latin typeface="Book Antiqua" panose="02040602050305030304" pitchFamily="18" charset="0"/>
              </a:rPr>
              <a:t>(</a:t>
            </a:r>
            <a:r>
              <a:rPr lang="hu-HU" dirty="0" err="1">
                <a:latin typeface="Book Antiqua" panose="02040602050305030304" pitchFamily="18" charset="0"/>
              </a:rPr>
              <a:t>that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time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b="1" dirty="0" err="1">
                <a:latin typeface="Book Antiqua" panose="02040602050305030304" pitchFamily="18" charset="0"/>
              </a:rPr>
              <a:t>classical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mechanics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Calculate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differential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cross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section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dirty="0">
                <a:latin typeface="Book Antiqua" panose="02040602050305030304" pitchFamily="18" charset="0"/>
              </a:rPr>
              <a:t>(</a:t>
            </a:r>
            <a:r>
              <a:rPr lang="hu-HU" dirty="0" err="1">
                <a:latin typeface="Book Antiqua" panose="02040602050305030304" pitchFamily="18" charset="0"/>
              </a:rPr>
              <a:t>can</a:t>
            </a:r>
            <a:r>
              <a:rPr lang="hu-HU" dirty="0">
                <a:latin typeface="Book Antiqua" panose="02040602050305030304" pitchFamily="18" charset="0"/>
              </a:rPr>
              <a:t> be </a:t>
            </a:r>
            <a:r>
              <a:rPr lang="hu-HU" dirty="0" err="1">
                <a:latin typeface="Book Antiqua" panose="02040602050305030304" pitchFamily="18" charset="0"/>
              </a:rPr>
              <a:t>measured</a:t>
            </a:r>
            <a:r>
              <a:rPr lang="hu-HU" dirty="0">
                <a:latin typeface="Book Antiqua" panose="02040602050305030304" pitchFamily="18" charset="0"/>
              </a:rPr>
              <a:t>): </a:t>
            </a:r>
            <a:r>
              <a:rPr lang="hu-HU" dirty="0" err="1">
                <a:latin typeface="Book Antiqua" panose="02040602050305030304" pitchFamily="18" charset="0"/>
              </a:rPr>
              <a:t>determine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scattering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angle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dependence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atomic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dependence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projectile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kinetic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energy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dependence</a:t>
            </a:r>
            <a:endParaRPr lang="hu-HU" dirty="0">
              <a:latin typeface="Book Antiqua" panose="02040602050305030304" pitchFamily="18" charset="0"/>
            </a:endParaRP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EA766205-77EB-F12E-906F-B3AFFEC9A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0030" y="4774389"/>
            <a:ext cx="2838450" cy="107632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C7C05B59-8150-3E56-7F4B-738062D30655}"/>
              </a:ext>
            </a:extLst>
          </p:cNvPr>
          <p:cNvCxnSpPr>
            <a:cxnSpLocks/>
          </p:cNvCxnSpPr>
          <p:nvPr/>
        </p:nvCxnSpPr>
        <p:spPr>
          <a:xfrm>
            <a:off x="9279255" y="4206240"/>
            <a:ext cx="0" cy="514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341C029-D058-569D-508F-7B007C80C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9188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7D320-7455-0F85-53E6-4968BF25E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CD81B9-96D1-26C3-DF73-13009C1C2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Rutherford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’s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experiment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b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</a:b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analysis</a:t>
            </a:r>
            <a:endParaRPr lang="hu-HU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4B0E40C-0AB9-B47E-2BD3-DA9BDB7C9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169" y="369360"/>
            <a:ext cx="985145" cy="1368000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7598EF76-BC73-BDAE-C805-304B3CF68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27" y="1848682"/>
            <a:ext cx="3797000" cy="1908000"/>
          </a:xfrm>
          <a:prstGeom prst="rect">
            <a:avLst/>
          </a:prstGeom>
        </p:spPr>
      </p:pic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C4A689C6-38C2-3309-8A82-E69295D09199}"/>
              </a:ext>
            </a:extLst>
          </p:cNvPr>
          <p:cNvSpPr/>
          <p:nvPr/>
        </p:nvSpPr>
        <p:spPr>
          <a:xfrm>
            <a:off x="377679" y="1724452"/>
            <a:ext cx="2034013" cy="2156460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10000"/>
                  <a:lumOff val="90000"/>
                  <a:alpha val="83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89000">
                <a:schemeClr val="accent1">
                  <a:lumMod val="10000"/>
                  <a:lumOff val="9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8F40FA5C-A35F-5857-1A33-6E589A37E056}"/>
              </a:ext>
            </a:extLst>
          </p:cNvPr>
          <p:cNvSpPr txBox="1"/>
          <p:nvPr/>
        </p:nvSpPr>
        <p:spPr>
          <a:xfrm>
            <a:off x="777241" y="4259580"/>
            <a:ext cx="5410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Rutherford’s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hypothesis</a:t>
            </a:r>
            <a:r>
              <a:rPr lang="hu-HU" dirty="0">
                <a:latin typeface="Book Antiqua" panose="02040602050305030304" pitchFamily="18" charset="0"/>
              </a:rPr>
              <a:t> of a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Positive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For</a:t>
            </a:r>
            <a:r>
              <a:rPr lang="hu-HU" dirty="0">
                <a:latin typeface="Book Antiqua" panose="02040602050305030304" pitchFamily="18" charset="0"/>
              </a:rPr>
              <a:t> Z=79 </a:t>
            </a:r>
            <a:r>
              <a:rPr lang="hu-HU" dirty="0" err="1">
                <a:latin typeface="Book Antiqua" panose="02040602050305030304" pitchFamily="18" charset="0"/>
              </a:rPr>
              <a:t>large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compared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to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alpha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Appears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point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-like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to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alpha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particle</a:t>
            </a:r>
            <a:endParaRPr lang="hu-HU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3" name="Jobb oldali kapcsos zárójel 12">
            <a:extLst>
              <a:ext uri="{FF2B5EF4-FFF2-40B4-BE49-F238E27FC236}">
                <a16:creationId xmlns:a16="http://schemas.microsoft.com/office/drawing/2014/main" id="{BDF6779E-5A5F-FC7A-BAE8-F1FDF70F5872}"/>
              </a:ext>
            </a:extLst>
          </p:cNvPr>
          <p:cNvSpPr/>
          <p:nvPr/>
        </p:nvSpPr>
        <p:spPr>
          <a:xfrm rot="20608932">
            <a:off x="5394960" y="3589020"/>
            <a:ext cx="685801" cy="2209800"/>
          </a:xfrm>
          <a:prstGeom prst="rightBrace">
            <a:avLst>
              <a:gd name="adj1" fmla="val 50887"/>
              <a:gd name="adj2" fmla="val 467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33A4E728-526B-FF3C-DA89-4EA73AC12450}"/>
              </a:ext>
            </a:extLst>
          </p:cNvPr>
          <p:cNvSpPr txBox="1"/>
          <p:nvPr/>
        </p:nvSpPr>
        <p:spPr>
          <a:xfrm>
            <a:off x="5943600" y="2598420"/>
            <a:ext cx="5928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Construct</a:t>
            </a:r>
            <a:r>
              <a:rPr lang="hu-HU" dirty="0">
                <a:latin typeface="Book Antiqua" panose="02040602050305030304" pitchFamily="18" charset="0"/>
              </a:rPr>
              <a:t> a </a:t>
            </a:r>
            <a:r>
              <a:rPr lang="hu-HU" b="1" dirty="0" err="1">
                <a:latin typeface="Book Antiqua" panose="02040602050305030304" pitchFamily="18" charset="0"/>
              </a:rPr>
              <a:t>model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scattering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process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>
                <a:latin typeface="Book Antiqua" panose="02040602050305030304" pitchFamily="18" charset="0"/>
              </a:rPr>
              <a:t>(</a:t>
            </a:r>
            <a:r>
              <a:rPr lang="hu-HU" dirty="0" err="1">
                <a:latin typeface="Book Antiqua" panose="02040602050305030304" pitchFamily="18" charset="0"/>
              </a:rPr>
              <a:t>that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time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b="1" dirty="0" err="1">
                <a:latin typeface="Book Antiqua" panose="02040602050305030304" pitchFamily="18" charset="0"/>
              </a:rPr>
              <a:t>classical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mechanics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Calculate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differential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cross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section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dirty="0">
                <a:latin typeface="Book Antiqua" panose="02040602050305030304" pitchFamily="18" charset="0"/>
              </a:rPr>
              <a:t>(</a:t>
            </a:r>
            <a:r>
              <a:rPr lang="hu-HU" dirty="0" err="1">
                <a:latin typeface="Book Antiqua" panose="02040602050305030304" pitchFamily="18" charset="0"/>
              </a:rPr>
              <a:t>can</a:t>
            </a:r>
            <a:r>
              <a:rPr lang="hu-HU" dirty="0">
                <a:latin typeface="Book Antiqua" panose="02040602050305030304" pitchFamily="18" charset="0"/>
              </a:rPr>
              <a:t> be </a:t>
            </a:r>
            <a:r>
              <a:rPr lang="hu-HU" dirty="0" err="1">
                <a:latin typeface="Book Antiqua" panose="02040602050305030304" pitchFamily="18" charset="0"/>
              </a:rPr>
              <a:t>measured</a:t>
            </a:r>
            <a:r>
              <a:rPr lang="hu-HU" dirty="0">
                <a:latin typeface="Book Antiqua" panose="02040602050305030304" pitchFamily="18" charset="0"/>
              </a:rPr>
              <a:t>): </a:t>
            </a:r>
            <a:r>
              <a:rPr lang="hu-HU" dirty="0" err="1">
                <a:latin typeface="Book Antiqua" panose="02040602050305030304" pitchFamily="18" charset="0"/>
              </a:rPr>
              <a:t>determine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scattering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angle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dependence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atomic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dependence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projectile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kinetic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energy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dependence</a:t>
            </a:r>
            <a:endParaRPr lang="hu-HU" dirty="0">
              <a:latin typeface="Book Antiqua" panose="02040602050305030304" pitchFamily="18" charset="0"/>
            </a:endParaRP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FB779D60-20AF-3DA8-BDB5-9B5838B0A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0030" y="4774389"/>
            <a:ext cx="2838450" cy="107632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B19556C0-78BC-3ED4-0F1E-7D06F92BB8B8}"/>
              </a:ext>
            </a:extLst>
          </p:cNvPr>
          <p:cNvCxnSpPr>
            <a:cxnSpLocks/>
          </p:cNvCxnSpPr>
          <p:nvPr/>
        </p:nvCxnSpPr>
        <p:spPr>
          <a:xfrm>
            <a:off x="9279255" y="4206240"/>
            <a:ext cx="0" cy="514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abadkézi sokszög: alakzat 7">
            <a:extLst>
              <a:ext uri="{FF2B5EF4-FFF2-40B4-BE49-F238E27FC236}">
                <a16:creationId xmlns:a16="http://schemas.microsoft.com/office/drawing/2014/main" id="{8D30B7CD-6BA1-2BA8-8059-4F1B6C9A69EA}"/>
              </a:ext>
            </a:extLst>
          </p:cNvPr>
          <p:cNvSpPr/>
          <p:nvPr/>
        </p:nvSpPr>
        <p:spPr>
          <a:xfrm>
            <a:off x="10858500" y="4366260"/>
            <a:ext cx="579120" cy="1212106"/>
          </a:xfrm>
          <a:custGeom>
            <a:avLst/>
            <a:gdLst>
              <a:gd name="connsiteX0" fmla="*/ 0 w 579120"/>
              <a:gd name="connsiteY0" fmla="*/ 952500 h 1212106"/>
              <a:gd name="connsiteX1" fmla="*/ 198120 w 579120"/>
              <a:gd name="connsiteY1" fmla="*/ 1150620 h 1212106"/>
              <a:gd name="connsiteX2" fmla="*/ 579120 w 579120"/>
              <a:gd name="connsiteY2" fmla="*/ 0 h 121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9120" h="1212106">
                <a:moveTo>
                  <a:pt x="0" y="952500"/>
                </a:moveTo>
                <a:cubicBezTo>
                  <a:pt x="50800" y="1130935"/>
                  <a:pt x="101600" y="1309370"/>
                  <a:pt x="198120" y="1150620"/>
                </a:cubicBezTo>
                <a:cubicBezTo>
                  <a:pt x="294640" y="991870"/>
                  <a:pt x="436880" y="495935"/>
                  <a:pt x="57912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4098A78-C0EB-2999-B36F-840AF2DB437C}"/>
              </a:ext>
            </a:extLst>
          </p:cNvPr>
          <p:cNvSpPr txBox="1"/>
          <p:nvPr/>
        </p:nvSpPr>
        <p:spPr>
          <a:xfrm>
            <a:off x="3279316" y="5930910"/>
            <a:ext cx="762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latin typeface="Book Antiqua" panose="02040602050305030304" pitchFamily="18" charset="0"/>
              </a:rPr>
              <a:t>Luck</a:t>
            </a:r>
            <a:r>
              <a:rPr lang="hu-HU" b="1" dirty="0">
                <a:latin typeface="Book Antiqua" panose="02040602050305030304" pitchFamily="18" charset="0"/>
              </a:rPr>
              <a:t>: </a:t>
            </a:r>
            <a:r>
              <a:rPr lang="hu-HU" b="1" dirty="0" err="1">
                <a:latin typeface="Book Antiqua" panose="02040602050305030304" pitchFamily="18" charset="0"/>
              </a:rPr>
              <a:t>only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true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for</a:t>
            </a:r>
            <a:r>
              <a:rPr lang="hu-HU" b="1" dirty="0">
                <a:latin typeface="Book Antiqua" panose="02040602050305030304" pitchFamily="18" charset="0"/>
              </a:rPr>
              <a:t> spin-0 </a:t>
            </a:r>
            <a:r>
              <a:rPr lang="hu-HU" b="1" dirty="0" err="1">
                <a:latin typeface="Book Antiqua" panose="02040602050305030304" pitchFamily="18" charset="0"/>
              </a:rPr>
              <a:t>particles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scattering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on</a:t>
            </a:r>
            <a:r>
              <a:rPr lang="hu-HU" b="1" dirty="0">
                <a:latin typeface="Book Antiqua" panose="02040602050305030304" pitchFamily="18" charset="0"/>
              </a:rPr>
              <a:t> Coulomb </a:t>
            </a:r>
            <a:r>
              <a:rPr lang="hu-HU" b="1" dirty="0" err="1">
                <a:latin typeface="Book Antiqua" panose="02040602050305030304" pitchFamily="18" charset="0"/>
              </a:rPr>
              <a:t>potential</a:t>
            </a:r>
            <a:r>
              <a:rPr lang="hu-HU" b="1" dirty="0">
                <a:latin typeface="Book Antiqua" panose="02040602050305030304" pitchFamily="18" charset="0"/>
              </a:rPr>
              <a:t>…..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27D34F0-3296-951D-5641-6F44D4D9B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5419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C950-2741-E4E1-D0E6-B75E14AD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C83764-C10F-CAFA-C269-773571079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Rutherford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’s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experiment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b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</a:b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analysis</a:t>
            </a:r>
            <a:endParaRPr lang="hu-HU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1E55D02-9197-A6D8-09D6-F2114125B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169" y="369360"/>
            <a:ext cx="985145" cy="1368000"/>
          </a:xfrm>
          <a:prstGeom prst="rect">
            <a:avLst/>
          </a:prstGeom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9AF7D1DA-5700-9FB1-C8D4-F3EB0F98B997}"/>
              </a:ext>
            </a:extLst>
          </p:cNvPr>
          <p:cNvSpPr txBox="1"/>
          <p:nvPr/>
        </p:nvSpPr>
        <p:spPr>
          <a:xfrm>
            <a:off x="777241" y="4259580"/>
            <a:ext cx="5410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Rutherford’s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hypothesis</a:t>
            </a:r>
            <a:r>
              <a:rPr lang="hu-HU" dirty="0">
                <a:latin typeface="Book Antiqua" panose="02040602050305030304" pitchFamily="18" charset="0"/>
              </a:rPr>
              <a:t> of a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Positive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For</a:t>
            </a:r>
            <a:r>
              <a:rPr lang="hu-HU" dirty="0">
                <a:latin typeface="Book Antiqua" panose="02040602050305030304" pitchFamily="18" charset="0"/>
              </a:rPr>
              <a:t> Z=79 </a:t>
            </a:r>
            <a:r>
              <a:rPr lang="hu-HU" dirty="0" err="1">
                <a:latin typeface="Book Antiqua" panose="02040602050305030304" pitchFamily="18" charset="0"/>
              </a:rPr>
              <a:t>large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compared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to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alpha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Appears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point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-like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to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alpha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particle</a:t>
            </a:r>
            <a:endParaRPr lang="hu-HU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3" name="Jobb oldali kapcsos zárójel 12">
            <a:extLst>
              <a:ext uri="{FF2B5EF4-FFF2-40B4-BE49-F238E27FC236}">
                <a16:creationId xmlns:a16="http://schemas.microsoft.com/office/drawing/2014/main" id="{1E337CF6-F24F-FA61-5649-727AD476BAE1}"/>
              </a:ext>
            </a:extLst>
          </p:cNvPr>
          <p:cNvSpPr/>
          <p:nvPr/>
        </p:nvSpPr>
        <p:spPr>
          <a:xfrm rot="20608932">
            <a:off x="5394960" y="3589020"/>
            <a:ext cx="685801" cy="2209800"/>
          </a:xfrm>
          <a:prstGeom prst="rightBrace">
            <a:avLst>
              <a:gd name="adj1" fmla="val 50887"/>
              <a:gd name="adj2" fmla="val 467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0C9B734C-E6A9-3B6A-4D8C-BB6F058FD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743" y="2449860"/>
            <a:ext cx="2838450" cy="107632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5957381A-FA37-095E-2D52-2CFDC4C59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513" y="4218129"/>
            <a:ext cx="1724905" cy="597516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BA88E503-361E-040C-A02D-F72C5B4C7985}"/>
              </a:ext>
            </a:extLst>
          </p:cNvPr>
          <p:cNvSpPr txBox="1"/>
          <p:nvPr/>
        </p:nvSpPr>
        <p:spPr>
          <a:xfrm>
            <a:off x="6419644" y="1991961"/>
            <a:ext cx="5113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Determine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latin typeface="Book Antiqua" panose="02040602050305030304" pitchFamily="18" charset="0"/>
              </a:rPr>
              <a:t>radius</a:t>
            </a:r>
            <a:r>
              <a:rPr lang="hu-HU" b="1" u="sng" dirty="0">
                <a:latin typeface="Book Antiqua" panose="02040602050305030304" pitchFamily="18" charset="0"/>
              </a:rPr>
              <a:t> of </a:t>
            </a:r>
            <a:r>
              <a:rPr lang="hu-HU" b="1" u="sng" dirty="0" err="1">
                <a:latin typeface="Book Antiqua" panose="02040602050305030304" pitchFamily="18" charset="0"/>
              </a:rPr>
              <a:t>the</a:t>
            </a:r>
            <a:r>
              <a:rPr lang="hu-HU" b="1" u="sng" dirty="0"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latin typeface="Book Antiqua" panose="02040602050305030304" pitchFamily="18" charset="0"/>
              </a:rPr>
              <a:t>charge</a:t>
            </a:r>
            <a:r>
              <a:rPr lang="hu-HU" b="1" u="sng" dirty="0"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latin typeface="Book Antiqua" panose="02040602050305030304" pitchFamily="18" charset="0"/>
              </a:rPr>
              <a:t>distribution</a:t>
            </a:r>
            <a:endParaRPr lang="hu-HU" b="1" u="sng" dirty="0">
              <a:latin typeface="Book Antiqua" panose="02040602050305030304" pitchFamily="18" charset="0"/>
            </a:endParaRP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91A3837F-2283-2A94-88C6-0A51F53ACE8B}"/>
              </a:ext>
            </a:extLst>
          </p:cNvPr>
          <p:cNvCxnSpPr>
            <a:cxnSpLocks/>
          </p:cNvCxnSpPr>
          <p:nvPr/>
        </p:nvCxnSpPr>
        <p:spPr>
          <a:xfrm>
            <a:off x="8769308" y="3703320"/>
            <a:ext cx="0" cy="514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zövegdoboz 16">
                <a:extLst>
                  <a:ext uri="{FF2B5EF4-FFF2-40B4-BE49-F238E27FC236}">
                    <a16:creationId xmlns:a16="http://schemas.microsoft.com/office/drawing/2014/main" id="{FAADE9AB-09B1-AE51-C5E9-C7635C9BA353}"/>
                  </a:ext>
                </a:extLst>
              </p:cNvPr>
              <p:cNvSpPr txBox="1"/>
              <p:nvPr/>
            </p:nvSpPr>
            <p:spPr>
              <a:xfrm>
                <a:off x="7942538" y="4836438"/>
                <a:ext cx="16535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27 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𝑓𝑚</m:t>
                      </m:r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17" name="Szövegdoboz 16">
                <a:extLst>
                  <a:ext uri="{FF2B5EF4-FFF2-40B4-BE49-F238E27FC236}">
                    <a16:creationId xmlns:a16="http://schemas.microsoft.com/office/drawing/2014/main" id="{FAADE9AB-09B1-AE51-C5E9-C7635C9BA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538" y="4836438"/>
                <a:ext cx="1653540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zövegdoboz 17">
            <a:extLst>
              <a:ext uri="{FF2B5EF4-FFF2-40B4-BE49-F238E27FC236}">
                <a16:creationId xmlns:a16="http://schemas.microsoft.com/office/drawing/2014/main" id="{AF054024-544F-7289-EE4A-88F85562AF4B}"/>
              </a:ext>
            </a:extLst>
          </p:cNvPr>
          <p:cNvSpPr txBox="1"/>
          <p:nvPr/>
        </p:nvSpPr>
        <p:spPr>
          <a:xfrm>
            <a:off x="9817654" y="4353980"/>
            <a:ext cx="17958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err="1">
                <a:latin typeface="Book Antiqua" panose="02040602050305030304" pitchFamily="18" charset="0"/>
              </a:rPr>
              <a:t>the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closest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the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particle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can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get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to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the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nucleus</a:t>
            </a:r>
            <a:endParaRPr lang="hu-HU" sz="1200" dirty="0">
              <a:latin typeface="Book Antiqua" panose="02040602050305030304" pitchFamily="18" charset="0"/>
            </a:endParaRPr>
          </a:p>
          <a:p>
            <a:endParaRPr lang="hu-HU" sz="1200" dirty="0">
              <a:latin typeface="Book Antiqua" panose="02040602050305030304" pitchFamily="18" charset="0"/>
            </a:endParaRPr>
          </a:p>
          <a:p>
            <a:r>
              <a:rPr lang="hu-HU" sz="1200" dirty="0">
                <a:latin typeface="Book Antiqua" panose="02040602050305030304" pitchFamily="18" charset="0"/>
              </a:rPr>
              <a:t>and </a:t>
            </a:r>
            <a:r>
              <a:rPr lang="hu-HU" sz="1200" dirty="0" err="1">
                <a:latin typeface="Book Antiqua" panose="02040602050305030304" pitchFamily="18" charset="0"/>
              </a:rPr>
              <a:t>it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still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looks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point</a:t>
            </a:r>
            <a:r>
              <a:rPr lang="hu-HU" sz="1200" dirty="0">
                <a:latin typeface="Book Antiqua" panose="02040602050305030304" pitchFamily="18" charset="0"/>
              </a:rPr>
              <a:t>-like!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Szövegdoboz 19">
                <a:extLst>
                  <a:ext uri="{FF2B5EF4-FFF2-40B4-BE49-F238E27FC236}">
                    <a16:creationId xmlns:a16="http://schemas.microsoft.com/office/drawing/2014/main" id="{F4B6FB85-6C74-B860-2F65-D0286E31B94F}"/>
                  </a:ext>
                </a:extLst>
              </p:cNvPr>
              <p:cNvSpPr txBox="1"/>
              <p:nvPr/>
            </p:nvSpPr>
            <p:spPr>
              <a:xfrm>
                <a:off x="7853513" y="5528382"/>
                <a:ext cx="2339340" cy="36933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𝑛𝑢𝑐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&lt;27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𝑓𝑚</m:t>
                      </m:r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20" name="Szövegdoboz 19">
                <a:extLst>
                  <a:ext uri="{FF2B5EF4-FFF2-40B4-BE49-F238E27FC236}">
                    <a16:creationId xmlns:a16="http://schemas.microsoft.com/office/drawing/2014/main" id="{F4B6FB85-6C74-B860-2F65-D0286E31B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513" y="5528382"/>
                <a:ext cx="2339340" cy="369332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Kép 21">
            <a:extLst>
              <a:ext uri="{FF2B5EF4-FFF2-40B4-BE49-F238E27FC236}">
                <a16:creationId xmlns:a16="http://schemas.microsoft.com/office/drawing/2014/main" id="{F90DBB50-DC6A-B6CE-E144-8EEFF9447B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825" y="1954353"/>
            <a:ext cx="4460564" cy="1944000"/>
          </a:xfrm>
          <a:prstGeom prst="rect">
            <a:avLst/>
          </a:prstGeom>
        </p:spPr>
      </p:pic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F1778466-D172-9C80-9A47-C74F7DB39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7397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latin typeface="Book Antiqua" panose="02040602050305030304" pitchFamily="18" charset="0"/>
              </a:rPr>
              <a:t>Discovery</a:t>
            </a:r>
            <a:r>
              <a:rPr lang="hu-HU" b="1" dirty="0"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neutron, 1932</a:t>
            </a:r>
            <a:endParaRPr lang="en-GB" b="1" dirty="0">
              <a:latin typeface="Book Antiqua" panose="0204060205030503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76960" y="2030399"/>
            <a:ext cx="10058400" cy="4023360"/>
          </a:xfrm>
        </p:spPr>
        <p:txBody>
          <a:bodyPr lIns="36000" rIns="0">
            <a:normAutofit/>
          </a:bodyPr>
          <a:lstStyle/>
          <a:p>
            <a:pPr>
              <a:buFont typeface="Book Antiqua" panose="02040602050305030304" pitchFamily="18" charset="0"/>
              <a:buChar char="•"/>
            </a:pPr>
            <a:r>
              <a:rPr lang="hu-HU" i="1" dirty="0">
                <a:latin typeface="Book Antiqua" panose="02040602050305030304" pitchFamily="18" charset="0"/>
              </a:rPr>
              <a:t>Rutherford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discoverd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>
                <a:solidFill>
                  <a:srgbClr val="FF0000"/>
                </a:solidFill>
                <a:latin typeface="Book Antiqua" panose="02040602050305030304" pitchFamily="18" charset="0"/>
              </a:rPr>
              <a:t>proton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first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reaction</a:t>
            </a:r>
            <a:r>
              <a:rPr lang="hu-HU" dirty="0">
                <a:latin typeface="Book Antiqua" panose="02040602050305030304" pitchFamily="18" charset="0"/>
              </a:rPr>
              <a:t>:  </a:t>
            </a:r>
          </a:p>
          <a:p>
            <a:pPr lvl="2">
              <a:buFont typeface="Book Antiqua" panose="02040602050305030304" pitchFamily="18" charset="0"/>
              <a:buChar char="•"/>
            </a:pP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What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do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we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know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about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proton?</a:t>
            </a:r>
          </a:p>
          <a:p>
            <a:pPr marL="384048" lvl="2" indent="0">
              <a:buNone/>
            </a:pPr>
            <a:endParaRPr lang="hu-HU" dirty="0">
              <a:solidFill>
                <a:srgbClr val="00B0F0"/>
              </a:solidFill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hu-HU" dirty="0">
                <a:latin typeface="Book Antiqua" panose="02040602050305030304" pitchFamily="18" charset="0"/>
              </a:rPr>
              <a:t>The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 must </a:t>
            </a:r>
            <a:r>
              <a:rPr lang="hu-HU" dirty="0" err="1">
                <a:latin typeface="Book Antiqua" panose="02040602050305030304" pitchFamily="18" charset="0"/>
              </a:rPr>
              <a:t>contain</a:t>
            </a:r>
            <a:r>
              <a:rPr lang="hu-HU" dirty="0">
                <a:latin typeface="Book Antiqua" panose="02040602050305030304" pitchFamily="18" charset="0"/>
              </a:rPr>
              <a:t> Z </a:t>
            </a:r>
            <a:r>
              <a:rPr lang="hu-HU" dirty="0" err="1">
                <a:latin typeface="Book Antiqua" panose="02040602050305030304" pitchFamily="18" charset="0"/>
              </a:rPr>
              <a:t>protons</a:t>
            </a:r>
            <a:r>
              <a:rPr lang="hu-HU" dirty="0">
                <a:latin typeface="Book Antiqua" panose="02040602050305030304" pitchFamily="18" charset="0"/>
              </a:rPr>
              <a:t> (an atom has Z </a:t>
            </a:r>
            <a:r>
              <a:rPr lang="hu-HU" dirty="0" err="1">
                <a:latin typeface="Book Antiqua" panose="02040602050305030304" pitchFamily="18" charset="0"/>
              </a:rPr>
              <a:t>electrons</a:t>
            </a:r>
            <a:r>
              <a:rPr lang="hu-HU" dirty="0">
                <a:latin typeface="Book Antiqua" panose="02040602050305030304" pitchFamily="18" charset="0"/>
              </a:rPr>
              <a:t>)    </a:t>
            </a:r>
            <a:r>
              <a:rPr lang="hu-HU" dirty="0" err="1">
                <a:latin typeface="Book Antiqua" panose="02040602050305030304" pitchFamily="18" charset="0"/>
              </a:rPr>
              <a:t>neutral</a:t>
            </a:r>
            <a:r>
              <a:rPr lang="hu-HU" dirty="0">
                <a:latin typeface="Book Antiqua" panose="02040602050305030304" pitchFamily="18" charset="0"/>
              </a:rPr>
              <a:t> atom</a:t>
            </a:r>
          </a:p>
          <a:p>
            <a:pPr marL="0" indent="0">
              <a:buNone/>
            </a:pPr>
            <a:r>
              <a:rPr lang="hu-HU" dirty="0" err="1">
                <a:latin typeface="Book Antiqua" panose="02040602050305030304" pitchFamily="18" charset="0"/>
              </a:rPr>
              <a:t>However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of a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 is </a:t>
            </a:r>
            <a:r>
              <a:rPr lang="hu-HU" dirty="0" err="1">
                <a:latin typeface="Book Antiqua" panose="02040602050305030304" pitchFamily="18" charset="0"/>
              </a:rPr>
              <a:t>larger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than</a:t>
            </a:r>
            <a:r>
              <a:rPr lang="hu-HU" dirty="0">
                <a:latin typeface="Book Antiqua" panose="02040602050305030304" pitchFamily="18" charset="0"/>
              </a:rPr>
              <a:t> Z*m</a:t>
            </a:r>
            <a:r>
              <a:rPr lang="hu-HU" baseline="-25000" dirty="0">
                <a:latin typeface="Book Antiqua" panose="02040602050305030304" pitchFamily="18" charset="0"/>
              </a:rPr>
              <a:t>p </a:t>
            </a:r>
            <a:r>
              <a:rPr lang="hu-HU" dirty="0">
                <a:latin typeface="Book Antiqua" panose="02040602050305030304" pitchFamily="18" charset="0"/>
              </a:rPr>
              <a:t>; </a:t>
            </a:r>
            <a:r>
              <a:rPr lang="hu-HU" dirty="0" err="1">
                <a:latin typeface="Book Antiqua" panose="02040602050305030304" pitchFamily="18" charset="0"/>
              </a:rPr>
              <a:t>approximately</a:t>
            </a:r>
            <a:r>
              <a:rPr lang="hu-HU" dirty="0">
                <a:latin typeface="Book Antiqua" panose="02040602050305030304" pitchFamily="18" charset="0"/>
              </a:rPr>
              <a:t> A*m</a:t>
            </a:r>
            <a:r>
              <a:rPr lang="hu-HU" baseline="-25000" dirty="0">
                <a:latin typeface="Book Antiqua" panose="02040602050305030304" pitchFamily="18" charset="0"/>
              </a:rPr>
              <a:t>p</a:t>
            </a:r>
            <a:r>
              <a:rPr lang="hu-HU" dirty="0">
                <a:latin typeface="Book Antiqua" panose="02040602050305030304" pitchFamily="18" charset="0"/>
              </a:rPr>
              <a:t>, A≈2*Z</a:t>
            </a:r>
            <a:endParaRPr lang="hu-HU" baseline="-25000" dirty="0">
              <a:latin typeface="Book Antiqua" panose="02040602050305030304" pitchFamily="18" charset="0"/>
            </a:endParaRPr>
          </a:p>
          <a:p>
            <a:pPr marL="384048" lvl="2" indent="0">
              <a:buNone/>
            </a:pPr>
            <a:endParaRPr lang="hu-HU" dirty="0">
              <a:solidFill>
                <a:srgbClr val="00B0F0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4" name="Csoportba foglalás 3"/>
          <p:cNvGrpSpPr/>
          <p:nvPr/>
        </p:nvGrpSpPr>
        <p:grpSpPr>
          <a:xfrm>
            <a:off x="8269316" y="2028044"/>
            <a:ext cx="3170135" cy="369332"/>
            <a:chOff x="5371433" y="3717032"/>
            <a:chExt cx="3170135" cy="369332"/>
          </a:xfrm>
        </p:grpSpPr>
        <p:sp>
          <p:nvSpPr>
            <p:cNvPr id="5" name="Jobbra nyíl 4"/>
            <p:cNvSpPr/>
            <p:nvPr/>
          </p:nvSpPr>
          <p:spPr>
            <a:xfrm>
              <a:off x="5371433" y="3752284"/>
              <a:ext cx="498593" cy="298827"/>
            </a:xfrm>
            <a:prstGeom prst="rightArrow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Szövegdoboz 6"/>
                <p:cNvSpPr txBox="1"/>
                <p:nvPr/>
              </p:nvSpPr>
              <p:spPr>
                <a:xfrm>
                  <a:off x="5796136" y="3717032"/>
                  <a:ext cx="274543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17</m:t>
                            </m:r>
                          </m:sup>
                        </m:sSup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(=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Szövegdoboz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6136" y="3717032"/>
                  <a:ext cx="2745432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66EE6433-0645-F5EE-B8D4-C46CFAD300F1}"/>
              </a:ext>
            </a:extLst>
          </p:cNvPr>
          <p:cNvCxnSpPr/>
          <p:nvPr/>
        </p:nvCxnSpPr>
        <p:spPr>
          <a:xfrm>
            <a:off x="8068614" y="3213279"/>
            <a:ext cx="200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D9AF4B20-9F7D-04D5-6C11-50AEBA93E5AE}"/>
                  </a:ext>
                </a:extLst>
              </p:cNvPr>
              <p:cNvSpPr txBox="1"/>
              <p:nvPr/>
            </p:nvSpPr>
            <p:spPr>
              <a:xfrm>
                <a:off x="4580050" y="2347363"/>
                <a:ext cx="26449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M=938,272081 ±0,000006 </a:t>
                </a:r>
                <a:r>
                  <a:rPr kumimoji="0" lang="hu-HU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MeV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/c</a:t>
                </a:r>
                <a:r>
                  <a:rPr kumimoji="0" lang="hu-HU" sz="12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2</a:t>
                </a:r>
                <a:endParaRPr kumimoji="0" lang="hu-H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q = 1e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hu-HU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lifetime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hu-HU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𝜏</m:t>
                    </m:r>
                  </m:oMath>
                </a14:m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= 10</a:t>
                </a:r>
                <a:r>
                  <a:rPr kumimoji="0" lang="hu-HU" sz="12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31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-10</a:t>
                </a:r>
                <a:r>
                  <a:rPr kumimoji="0" lang="hu-HU" sz="12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33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</a:t>
                </a:r>
                <a:r>
                  <a:rPr lang="hu-HU" sz="1200" dirty="0" err="1">
                    <a:solidFill>
                      <a:srgbClr val="00B0F0"/>
                    </a:solidFill>
                    <a:latin typeface="Times New Roman"/>
                  </a:rPr>
                  <a:t>years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(!)</a:t>
                </a:r>
                <a:endParaRPr kumimoji="0" lang="hu-H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D9AF4B20-9F7D-04D5-6C11-50AEBA93E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050" y="2347363"/>
                <a:ext cx="2644998" cy="646331"/>
              </a:xfrm>
              <a:prstGeom prst="rect">
                <a:avLst/>
              </a:prstGeom>
              <a:blipFill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0C97EE0E-D35D-0657-56F5-59ACCE645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157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890709FD-01AD-62E3-2EC3-BEF14D9FF6DE}"/>
              </a:ext>
            </a:extLst>
          </p:cNvPr>
          <p:cNvSpPr/>
          <p:nvPr/>
        </p:nvSpPr>
        <p:spPr>
          <a:xfrm>
            <a:off x="972355" y="2968580"/>
            <a:ext cx="9472411" cy="906459"/>
          </a:xfrm>
          <a:prstGeom prst="roundRect">
            <a:avLst/>
          </a:prstGeom>
          <a:gradFill flip="none" rotWithShape="1">
            <a:gsLst>
              <a:gs pos="81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latin typeface="Book Antiqua" panose="02040602050305030304" pitchFamily="18" charset="0"/>
              </a:rPr>
              <a:t>Discovery</a:t>
            </a:r>
            <a:r>
              <a:rPr lang="hu-HU" b="1" dirty="0"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neutron, 1932</a:t>
            </a:r>
            <a:endParaRPr lang="en-GB" b="1" dirty="0">
              <a:latin typeface="Book Antiqua" panose="0204060205030503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76960" y="2030399"/>
            <a:ext cx="10058400" cy="4023360"/>
          </a:xfrm>
        </p:spPr>
        <p:txBody>
          <a:bodyPr lIns="36000" rIns="0">
            <a:normAutofit/>
          </a:bodyPr>
          <a:lstStyle/>
          <a:p>
            <a:pPr>
              <a:buFont typeface="Book Antiqua" panose="02040602050305030304" pitchFamily="18" charset="0"/>
              <a:buChar char="•"/>
            </a:pPr>
            <a:r>
              <a:rPr lang="hu-HU" i="1" dirty="0">
                <a:latin typeface="Book Antiqua" panose="02040602050305030304" pitchFamily="18" charset="0"/>
              </a:rPr>
              <a:t>Rutherford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discoverd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>
                <a:solidFill>
                  <a:srgbClr val="FF0000"/>
                </a:solidFill>
                <a:latin typeface="Book Antiqua" panose="02040602050305030304" pitchFamily="18" charset="0"/>
              </a:rPr>
              <a:t>proton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first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reaction</a:t>
            </a:r>
            <a:r>
              <a:rPr lang="hu-HU" dirty="0">
                <a:latin typeface="Book Antiqua" panose="02040602050305030304" pitchFamily="18" charset="0"/>
              </a:rPr>
              <a:t>:  </a:t>
            </a:r>
          </a:p>
          <a:p>
            <a:pPr lvl="2">
              <a:buFont typeface="Book Antiqua" panose="02040602050305030304" pitchFamily="18" charset="0"/>
              <a:buChar char="•"/>
            </a:pP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What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do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we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know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about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proton?</a:t>
            </a:r>
          </a:p>
          <a:p>
            <a:pPr marL="384048" lvl="2" indent="0">
              <a:buNone/>
            </a:pPr>
            <a:endParaRPr lang="hu-HU" dirty="0">
              <a:solidFill>
                <a:srgbClr val="00B0F0"/>
              </a:solidFill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hu-HU" dirty="0">
                <a:latin typeface="Book Antiqua" panose="02040602050305030304" pitchFamily="18" charset="0"/>
              </a:rPr>
              <a:t>The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 must </a:t>
            </a:r>
            <a:r>
              <a:rPr lang="hu-HU" dirty="0" err="1">
                <a:latin typeface="Book Antiqua" panose="02040602050305030304" pitchFamily="18" charset="0"/>
              </a:rPr>
              <a:t>contain</a:t>
            </a:r>
            <a:r>
              <a:rPr lang="hu-HU" dirty="0">
                <a:latin typeface="Book Antiqua" panose="02040602050305030304" pitchFamily="18" charset="0"/>
              </a:rPr>
              <a:t> Z </a:t>
            </a:r>
            <a:r>
              <a:rPr lang="hu-HU" dirty="0" err="1">
                <a:latin typeface="Book Antiqua" panose="02040602050305030304" pitchFamily="18" charset="0"/>
              </a:rPr>
              <a:t>protons</a:t>
            </a:r>
            <a:r>
              <a:rPr lang="hu-HU" dirty="0">
                <a:latin typeface="Book Antiqua" panose="02040602050305030304" pitchFamily="18" charset="0"/>
              </a:rPr>
              <a:t> (an atom has Z </a:t>
            </a:r>
            <a:r>
              <a:rPr lang="hu-HU" dirty="0" err="1">
                <a:latin typeface="Book Antiqua" panose="02040602050305030304" pitchFamily="18" charset="0"/>
              </a:rPr>
              <a:t>electrons</a:t>
            </a:r>
            <a:r>
              <a:rPr lang="hu-HU" dirty="0">
                <a:latin typeface="Book Antiqua" panose="02040602050305030304" pitchFamily="18" charset="0"/>
              </a:rPr>
              <a:t>)    </a:t>
            </a:r>
            <a:r>
              <a:rPr lang="hu-HU" dirty="0" err="1">
                <a:latin typeface="Book Antiqua" panose="02040602050305030304" pitchFamily="18" charset="0"/>
              </a:rPr>
              <a:t>neutral</a:t>
            </a:r>
            <a:r>
              <a:rPr lang="hu-HU" dirty="0">
                <a:latin typeface="Book Antiqua" panose="02040602050305030304" pitchFamily="18" charset="0"/>
              </a:rPr>
              <a:t> atom</a:t>
            </a:r>
          </a:p>
          <a:p>
            <a:pPr marL="0" indent="0">
              <a:buNone/>
            </a:pPr>
            <a:r>
              <a:rPr lang="hu-HU" dirty="0" err="1">
                <a:latin typeface="Book Antiqua" panose="02040602050305030304" pitchFamily="18" charset="0"/>
              </a:rPr>
              <a:t>However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of a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 is </a:t>
            </a:r>
            <a:r>
              <a:rPr lang="hu-HU" dirty="0" err="1">
                <a:latin typeface="Book Antiqua" panose="02040602050305030304" pitchFamily="18" charset="0"/>
              </a:rPr>
              <a:t>larger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than</a:t>
            </a:r>
            <a:r>
              <a:rPr lang="hu-HU" dirty="0">
                <a:latin typeface="Book Antiqua" panose="02040602050305030304" pitchFamily="18" charset="0"/>
              </a:rPr>
              <a:t> Z*m</a:t>
            </a:r>
            <a:r>
              <a:rPr lang="hu-HU" baseline="-25000" dirty="0">
                <a:latin typeface="Book Antiqua" panose="02040602050305030304" pitchFamily="18" charset="0"/>
              </a:rPr>
              <a:t>p </a:t>
            </a:r>
            <a:r>
              <a:rPr lang="hu-HU" dirty="0">
                <a:latin typeface="Book Antiqua" panose="02040602050305030304" pitchFamily="18" charset="0"/>
              </a:rPr>
              <a:t>; </a:t>
            </a:r>
            <a:r>
              <a:rPr lang="hu-HU" dirty="0" err="1">
                <a:latin typeface="Book Antiqua" panose="02040602050305030304" pitchFamily="18" charset="0"/>
              </a:rPr>
              <a:t>approximately</a:t>
            </a:r>
            <a:r>
              <a:rPr lang="hu-HU" dirty="0">
                <a:latin typeface="Book Antiqua" panose="02040602050305030304" pitchFamily="18" charset="0"/>
              </a:rPr>
              <a:t> A*m</a:t>
            </a:r>
            <a:r>
              <a:rPr lang="hu-HU" baseline="-25000" dirty="0">
                <a:latin typeface="Book Antiqua" panose="02040602050305030304" pitchFamily="18" charset="0"/>
              </a:rPr>
              <a:t>p</a:t>
            </a:r>
            <a:r>
              <a:rPr lang="hu-HU" dirty="0">
                <a:latin typeface="Book Antiqua" panose="02040602050305030304" pitchFamily="18" charset="0"/>
              </a:rPr>
              <a:t>, A≈2*Z</a:t>
            </a:r>
            <a:endParaRPr lang="hu-HU" baseline="-25000" dirty="0">
              <a:latin typeface="Book Antiqua" panose="02040602050305030304" pitchFamily="18" charset="0"/>
            </a:endParaRPr>
          </a:p>
          <a:p>
            <a:pPr>
              <a:buFont typeface="Book Antiqua" panose="02040602050305030304" pitchFamily="18" charset="0"/>
              <a:buChar char="•"/>
            </a:pPr>
            <a:r>
              <a:rPr lang="hu-HU" i="1" dirty="0">
                <a:latin typeface="Book Antiqua" panose="02040602050305030304" pitchFamily="18" charset="0"/>
              </a:rPr>
              <a:t>Rutherford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proposed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existence</a:t>
            </a:r>
            <a:r>
              <a:rPr lang="hu-HU" dirty="0">
                <a:latin typeface="Book Antiqua" panose="02040602050305030304" pitchFamily="18" charset="0"/>
              </a:rPr>
              <a:t> of a </a:t>
            </a:r>
            <a:r>
              <a:rPr lang="hu-HU" dirty="0" err="1">
                <a:latin typeface="Book Antiqua" panose="02040602050305030304" pitchFamily="18" charset="0"/>
              </a:rPr>
              <a:t>neutral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inside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b="1" dirty="0">
                <a:solidFill>
                  <a:srgbClr val="FF0000"/>
                </a:solidFill>
                <a:latin typeface="Book Antiqua" panose="02040602050305030304" pitchFamily="18" charset="0"/>
              </a:rPr>
              <a:t>neutron</a:t>
            </a:r>
          </a:p>
          <a:p>
            <a:pPr lvl="2">
              <a:buFont typeface="Book Antiqua" panose="02040602050305030304" pitchFamily="18" charset="0"/>
              <a:buChar char="•"/>
            </a:pP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Could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it be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bound</a:t>
            </a:r>
            <a:r>
              <a:rPr lang="hu-HU" b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state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of a proton and an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electron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?</a:t>
            </a:r>
          </a:p>
          <a:p>
            <a:pPr lvl="2">
              <a:buFont typeface="Book Antiqua" panose="02040602050305030304" pitchFamily="18" charset="0"/>
              <a:buChar char="•"/>
            </a:pPr>
            <a:endParaRPr lang="hu-HU" dirty="0">
              <a:solidFill>
                <a:srgbClr val="00B0F0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4" name="Csoportba foglalás 3"/>
          <p:cNvGrpSpPr/>
          <p:nvPr/>
        </p:nvGrpSpPr>
        <p:grpSpPr>
          <a:xfrm>
            <a:off x="8269316" y="2028044"/>
            <a:ext cx="3170135" cy="369332"/>
            <a:chOff x="5371433" y="3717032"/>
            <a:chExt cx="3170135" cy="369332"/>
          </a:xfrm>
        </p:grpSpPr>
        <p:sp>
          <p:nvSpPr>
            <p:cNvPr id="5" name="Jobbra nyíl 4"/>
            <p:cNvSpPr/>
            <p:nvPr/>
          </p:nvSpPr>
          <p:spPr>
            <a:xfrm>
              <a:off x="5371433" y="3752284"/>
              <a:ext cx="498593" cy="298827"/>
            </a:xfrm>
            <a:prstGeom prst="rightArrow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Szövegdoboz 6"/>
                <p:cNvSpPr txBox="1"/>
                <p:nvPr/>
              </p:nvSpPr>
              <p:spPr>
                <a:xfrm>
                  <a:off x="5796136" y="3717032"/>
                  <a:ext cx="274543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17</m:t>
                            </m:r>
                          </m:sup>
                        </m:sSup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(=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Szövegdoboz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6136" y="3717032"/>
                  <a:ext cx="2745432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Egyenes összekötő 7"/>
          <p:cNvCxnSpPr/>
          <p:nvPr/>
        </p:nvCxnSpPr>
        <p:spPr>
          <a:xfrm>
            <a:off x="301105" y="4544291"/>
            <a:ext cx="11610109" cy="9236"/>
          </a:xfrm>
          <a:prstGeom prst="line">
            <a:avLst/>
          </a:prstGeom>
          <a:ln>
            <a:solidFill>
              <a:srgbClr val="92D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55B6B4CC-6DF0-EF60-76F2-F8BA696B7B29}"/>
              </a:ext>
            </a:extLst>
          </p:cNvPr>
          <p:cNvCxnSpPr/>
          <p:nvPr/>
        </p:nvCxnSpPr>
        <p:spPr>
          <a:xfrm>
            <a:off x="8068614" y="3213279"/>
            <a:ext cx="200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zövegdoboz 9">
                <a:extLst>
                  <a:ext uri="{FF2B5EF4-FFF2-40B4-BE49-F238E27FC236}">
                    <a16:creationId xmlns:a16="http://schemas.microsoft.com/office/drawing/2014/main" id="{F376FD22-FB8A-4685-F415-30FDD801451D}"/>
                  </a:ext>
                </a:extLst>
              </p:cNvPr>
              <p:cNvSpPr txBox="1"/>
              <p:nvPr/>
            </p:nvSpPr>
            <p:spPr>
              <a:xfrm>
                <a:off x="4580050" y="2347363"/>
                <a:ext cx="26449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M=938,272081 ±0,000006 </a:t>
                </a:r>
                <a:r>
                  <a:rPr kumimoji="0" lang="hu-HU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MeV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/c</a:t>
                </a:r>
                <a:r>
                  <a:rPr kumimoji="0" lang="hu-HU" sz="12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2</a:t>
                </a:r>
                <a:endParaRPr kumimoji="0" lang="hu-H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q = 1e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hu-HU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lifetime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hu-HU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𝜏</m:t>
                    </m:r>
                  </m:oMath>
                </a14:m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= 10</a:t>
                </a:r>
                <a:r>
                  <a:rPr kumimoji="0" lang="hu-HU" sz="12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31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-10</a:t>
                </a:r>
                <a:r>
                  <a:rPr kumimoji="0" lang="hu-HU" sz="12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33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</a:t>
                </a:r>
                <a:r>
                  <a:rPr lang="hu-HU" sz="1200" dirty="0" err="1">
                    <a:solidFill>
                      <a:srgbClr val="00B0F0"/>
                    </a:solidFill>
                    <a:latin typeface="Times New Roman"/>
                  </a:rPr>
                  <a:t>years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(!)</a:t>
                </a:r>
                <a:endParaRPr kumimoji="0" lang="hu-H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Szövegdoboz 9">
                <a:extLst>
                  <a:ext uri="{FF2B5EF4-FFF2-40B4-BE49-F238E27FC236}">
                    <a16:creationId xmlns:a16="http://schemas.microsoft.com/office/drawing/2014/main" id="{F376FD22-FB8A-4685-F415-30FDD8014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050" y="2347363"/>
                <a:ext cx="2644998" cy="646331"/>
              </a:xfrm>
              <a:prstGeom prst="rect">
                <a:avLst/>
              </a:prstGeom>
              <a:blipFill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ia számának helye 10">
            <a:extLst>
              <a:ext uri="{FF2B5EF4-FFF2-40B4-BE49-F238E27FC236}">
                <a16:creationId xmlns:a16="http://schemas.microsoft.com/office/drawing/2014/main" id="{5CBE5E47-5AC7-1722-A1DE-8AE97F735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97194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latin typeface="Book Antiqua" panose="02040602050305030304" pitchFamily="18" charset="0"/>
              </a:rPr>
              <a:t>Discovery</a:t>
            </a:r>
            <a:r>
              <a:rPr lang="hu-HU" b="1" dirty="0"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neutron, 1932</a:t>
            </a:r>
            <a:endParaRPr lang="en-GB" b="1" dirty="0">
              <a:latin typeface="Book Antiqua" panose="0204060205030503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76960" y="2030399"/>
            <a:ext cx="10058400" cy="4023360"/>
          </a:xfrm>
        </p:spPr>
        <p:txBody>
          <a:bodyPr lIns="36000" rIns="0">
            <a:normAutofit/>
          </a:bodyPr>
          <a:lstStyle/>
          <a:p>
            <a:pPr>
              <a:buFont typeface="Book Antiqua" panose="02040602050305030304" pitchFamily="18" charset="0"/>
              <a:buChar char="•"/>
            </a:pPr>
            <a:r>
              <a:rPr lang="hu-HU" i="1" dirty="0">
                <a:latin typeface="Book Antiqua" panose="02040602050305030304" pitchFamily="18" charset="0"/>
              </a:rPr>
              <a:t>Rutherford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discoverd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>
                <a:solidFill>
                  <a:srgbClr val="FF0000"/>
                </a:solidFill>
                <a:latin typeface="Book Antiqua" panose="02040602050305030304" pitchFamily="18" charset="0"/>
              </a:rPr>
              <a:t>proton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first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reaction</a:t>
            </a:r>
            <a:r>
              <a:rPr lang="hu-HU" dirty="0">
                <a:latin typeface="Book Antiqua" panose="02040602050305030304" pitchFamily="18" charset="0"/>
              </a:rPr>
              <a:t>:  </a:t>
            </a:r>
          </a:p>
          <a:p>
            <a:pPr lvl="2">
              <a:buFont typeface="Book Antiqua" panose="02040602050305030304" pitchFamily="18" charset="0"/>
              <a:buChar char="•"/>
            </a:pP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What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do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we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know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about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proton?</a:t>
            </a:r>
          </a:p>
          <a:p>
            <a:pPr marL="384048" lvl="2" indent="0">
              <a:buNone/>
            </a:pPr>
            <a:endParaRPr lang="hu-HU" dirty="0">
              <a:solidFill>
                <a:srgbClr val="00B0F0"/>
              </a:solidFill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hu-HU" dirty="0">
                <a:latin typeface="Book Antiqua" panose="02040602050305030304" pitchFamily="18" charset="0"/>
              </a:rPr>
              <a:t>The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 must </a:t>
            </a:r>
            <a:r>
              <a:rPr lang="hu-HU" dirty="0" err="1">
                <a:latin typeface="Book Antiqua" panose="02040602050305030304" pitchFamily="18" charset="0"/>
              </a:rPr>
              <a:t>contain</a:t>
            </a:r>
            <a:r>
              <a:rPr lang="hu-HU" dirty="0">
                <a:latin typeface="Book Antiqua" panose="02040602050305030304" pitchFamily="18" charset="0"/>
              </a:rPr>
              <a:t> Z </a:t>
            </a:r>
            <a:r>
              <a:rPr lang="hu-HU" dirty="0" err="1">
                <a:latin typeface="Book Antiqua" panose="02040602050305030304" pitchFamily="18" charset="0"/>
              </a:rPr>
              <a:t>protons</a:t>
            </a:r>
            <a:r>
              <a:rPr lang="hu-HU" dirty="0">
                <a:latin typeface="Book Antiqua" panose="02040602050305030304" pitchFamily="18" charset="0"/>
              </a:rPr>
              <a:t> (an atom has Z </a:t>
            </a:r>
            <a:r>
              <a:rPr lang="hu-HU" dirty="0" err="1">
                <a:latin typeface="Book Antiqua" panose="02040602050305030304" pitchFamily="18" charset="0"/>
              </a:rPr>
              <a:t>electrons</a:t>
            </a:r>
            <a:r>
              <a:rPr lang="hu-HU" dirty="0">
                <a:latin typeface="Book Antiqua" panose="02040602050305030304" pitchFamily="18" charset="0"/>
              </a:rPr>
              <a:t>)    </a:t>
            </a:r>
            <a:r>
              <a:rPr lang="hu-HU" dirty="0" err="1">
                <a:latin typeface="Book Antiqua" panose="02040602050305030304" pitchFamily="18" charset="0"/>
              </a:rPr>
              <a:t>neutral</a:t>
            </a:r>
            <a:r>
              <a:rPr lang="hu-HU" dirty="0">
                <a:latin typeface="Book Antiqua" panose="02040602050305030304" pitchFamily="18" charset="0"/>
              </a:rPr>
              <a:t> atom</a:t>
            </a:r>
          </a:p>
          <a:p>
            <a:pPr marL="0" indent="0">
              <a:buNone/>
            </a:pPr>
            <a:r>
              <a:rPr lang="hu-HU" dirty="0" err="1">
                <a:latin typeface="Book Antiqua" panose="02040602050305030304" pitchFamily="18" charset="0"/>
              </a:rPr>
              <a:t>However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of a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 is </a:t>
            </a:r>
            <a:r>
              <a:rPr lang="hu-HU" dirty="0" err="1">
                <a:latin typeface="Book Antiqua" panose="02040602050305030304" pitchFamily="18" charset="0"/>
              </a:rPr>
              <a:t>larger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than</a:t>
            </a:r>
            <a:r>
              <a:rPr lang="hu-HU" dirty="0">
                <a:latin typeface="Book Antiqua" panose="02040602050305030304" pitchFamily="18" charset="0"/>
              </a:rPr>
              <a:t> Z*m</a:t>
            </a:r>
            <a:r>
              <a:rPr lang="hu-HU" baseline="-25000" dirty="0">
                <a:latin typeface="Book Antiqua" panose="02040602050305030304" pitchFamily="18" charset="0"/>
              </a:rPr>
              <a:t>p </a:t>
            </a:r>
            <a:r>
              <a:rPr lang="hu-HU" dirty="0">
                <a:latin typeface="Book Antiqua" panose="02040602050305030304" pitchFamily="18" charset="0"/>
              </a:rPr>
              <a:t>; </a:t>
            </a:r>
            <a:r>
              <a:rPr lang="hu-HU" dirty="0" err="1">
                <a:latin typeface="Book Antiqua" panose="02040602050305030304" pitchFamily="18" charset="0"/>
              </a:rPr>
              <a:t>approximately</a:t>
            </a:r>
            <a:r>
              <a:rPr lang="hu-HU" dirty="0">
                <a:latin typeface="Book Antiqua" panose="02040602050305030304" pitchFamily="18" charset="0"/>
              </a:rPr>
              <a:t> A*m</a:t>
            </a:r>
            <a:r>
              <a:rPr lang="hu-HU" baseline="-25000" dirty="0">
                <a:latin typeface="Book Antiqua" panose="02040602050305030304" pitchFamily="18" charset="0"/>
              </a:rPr>
              <a:t>p</a:t>
            </a:r>
            <a:r>
              <a:rPr lang="hu-HU" dirty="0">
                <a:latin typeface="Book Antiqua" panose="02040602050305030304" pitchFamily="18" charset="0"/>
              </a:rPr>
              <a:t>, A≈2*Z</a:t>
            </a:r>
            <a:endParaRPr lang="hu-HU" baseline="-25000" dirty="0">
              <a:latin typeface="Book Antiqua" panose="02040602050305030304" pitchFamily="18" charset="0"/>
            </a:endParaRPr>
          </a:p>
          <a:p>
            <a:pPr>
              <a:buFont typeface="Book Antiqua" panose="02040602050305030304" pitchFamily="18" charset="0"/>
              <a:buChar char="•"/>
            </a:pPr>
            <a:r>
              <a:rPr lang="hu-HU" i="1" dirty="0">
                <a:latin typeface="Book Antiqua" panose="02040602050305030304" pitchFamily="18" charset="0"/>
              </a:rPr>
              <a:t>Rutherford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proposed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existence</a:t>
            </a:r>
            <a:r>
              <a:rPr lang="hu-HU" dirty="0">
                <a:latin typeface="Book Antiqua" panose="02040602050305030304" pitchFamily="18" charset="0"/>
              </a:rPr>
              <a:t> of a </a:t>
            </a:r>
            <a:r>
              <a:rPr lang="hu-HU" dirty="0" err="1">
                <a:latin typeface="Book Antiqua" panose="02040602050305030304" pitchFamily="18" charset="0"/>
              </a:rPr>
              <a:t>neutral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inside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b="1" dirty="0">
                <a:solidFill>
                  <a:srgbClr val="FF0000"/>
                </a:solidFill>
                <a:latin typeface="Book Antiqua" panose="02040602050305030304" pitchFamily="18" charset="0"/>
              </a:rPr>
              <a:t>neutron</a:t>
            </a:r>
          </a:p>
          <a:p>
            <a:pPr lvl="2">
              <a:buFont typeface="Book Antiqua" panose="02040602050305030304" pitchFamily="18" charset="0"/>
              <a:buChar char="•"/>
            </a:pP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Could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it be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bound</a:t>
            </a:r>
            <a:r>
              <a:rPr lang="hu-HU" b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state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 of a proton and an </a:t>
            </a:r>
            <a:r>
              <a:rPr lang="hu-HU" dirty="0" err="1">
                <a:solidFill>
                  <a:srgbClr val="00B0F0"/>
                </a:solidFill>
                <a:latin typeface="Book Antiqua" panose="02040602050305030304" pitchFamily="18" charset="0"/>
              </a:rPr>
              <a:t>electron</a:t>
            </a:r>
            <a:r>
              <a:rPr lang="hu-HU" dirty="0">
                <a:solidFill>
                  <a:srgbClr val="00B0F0"/>
                </a:solidFill>
                <a:latin typeface="Book Antiqua" panose="02040602050305030304" pitchFamily="18" charset="0"/>
              </a:rPr>
              <a:t>?</a:t>
            </a:r>
          </a:p>
          <a:p>
            <a:pPr>
              <a:buFont typeface="Book Antiqua" panose="02040602050305030304" pitchFamily="18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Interesting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experiments</a:t>
            </a:r>
            <a:r>
              <a:rPr lang="hu-HU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r>
              <a:rPr lang="hu-HU" b="1" u="sng" dirty="0" err="1">
                <a:solidFill>
                  <a:schemeClr val="tx1"/>
                </a:solidFill>
                <a:latin typeface="Book Antiqua" panose="02040602050305030304" pitchFamily="18" charset="0"/>
              </a:rPr>
              <a:t>beryllium</a:t>
            </a:r>
            <a:r>
              <a:rPr lang="hu-HU" b="1" u="sng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tx1"/>
                </a:solidFill>
                <a:latin typeface="Book Antiqua" panose="02040602050305030304" pitchFamily="18" charset="0"/>
              </a:rPr>
              <a:t>radiation</a:t>
            </a:r>
            <a:r>
              <a:rPr lang="hu-HU" b="1" u="sng" dirty="0">
                <a:solidFill>
                  <a:schemeClr val="tx1"/>
                </a:solidFill>
                <a:latin typeface="Book Antiqua" panose="02040602050305030304" pitchFamily="18" charset="0"/>
              </a:rPr>
              <a:t> (</a:t>
            </a:r>
            <a:r>
              <a:rPr lang="hu-HU" b="1" u="sng" dirty="0" err="1">
                <a:solidFill>
                  <a:schemeClr val="tx1"/>
                </a:solidFill>
                <a:latin typeface="Book Antiqua" panose="02040602050305030304" pitchFamily="18" charset="0"/>
              </a:rPr>
              <a:t>Bothe</a:t>
            </a:r>
            <a:r>
              <a:rPr lang="hu-HU" b="1" u="sng" dirty="0">
                <a:solidFill>
                  <a:schemeClr val="tx1"/>
                </a:solidFill>
                <a:latin typeface="Book Antiqua" panose="02040602050305030304" pitchFamily="18" charset="0"/>
              </a:rPr>
              <a:t>, Becker)?</a:t>
            </a:r>
          </a:p>
          <a:p>
            <a:pPr lvl="2">
              <a:buFont typeface="Book Antiqua" panose="02040602050305030304" pitchFamily="18" charset="0"/>
              <a:buChar char="•"/>
            </a:pP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Penetrates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a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thick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sheet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of LEAD</a:t>
            </a:r>
          </a:p>
          <a:p>
            <a:pPr lvl="2">
              <a:buFont typeface="Book Antiqua" panose="02040602050305030304" pitchFamily="18" charset="0"/>
              <a:buChar char="•"/>
            </a:pP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Neutral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(gamma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photons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?)</a:t>
            </a:r>
          </a:p>
          <a:p>
            <a:pPr lvl="2">
              <a:buFont typeface="Book Antiqua" panose="02040602050305030304" pitchFamily="18" charset="0"/>
              <a:buChar char="•"/>
            </a:pP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Creates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protons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Book Antiqua" panose="02040602050305030304" pitchFamily="18" charset="0"/>
              </a:rPr>
              <a:t>from</a:t>
            </a:r>
            <a:r>
              <a:rPr lang="hu-HU" b="1" dirty="0">
                <a:solidFill>
                  <a:schemeClr val="tx1"/>
                </a:solidFill>
                <a:latin typeface="Book Antiqua" panose="02040602050305030304" pitchFamily="18" charset="0"/>
              </a:rPr>
              <a:t> paraffin</a:t>
            </a:r>
            <a:endParaRPr lang="en-GB" b="1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4" name="Csoportba foglalás 3"/>
          <p:cNvGrpSpPr/>
          <p:nvPr/>
        </p:nvGrpSpPr>
        <p:grpSpPr>
          <a:xfrm>
            <a:off x="8269316" y="2028044"/>
            <a:ext cx="3170135" cy="369332"/>
            <a:chOff x="5371433" y="3717032"/>
            <a:chExt cx="3170135" cy="369332"/>
          </a:xfrm>
        </p:grpSpPr>
        <p:sp>
          <p:nvSpPr>
            <p:cNvPr id="5" name="Jobbra nyíl 4"/>
            <p:cNvSpPr/>
            <p:nvPr/>
          </p:nvSpPr>
          <p:spPr>
            <a:xfrm>
              <a:off x="5371433" y="3752284"/>
              <a:ext cx="498593" cy="298827"/>
            </a:xfrm>
            <a:prstGeom prst="rightArrow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Szövegdoboz 6"/>
                <p:cNvSpPr txBox="1"/>
                <p:nvPr/>
              </p:nvSpPr>
              <p:spPr>
                <a:xfrm>
                  <a:off x="5796136" y="3717032"/>
                  <a:ext cx="274543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17</m:t>
                            </m:r>
                          </m:sup>
                        </m:sSup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(=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Szövegdoboz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6136" y="3717032"/>
                  <a:ext cx="2745432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Egyenes összekötő 7"/>
          <p:cNvCxnSpPr/>
          <p:nvPr/>
        </p:nvCxnSpPr>
        <p:spPr>
          <a:xfrm>
            <a:off x="301105" y="4544291"/>
            <a:ext cx="11610109" cy="9236"/>
          </a:xfrm>
          <a:prstGeom prst="line">
            <a:avLst/>
          </a:prstGeom>
          <a:ln>
            <a:solidFill>
              <a:srgbClr val="92D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21447217-96D8-C568-98AE-8A3D8CC5F8CE}"/>
              </a:ext>
            </a:extLst>
          </p:cNvPr>
          <p:cNvCxnSpPr/>
          <p:nvPr/>
        </p:nvCxnSpPr>
        <p:spPr>
          <a:xfrm>
            <a:off x="8068614" y="3213279"/>
            <a:ext cx="200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zövegdoboz 9">
                <a:extLst>
                  <a:ext uri="{FF2B5EF4-FFF2-40B4-BE49-F238E27FC236}">
                    <a16:creationId xmlns:a16="http://schemas.microsoft.com/office/drawing/2014/main" id="{034A9904-DA96-DFCB-79E9-C0C44B0E07E9}"/>
                  </a:ext>
                </a:extLst>
              </p:cNvPr>
              <p:cNvSpPr txBox="1"/>
              <p:nvPr/>
            </p:nvSpPr>
            <p:spPr>
              <a:xfrm>
                <a:off x="4580050" y="2347363"/>
                <a:ext cx="26449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M=938,272081 ±0,000006 </a:t>
                </a:r>
                <a:r>
                  <a:rPr kumimoji="0" lang="hu-HU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MeV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/c</a:t>
                </a:r>
                <a:r>
                  <a:rPr kumimoji="0" lang="hu-HU" sz="12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2</a:t>
                </a:r>
                <a:endParaRPr kumimoji="0" lang="hu-H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q = 1e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hu-HU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lifetime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hu-HU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𝜏</m:t>
                    </m:r>
                  </m:oMath>
                </a14:m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= 10</a:t>
                </a:r>
                <a:r>
                  <a:rPr kumimoji="0" lang="hu-HU" sz="12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31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-10</a:t>
                </a:r>
                <a:r>
                  <a:rPr kumimoji="0" lang="hu-HU" sz="12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33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</a:t>
                </a:r>
                <a:r>
                  <a:rPr lang="hu-HU" sz="1200" dirty="0" err="1">
                    <a:solidFill>
                      <a:srgbClr val="00B0F0"/>
                    </a:solidFill>
                    <a:latin typeface="Times New Roman"/>
                  </a:rPr>
                  <a:t>years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(!)</a:t>
                </a:r>
                <a:endParaRPr kumimoji="0" lang="hu-H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Szövegdoboz 9">
                <a:extLst>
                  <a:ext uri="{FF2B5EF4-FFF2-40B4-BE49-F238E27FC236}">
                    <a16:creationId xmlns:a16="http://schemas.microsoft.com/office/drawing/2014/main" id="{034A9904-DA96-DFCB-79E9-C0C44B0E0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050" y="2347363"/>
                <a:ext cx="2644998" cy="646331"/>
              </a:xfrm>
              <a:prstGeom prst="rect">
                <a:avLst/>
              </a:prstGeom>
              <a:blipFill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9C7C6CE1-57CA-5FC9-FEE7-5FD567DA1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9186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436" y="1313351"/>
            <a:ext cx="5194439" cy="3780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B0F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29221" y="1663555"/>
            <a:ext cx="1695450" cy="1609725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3" name="Szövegdoboz 2"/>
          <p:cNvSpPr txBox="1"/>
          <p:nvPr/>
        </p:nvSpPr>
        <p:spPr>
          <a:xfrm>
            <a:off x="5315529" y="5129793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latin typeface="Book Antiqua" panose="02040602050305030304" pitchFamily="18" charset="0"/>
              </a:rPr>
              <a:t>hydrocarbon</a:t>
            </a:r>
            <a:endParaRPr lang="en-GB" b="1" dirty="0">
              <a:latin typeface="Book Antiqua" panose="02040602050305030304" pitchFamily="18" charset="0"/>
            </a:endParaRPr>
          </a:p>
        </p:txBody>
      </p:sp>
      <p:cxnSp>
        <p:nvCxnSpPr>
          <p:cNvPr id="7" name="Egyenes összekötő 6"/>
          <p:cNvCxnSpPr/>
          <p:nvPr/>
        </p:nvCxnSpPr>
        <p:spPr>
          <a:xfrm>
            <a:off x="5966692" y="4984885"/>
            <a:ext cx="9235" cy="1846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/>
          <p:cNvCxnSpPr/>
          <p:nvPr/>
        </p:nvCxnSpPr>
        <p:spPr>
          <a:xfrm>
            <a:off x="6081123" y="4984885"/>
            <a:ext cx="9235" cy="1846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4"/>
          <p:cNvSpPr txBox="1"/>
          <p:nvPr/>
        </p:nvSpPr>
        <p:spPr>
          <a:xfrm>
            <a:off x="8005837" y="4529629"/>
            <a:ext cx="38885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 err="1">
                <a:latin typeface="Book Antiqua" panose="02040602050305030304" pitchFamily="18" charset="0"/>
              </a:rPr>
              <a:t>Could</a:t>
            </a:r>
            <a:r>
              <a:rPr lang="hu-HU" sz="1600" dirty="0">
                <a:latin typeface="Book Antiqua" panose="02040602050305030304" pitchFamily="18" charset="0"/>
              </a:rPr>
              <a:t> be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result</a:t>
            </a:r>
            <a:r>
              <a:rPr lang="hu-HU" sz="1600" dirty="0">
                <a:latin typeface="Book Antiqua" panose="02040602050305030304" pitchFamily="18" charset="0"/>
              </a:rPr>
              <a:t> of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Compton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scattering</a:t>
            </a:r>
            <a:r>
              <a:rPr lang="hu-HU" sz="1600" dirty="0">
                <a:latin typeface="Book Antiqua" panose="02040602050305030304" pitchFamily="18" charset="0"/>
              </a:rPr>
              <a:t> of </a:t>
            </a:r>
            <a:r>
              <a:rPr lang="hu-HU" sz="1600" dirty="0" err="1">
                <a:latin typeface="Book Antiqua" panose="02040602050305030304" pitchFamily="18" charset="0"/>
              </a:rPr>
              <a:t>high-energy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photons</a:t>
            </a:r>
            <a:r>
              <a:rPr lang="hu-HU" sz="1600" dirty="0">
                <a:latin typeface="Book Antiqua" panose="02040602050305030304" pitchFamily="18" charset="0"/>
              </a:rPr>
              <a:t>? </a:t>
            </a:r>
            <a:r>
              <a:rPr lang="hu-HU" sz="1600" dirty="0" err="1">
                <a:latin typeface="Book Antiqua" panose="02040602050305030304" pitchFamily="18" charset="0"/>
              </a:rPr>
              <a:t>How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high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energy</a:t>
            </a:r>
            <a:r>
              <a:rPr lang="hu-HU" sz="1600" dirty="0">
                <a:latin typeface="Book Antiqua" panose="02040602050305030304" pitchFamily="18" charset="0"/>
              </a:rPr>
              <a:t>? </a:t>
            </a:r>
            <a:r>
              <a:rPr lang="hu-HU" sz="1600" dirty="0" err="1">
                <a:latin typeface="Book Antiqua" panose="02040602050305030304" pitchFamily="18" charset="0"/>
              </a:rPr>
              <a:t>Around</a:t>
            </a:r>
            <a:r>
              <a:rPr lang="hu-HU" sz="1600" dirty="0">
                <a:latin typeface="Book Antiqua" panose="02040602050305030304" pitchFamily="18" charset="0"/>
              </a:rPr>
              <a:t> 50 </a:t>
            </a:r>
            <a:r>
              <a:rPr lang="hu-HU" sz="1600" dirty="0" err="1">
                <a:latin typeface="Book Antiqua" panose="02040602050305030304" pitchFamily="18" charset="0"/>
              </a:rPr>
              <a:t>MeV</a:t>
            </a:r>
            <a:r>
              <a:rPr lang="hu-HU" sz="1600" dirty="0">
                <a:latin typeface="Book Antiqua" panose="02040602050305030304" pitchFamily="18" charset="0"/>
              </a:rPr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Chadwick</a:t>
            </a:r>
            <a:r>
              <a:rPr lang="hu-HU" sz="1600" b="1" dirty="0">
                <a:solidFill>
                  <a:srgbClr val="00B0F0"/>
                </a:solidFill>
                <a:latin typeface="Book Antiqua" panose="02040602050305030304" pitchFamily="18" charset="0"/>
              </a:rPr>
              <a:t>: a neutron  </a:t>
            </a:r>
            <a:r>
              <a:rPr lang="hu-HU" sz="1600" b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with</a:t>
            </a:r>
            <a:r>
              <a:rPr lang="hu-HU" sz="1600" b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mass</a:t>
            </a:r>
            <a:r>
              <a:rPr lang="hu-HU" sz="1600" b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close</a:t>
            </a:r>
            <a:r>
              <a:rPr lang="hu-HU" sz="1600" b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to</a:t>
            </a:r>
            <a:r>
              <a:rPr lang="hu-HU" sz="1600" b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the</a:t>
            </a:r>
            <a:r>
              <a:rPr lang="hu-HU" sz="1600" b="1" dirty="0">
                <a:solidFill>
                  <a:srgbClr val="00B0F0"/>
                </a:solidFill>
                <a:latin typeface="Book Antiqua" panose="02040602050305030304" pitchFamily="18" charset="0"/>
              </a:rPr>
              <a:t> proton </a:t>
            </a:r>
            <a:r>
              <a:rPr lang="hu-HU" sz="1600" b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mass</a:t>
            </a:r>
            <a:r>
              <a:rPr lang="hu-HU" sz="1600" b="1" dirty="0">
                <a:solidFill>
                  <a:srgbClr val="00B0F0"/>
                </a:solidFill>
                <a:latin typeface="Book Antiqua" panose="02040602050305030304" pitchFamily="18" charset="0"/>
              </a:rPr>
              <a:t> (1932)</a:t>
            </a:r>
            <a:endParaRPr lang="en-GB" sz="1600" b="1" dirty="0">
              <a:solidFill>
                <a:srgbClr val="00B0F0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CF497E6-0B48-9B66-71E0-4E35303B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6268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436" y="1313351"/>
            <a:ext cx="5194439" cy="3780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B0F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29221" y="1663555"/>
            <a:ext cx="1695450" cy="1609725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/>
              <p:cNvSpPr txBox="1"/>
              <p:nvPr/>
            </p:nvSpPr>
            <p:spPr>
              <a:xfrm>
                <a:off x="9231311" y="3003841"/>
                <a:ext cx="2124684" cy="374911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𝐵𝑒</m:t>
                          </m:r>
                        </m:e>
                      </m:sPre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Pre>
                        <m:sPre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sPre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Szövegdoboz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311" y="3003841"/>
                <a:ext cx="2124684" cy="3749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zövegdoboz 2"/>
          <p:cNvSpPr txBox="1"/>
          <p:nvPr/>
        </p:nvSpPr>
        <p:spPr>
          <a:xfrm>
            <a:off x="5315529" y="5129793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latin typeface="Book Antiqua" panose="02040602050305030304" pitchFamily="18" charset="0"/>
              </a:rPr>
              <a:t>hydrocarbon</a:t>
            </a:r>
            <a:endParaRPr lang="en-GB" b="1" dirty="0">
              <a:latin typeface="Book Antiqua" panose="02040602050305030304" pitchFamily="18" charset="0"/>
            </a:endParaRPr>
          </a:p>
        </p:txBody>
      </p:sp>
      <p:cxnSp>
        <p:nvCxnSpPr>
          <p:cNvPr id="7" name="Egyenes összekötő 6"/>
          <p:cNvCxnSpPr/>
          <p:nvPr/>
        </p:nvCxnSpPr>
        <p:spPr>
          <a:xfrm>
            <a:off x="5966692" y="4984885"/>
            <a:ext cx="9235" cy="1846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/>
          <p:cNvCxnSpPr/>
          <p:nvPr/>
        </p:nvCxnSpPr>
        <p:spPr>
          <a:xfrm>
            <a:off x="6081123" y="4984885"/>
            <a:ext cx="9235" cy="1846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nyíllal 7"/>
          <p:cNvCxnSpPr/>
          <p:nvPr/>
        </p:nvCxnSpPr>
        <p:spPr>
          <a:xfrm flipV="1">
            <a:off x="10566399" y="3273280"/>
            <a:ext cx="572655" cy="1185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9"/>
          <p:cNvSpPr txBox="1"/>
          <p:nvPr/>
        </p:nvSpPr>
        <p:spPr>
          <a:xfrm>
            <a:off x="10096014" y="436646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neutron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zövegdoboz 12">
                <a:extLst>
                  <a:ext uri="{FF2B5EF4-FFF2-40B4-BE49-F238E27FC236}">
                    <a16:creationId xmlns:a16="http://schemas.microsoft.com/office/drawing/2014/main" id="{CE3E50F1-8E6F-F3F9-EF30-01D1C8A0F3EF}"/>
                  </a:ext>
                </a:extLst>
              </p:cNvPr>
              <p:cNvSpPr txBox="1"/>
              <p:nvPr/>
            </p:nvSpPr>
            <p:spPr>
              <a:xfrm>
                <a:off x="9087655" y="4844379"/>
                <a:ext cx="2651437" cy="646331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M=939,565413 ±0,000006 </a:t>
                </a:r>
                <a:r>
                  <a:rPr kumimoji="0" lang="hu-HU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MeV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/c</a:t>
                </a:r>
                <a:r>
                  <a:rPr kumimoji="0" lang="hu-HU" sz="12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2</a:t>
                </a:r>
                <a:endParaRPr kumimoji="0" lang="hu-H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q = 0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hu-HU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lifetime</a:t>
                </a:r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hu-HU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𝜏</m:t>
                    </m:r>
                  </m:oMath>
                </a14:m>
                <a:r>
                  <a:rPr kumimoji="0" lang="hu-H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= 880,2 ±1 s</a:t>
                </a:r>
              </a:p>
            </p:txBody>
          </p:sp>
        </mc:Choice>
        <mc:Fallback xmlns="">
          <p:sp>
            <p:nvSpPr>
              <p:cNvPr id="13" name="Szövegdoboz 12">
                <a:extLst>
                  <a:ext uri="{FF2B5EF4-FFF2-40B4-BE49-F238E27FC236}">
                    <a16:creationId xmlns:a16="http://schemas.microsoft.com/office/drawing/2014/main" id="{CE3E50F1-8E6F-F3F9-EF30-01D1C8A0F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7655" y="4844379"/>
                <a:ext cx="2651437" cy="646331"/>
              </a:xfrm>
              <a:prstGeom prst="rect">
                <a:avLst/>
              </a:prstGeom>
              <a:blipFill>
                <a:blip r:embed="rId5"/>
                <a:stretch>
                  <a:fillRect b="-4587"/>
                </a:stretch>
              </a:blipFill>
              <a:ln w="190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9257B982-A505-EB76-7625-7265FC56BB40}"/>
              </a:ext>
            </a:extLst>
          </p:cNvPr>
          <p:cNvCxnSpPr>
            <a:cxnSpLocks/>
          </p:cNvCxnSpPr>
          <p:nvPr/>
        </p:nvCxnSpPr>
        <p:spPr>
          <a:xfrm flipH="1" flipV="1">
            <a:off x="10070090" y="2626058"/>
            <a:ext cx="25924" cy="454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7A453536-6768-B0A4-27A8-18CB8CC41E00}"/>
              </a:ext>
            </a:extLst>
          </p:cNvPr>
          <p:cNvSpPr txBox="1"/>
          <p:nvPr/>
        </p:nvSpPr>
        <p:spPr>
          <a:xfrm>
            <a:off x="9247458" y="2264163"/>
            <a:ext cx="1920719" cy="33855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hu-HU" sz="1600" dirty="0">
                <a:latin typeface="Book Antiqua" panose="02040602050305030304" pitchFamily="18" charset="0"/>
              </a:rPr>
              <a:t>2p + 2n    A=4, Z=2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B2C6532-1E67-9332-22D9-E3627487B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6338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latin typeface="Book Antiqua" panose="02040602050305030304" pitchFamily="18" charset="0"/>
              </a:rPr>
              <a:t>Constituents</a:t>
            </a:r>
            <a:r>
              <a:rPr lang="hu-HU" b="1" dirty="0"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atomic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nucleus</a:t>
            </a:r>
            <a:endParaRPr lang="en-GB" b="1" dirty="0">
              <a:latin typeface="Book Antiqua" panose="02040602050305030304" pitchFamily="18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6A55DDE-6F2A-F487-FDC5-EB6C2553306D}"/>
              </a:ext>
            </a:extLst>
          </p:cNvPr>
          <p:cNvSpPr txBox="1"/>
          <p:nvPr/>
        </p:nvSpPr>
        <p:spPr>
          <a:xfrm>
            <a:off x="946853" y="20405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2D50EC37-9B07-8F0B-19EC-020EF53239B2}"/>
              </a:ext>
            </a:extLst>
          </p:cNvPr>
          <p:cNvSpPr txBox="1"/>
          <p:nvPr/>
        </p:nvSpPr>
        <p:spPr>
          <a:xfrm>
            <a:off x="946853" y="3146029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Atomic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endParaRPr lang="en-US" dirty="0">
              <a:latin typeface="Book Antiqua" panose="02040602050305030304" pitchFamily="18" charset="0"/>
            </a:endParaRPr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D60423A1-A267-66BC-34C8-F0EE42631126}"/>
              </a:ext>
            </a:extLst>
          </p:cNvPr>
          <p:cNvCxnSpPr>
            <a:cxnSpLocks/>
          </p:cNvCxnSpPr>
          <p:nvPr/>
        </p:nvCxnSpPr>
        <p:spPr>
          <a:xfrm>
            <a:off x="2413835" y="2245780"/>
            <a:ext cx="632339" cy="34359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657DA467-F21F-5CF3-A6A5-6FCE6CD2B5C0}"/>
              </a:ext>
            </a:extLst>
          </p:cNvPr>
          <p:cNvCxnSpPr>
            <a:cxnSpLocks/>
          </p:cNvCxnSpPr>
          <p:nvPr/>
        </p:nvCxnSpPr>
        <p:spPr>
          <a:xfrm flipV="1">
            <a:off x="2394725" y="2875039"/>
            <a:ext cx="670560" cy="39707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Csoportba foglalás 21">
            <a:extLst>
              <a:ext uri="{FF2B5EF4-FFF2-40B4-BE49-F238E27FC236}">
                <a16:creationId xmlns:a16="http://schemas.microsoft.com/office/drawing/2014/main" id="{55CAE46F-D1E9-6953-30B6-79A49BD28603}"/>
              </a:ext>
            </a:extLst>
          </p:cNvPr>
          <p:cNvGrpSpPr/>
          <p:nvPr/>
        </p:nvGrpSpPr>
        <p:grpSpPr>
          <a:xfrm>
            <a:off x="2939819" y="1826814"/>
            <a:ext cx="6838346" cy="1029840"/>
            <a:chOff x="866747" y="176204"/>
            <a:chExt cx="6838346" cy="1029840"/>
          </a:xfrm>
        </p:grpSpPr>
        <p:grpSp>
          <p:nvGrpSpPr>
            <p:cNvPr id="23" name="Csoportba foglalás 22">
              <a:extLst>
                <a:ext uri="{FF2B5EF4-FFF2-40B4-BE49-F238E27FC236}">
                  <a16:creationId xmlns:a16="http://schemas.microsoft.com/office/drawing/2014/main" id="{14C995C4-F8B3-F859-793E-31C7B3F9818E}"/>
                </a:ext>
              </a:extLst>
            </p:cNvPr>
            <p:cNvGrpSpPr/>
            <p:nvPr/>
          </p:nvGrpSpPr>
          <p:grpSpPr>
            <a:xfrm>
              <a:off x="1371308" y="176204"/>
              <a:ext cx="6333785" cy="1013568"/>
              <a:chOff x="1371308" y="176204"/>
              <a:chExt cx="6333785" cy="1013568"/>
            </a:xfrm>
          </p:grpSpPr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24FB6B64-0D0C-943D-659B-A1582F0C8479}"/>
                  </a:ext>
                </a:extLst>
              </p:cNvPr>
              <p:cNvSpPr txBox="1"/>
              <p:nvPr/>
            </p:nvSpPr>
            <p:spPr>
              <a:xfrm>
                <a:off x="3395779" y="176204"/>
                <a:ext cx="14382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sz="2800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A=N+Z</a:t>
                </a:r>
                <a:endParaRPr lang="en-US" sz="2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endParaRPr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017D80A8-29DB-936B-F29B-CEC73221FB34}"/>
                  </a:ext>
                </a:extLst>
              </p:cNvPr>
              <p:cNvSpPr txBox="1"/>
              <p:nvPr/>
            </p:nvSpPr>
            <p:spPr>
              <a:xfrm>
                <a:off x="1371308" y="820440"/>
                <a:ext cx="63337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dirty="0" err="1">
                    <a:latin typeface="Book Antiqua" panose="02040602050305030304" pitchFamily="18" charset="0"/>
                  </a:rPr>
                  <a:t>nucleus</a:t>
                </a:r>
                <a:r>
                  <a:rPr lang="hu-HU" dirty="0">
                    <a:latin typeface="Book Antiqua" panose="02040602050305030304" pitchFamily="18" charset="0"/>
                  </a:rPr>
                  <a:t> (A,Z) = </a:t>
                </a:r>
                <a:r>
                  <a:rPr lang="hu-HU" b="1" dirty="0" err="1">
                    <a:solidFill>
                      <a:schemeClr val="accent2"/>
                    </a:solidFill>
                    <a:latin typeface="Book Antiqua" panose="02040602050305030304" pitchFamily="18" charset="0"/>
                  </a:rPr>
                  <a:t>bound</a:t>
                </a:r>
                <a:r>
                  <a:rPr lang="hu-HU" b="1" dirty="0">
                    <a:solidFill>
                      <a:schemeClr val="accent2"/>
                    </a:solidFill>
                    <a:latin typeface="Book Antiqua" panose="02040602050305030304" pitchFamily="18" charset="0"/>
                  </a:rPr>
                  <a:t> </a:t>
                </a:r>
                <a:r>
                  <a:rPr lang="hu-HU" b="1" dirty="0" err="1">
                    <a:solidFill>
                      <a:schemeClr val="accent2"/>
                    </a:solidFill>
                    <a:latin typeface="Book Antiqua" panose="02040602050305030304" pitchFamily="18" charset="0"/>
                  </a:rPr>
                  <a:t>state</a:t>
                </a:r>
                <a:r>
                  <a:rPr lang="hu-HU" b="1" dirty="0">
                    <a:solidFill>
                      <a:schemeClr val="accent2"/>
                    </a:solidFill>
                    <a:latin typeface="Book Antiqua" panose="02040602050305030304" pitchFamily="18" charset="0"/>
                  </a:rPr>
                  <a:t> </a:t>
                </a:r>
                <a:r>
                  <a:rPr lang="hu-HU" dirty="0">
                    <a:latin typeface="Book Antiqua" panose="02040602050305030304" pitchFamily="18" charset="0"/>
                  </a:rPr>
                  <a:t>of </a:t>
                </a:r>
                <a:r>
                  <a:rPr lang="hu-HU" dirty="0" err="1">
                    <a:latin typeface="Book Antiqua" panose="02040602050305030304" pitchFamily="18" charset="0"/>
                  </a:rPr>
                  <a:t>protons</a:t>
                </a:r>
                <a:r>
                  <a:rPr lang="hu-HU" dirty="0">
                    <a:latin typeface="Book Antiqua" panose="02040602050305030304" pitchFamily="18" charset="0"/>
                  </a:rPr>
                  <a:t> (Z) and </a:t>
                </a:r>
                <a:r>
                  <a:rPr lang="hu-HU" dirty="0" err="1">
                    <a:latin typeface="Book Antiqua" panose="02040602050305030304" pitchFamily="18" charset="0"/>
                  </a:rPr>
                  <a:t>neutrons</a:t>
                </a:r>
                <a:r>
                  <a:rPr lang="hu-HU" dirty="0">
                    <a:latin typeface="Book Antiqua" panose="02040602050305030304" pitchFamily="18" charset="0"/>
                  </a:rPr>
                  <a:t> (N)</a:t>
                </a:r>
                <a:endParaRPr lang="en-US" dirty="0">
                  <a:latin typeface="Book Antiqua" panose="0204060205030503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Szövegdoboz 23">
                  <a:extLst>
                    <a:ext uri="{FF2B5EF4-FFF2-40B4-BE49-F238E27FC236}">
                      <a16:creationId xmlns:a16="http://schemas.microsoft.com/office/drawing/2014/main" id="{E4412CC0-3A1C-D15E-8148-43E3DB20C96F}"/>
                    </a:ext>
                  </a:extLst>
                </p:cNvPr>
                <p:cNvSpPr txBox="1"/>
                <p:nvPr/>
              </p:nvSpPr>
              <p:spPr>
                <a:xfrm>
                  <a:off x="866747" y="831326"/>
                  <a:ext cx="587853" cy="3747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</m:e>
                        </m:sPre>
                      </m:oMath>
                    </m:oMathPara>
                  </a14:m>
                  <a:endParaRPr lang="en-US" dirty="0">
                    <a:latin typeface="Book Antiqua" panose="02040602050305030304" pitchFamily="18" charset="0"/>
                  </a:endParaRPr>
                </a:p>
              </p:txBody>
            </p:sp>
          </mc:Choice>
          <mc:Fallback xmlns="">
            <p:sp>
              <p:nvSpPr>
                <p:cNvPr id="18" name="Szövegdoboz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747" y="831326"/>
                  <a:ext cx="587853" cy="374718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6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" name="Egyenes összekötő nyíllal 3"/>
          <p:cNvCxnSpPr/>
          <p:nvPr/>
        </p:nvCxnSpPr>
        <p:spPr>
          <a:xfrm flipH="1">
            <a:off x="5920509" y="2875039"/>
            <a:ext cx="1256146" cy="717906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/>
          <p:cNvCxnSpPr/>
          <p:nvPr/>
        </p:nvCxnSpPr>
        <p:spPr>
          <a:xfrm flipH="1">
            <a:off x="5920509" y="2875039"/>
            <a:ext cx="2895601" cy="717906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Kép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872" y="3798021"/>
            <a:ext cx="4159273" cy="684000"/>
          </a:xfrm>
          <a:prstGeom prst="rect">
            <a:avLst/>
          </a:prstGeom>
        </p:spPr>
      </p:pic>
      <p:sp>
        <p:nvSpPr>
          <p:cNvPr id="14" name="Ellipszis 13"/>
          <p:cNvSpPr/>
          <p:nvPr/>
        </p:nvSpPr>
        <p:spPr>
          <a:xfrm>
            <a:off x="7472218" y="3592945"/>
            <a:ext cx="415637" cy="1034473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zövegdoboz 15"/>
          <p:cNvSpPr txBox="1"/>
          <p:nvPr/>
        </p:nvSpPr>
        <p:spPr>
          <a:xfrm>
            <a:off x="8000145" y="3916218"/>
            <a:ext cx="2510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latin typeface="Book Antiqua" panose="02040602050305030304" pitchFamily="18" charset="0"/>
              </a:rPr>
              <a:t>atomic</a:t>
            </a:r>
            <a:r>
              <a:rPr lang="hu-HU" b="1" dirty="0">
                <a:latin typeface="Book Antiqua" panose="02040602050305030304" pitchFamily="18" charset="0"/>
              </a:rPr>
              <a:t> unit: m(</a:t>
            </a:r>
            <a:r>
              <a:rPr lang="hu-HU" b="1" baseline="30000" dirty="0">
                <a:latin typeface="Book Antiqua" panose="02040602050305030304" pitchFamily="18" charset="0"/>
              </a:rPr>
              <a:t>12</a:t>
            </a:r>
            <a:r>
              <a:rPr lang="hu-HU" b="1" dirty="0">
                <a:latin typeface="Book Antiqua" panose="02040602050305030304" pitchFamily="18" charset="0"/>
              </a:rPr>
              <a:t>C)/12</a:t>
            </a:r>
          </a:p>
          <a:p>
            <a:r>
              <a:rPr lang="hu-HU" dirty="0">
                <a:latin typeface="Book Antiqua" panose="02040602050305030304" pitchFamily="18" charset="0"/>
              </a:rPr>
              <a:t>		</a:t>
            </a:r>
            <a:r>
              <a:rPr lang="hu-HU" sz="1200" dirty="0" err="1">
                <a:latin typeface="Book Antiqua" panose="02040602050305030304" pitchFamily="18" charset="0"/>
              </a:rPr>
              <a:t>atomic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mass</a:t>
            </a:r>
            <a:endParaRPr lang="en-GB" sz="1200" dirty="0">
              <a:latin typeface="Book Antiqua" panose="02040602050305030304" pitchFamily="18" charset="0"/>
            </a:endParaRPr>
          </a:p>
        </p:txBody>
      </p:sp>
      <p:pic>
        <p:nvPicPr>
          <p:cNvPr id="19" name="Kép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5564" y="4507820"/>
            <a:ext cx="2556000" cy="688160"/>
          </a:xfrm>
          <a:prstGeom prst="rect">
            <a:avLst/>
          </a:prstGeom>
        </p:spPr>
      </p:pic>
      <p:pic>
        <p:nvPicPr>
          <p:cNvPr id="21" name="Kép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454" y="4550584"/>
            <a:ext cx="5826026" cy="1728000"/>
          </a:xfrm>
          <a:prstGeom prst="rect">
            <a:avLst/>
          </a:prstGeom>
        </p:spPr>
      </p:pic>
      <p:sp>
        <p:nvSpPr>
          <p:cNvPr id="28" name="Téglalap 27"/>
          <p:cNvSpPr/>
          <p:nvPr/>
        </p:nvSpPr>
        <p:spPr>
          <a:xfrm>
            <a:off x="8000145" y="3798021"/>
            <a:ext cx="2714037" cy="149441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6D832A30-9A37-E2DD-82BF-0D945C9F6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8876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latin typeface="Book Antiqua" panose="02040602050305030304" pitchFamily="18" charset="0"/>
              </a:rPr>
              <a:t>Constituents</a:t>
            </a:r>
            <a:r>
              <a:rPr lang="hu-HU" b="1" dirty="0"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atomic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nucleus</a:t>
            </a:r>
            <a:endParaRPr lang="en-GB" b="1" dirty="0">
              <a:latin typeface="Book Antiqua" panose="02040602050305030304" pitchFamily="18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6A55DDE-6F2A-F487-FDC5-EB6C2553306D}"/>
              </a:ext>
            </a:extLst>
          </p:cNvPr>
          <p:cNvSpPr txBox="1"/>
          <p:nvPr/>
        </p:nvSpPr>
        <p:spPr>
          <a:xfrm>
            <a:off x="946853" y="20405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2D50EC37-9B07-8F0B-19EC-020EF53239B2}"/>
              </a:ext>
            </a:extLst>
          </p:cNvPr>
          <p:cNvSpPr txBox="1"/>
          <p:nvPr/>
        </p:nvSpPr>
        <p:spPr>
          <a:xfrm>
            <a:off x="946853" y="3146029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Atomic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endParaRPr lang="en-US" dirty="0">
              <a:latin typeface="Book Antiqua" panose="02040602050305030304" pitchFamily="18" charset="0"/>
            </a:endParaRPr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D60423A1-A267-66BC-34C8-F0EE42631126}"/>
              </a:ext>
            </a:extLst>
          </p:cNvPr>
          <p:cNvCxnSpPr>
            <a:cxnSpLocks/>
          </p:cNvCxnSpPr>
          <p:nvPr/>
        </p:nvCxnSpPr>
        <p:spPr>
          <a:xfrm>
            <a:off x="2413835" y="2245780"/>
            <a:ext cx="632339" cy="34359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657DA467-F21F-5CF3-A6A5-6FCE6CD2B5C0}"/>
              </a:ext>
            </a:extLst>
          </p:cNvPr>
          <p:cNvCxnSpPr>
            <a:cxnSpLocks/>
          </p:cNvCxnSpPr>
          <p:nvPr/>
        </p:nvCxnSpPr>
        <p:spPr>
          <a:xfrm flipV="1">
            <a:off x="2394725" y="2875039"/>
            <a:ext cx="670560" cy="39707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Csoportba foglalás 21">
            <a:extLst>
              <a:ext uri="{FF2B5EF4-FFF2-40B4-BE49-F238E27FC236}">
                <a16:creationId xmlns:a16="http://schemas.microsoft.com/office/drawing/2014/main" id="{55CAE46F-D1E9-6953-30B6-79A49BD28603}"/>
              </a:ext>
            </a:extLst>
          </p:cNvPr>
          <p:cNvGrpSpPr/>
          <p:nvPr/>
        </p:nvGrpSpPr>
        <p:grpSpPr>
          <a:xfrm>
            <a:off x="2939819" y="1826814"/>
            <a:ext cx="6838346" cy="1029840"/>
            <a:chOff x="866747" y="176204"/>
            <a:chExt cx="6838346" cy="1029840"/>
          </a:xfrm>
        </p:grpSpPr>
        <p:grpSp>
          <p:nvGrpSpPr>
            <p:cNvPr id="23" name="Csoportba foglalás 22">
              <a:extLst>
                <a:ext uri="{FF2B5EF4-FFF2-40B4-BE49-F238E27FC236}">
                  <a16:creationId xmlns:a16="http://schemas.microsoft.com/office/drawing/2014/main" id="{14C995C4-F8B3-F859-793E-31C7B3F9818E}"/>
                </a:ext>
              </a:extLst>
            </p:cNvPr>
            <p:cNvGrpSpPr/>
            <p:nvPr/>
          </p:nvGrpSpPr>
          <p:grpSpPr>
            <a:xfrm>
              <a:off x="1371308" y="176204"/>
              <a:ext cx="6333785" cy="1013568"/>
              <a:chOff x="1371308" y="176204"/>
              <a:chExt cx="6333785" cy="1013568"/>
            </a:xfrm>
          </p:grpSpPr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24FB6B64-0D0C-943D-659B-A1582F0C8479}"/>
                  </a:ext>
                </a:extLst>
              </p:cNvPr>
              <p:cNvSpPr txBox="1"/>
              <p:nvPr/>
            </p:nvSpPr>
            <p:spPr>
              <a:xfrm>
                <a:off x="3395779" y="176204"/>
                <a:ext cx="14382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sz="2800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A=N+Z</a:t>
                </a:r>
                <a:endParaRPr lang="en-US" sz="2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endParaRPr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017D80A8-29DB-936B-F29B-CEC73221FB34}"/>
                  </a:ext>
                </a:extLst>
              </p:cNvPr>
              <p:cNvSpPr txBox="1"/>
              <p:nvPr/>
            </p:nvSpPr>
            <p:spPr>
              <a:xfrm>
                <a:off x="1371308" y="820440"/>
                <a:ext cx="63337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dirty="0" err="1">
                    <a:latin typeface="Book Antiqua" panose="02040602050305030304" pitchFamily="18" charset="0"/>
                  </a:rPr>
                  <a:t>nucleus</a:t>
                </a:r>
                <a:r>
                  <a:rPr lang="hu-HU" dirty="0">
                    <a:latin typeface="Book Antiqua" panose="02040602050305030304" pitchFamily="18" charset="0"/>
                  </a:rPr>
                  <a:t> (A,Z) = </a:t>
                </a:r>
                <a:r>
                  <a:rPr lang="hu-HU" b="1" dirty="0" err="1">
                    <a:solidFill>
                      <a:schemeClr val="accent2"/>
                    </a:solidFill>
                    <a:latin typeface="Book Antiqua" panose="02040602050305030304" pitchFamily="18" charset="0"/>
                  </a:rPr>
                  <a:t>bound</a:t>
                </a:r>
                <a:r>
                  <a:rPr lang="hu-HU" b="1" dirty="0">
                    <a:solidFill>
                      <a:schemeClr val="accent2"/>
                    </a:solidFill>
                    <a:latin typeface="Book Antiqua" panose="02040602050305030304" pitchFamily="18" charset="0"/>
                  </a:rPr>
                  <a:t> </a:t>
                </a:r>
                <a:r>
                  <a:rPr lang="hu-HU" b="1" dirty="0" err="1">
                    <a:solidFill>
                      <a:schemeClr val="accent2"/>
                    </a:solidFill>
                    <a:latin typeface="Book Antiqua" panose="02040602050305030304" pitchFamily="18" charset="0"/>
                  </a:rPr>
                  <a:t>state</a:t>
                </a:r>
                <a:r>
                  <a:rPr lang="hu-HU" b="1" dirty="0">
                    <a:solidFill>
                      <a:schemeClr val="accent2"/>
                    </a:solidFill>
                    <a:latin typeface="Book Antiqua" panose="02040602050305030304" pitchFamily="18" charset="0"/>
                  </a:rPr>
                  <a:t> </a:t>
                </a:r>
                <a:r>
                  <a:rPr lang="hu-HU" dirty="0">
                    <a:latin typeface="Book Antiqua" panose="02040602050305030304" pitchFamily="18" charset="0"/>
                  </a:rPr>
                  <a:t>of </a:t>
                </a:r>
                <a:r>
                  <a:rPr lang="hu-HU" dirty="0" err="1">
                    <a:latin typeface="Book Antiqua" panose="02040602050305030304" pitchFamily="18" charset="0"/>
                  </a:rPr>
                  <a:t>protons</a:t>
                </a:r>
                <a:r>
                  <a:rPr lang="hu-HU" dirty="0">
                    <a:latin typeface="Book Antiqua" panose="02040602050305030304" pitchFamily="18" charset="0"/>
                  </a:rPr>
                  <a:t> (Z) and </a:t>
                </a:r>
                <a:r>
                  <a:rPr lang="hu-HU" dirty="0" err="1">
                    <a:latin typeface="Book Antiqua" panose="02040602050305030304" pitchFamily="18" charset="0"/>
                  </a:rPr>
                  <a:t>neutrons</a:t>
                </a:r>
                <a:r>
                  <a:rPr lang="hu-HU" dirty="0">
                    <a:latin typeface="Book Antiqua" panose="02040602050305030304" pitchFamily="18" charset="0"/>
                  </a:rPr>
                  <a:t> (N)</a:t>
                </a:r>
                <a:endParaRPr lang="en-US" dirty="0">
                  <a:latin typeface="Book Antiqua" panose="0204060205030503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Szövegdoboz 23">
                  <a:extLst>
                    <a:ext uri="{FF2B5EF4-FFF2-40B4-BE49-F238E27FC236}">
                      <a16:creationId xmlns:a16="http://schemas.microsoft.com/office/drawing/2014/main" id="{E4412CC0-3A1C-D15E-8148-43E3DB20C96F}"/>
                    </a:ext>
                  </a:extLst>
                </p:cNvPr>
                <p:cNvSpPr txBox="1"/>
                <p:nvPr/>
              </p:nvSpPr>
              <p:spPr>
                <a:xfrm>
                  <a:off x="866747" y="831326"/>
                  <a:ext cx="587853" cy="3747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</m:e>
                        </m:sPre>
                      </m:oMath>
                    </m:oMathPara>
                  </a14:m>
                  <a:endParaRPr lang="en-US" dirty="0">
                    <a:latin typeface="Book Antiqua" panose="02040602050305030304" pitchFamily="18" charset="0"/>
                  </a:endParaRPr>
                </a:p>
              </p:txBody>
            </p:sp>
          </mc:Choice>
          <mc:Fallback xmlns="">
            <p:sp>
              <p:nvSpPr>
                <p:cNvPr id="18" name="Szövegdoboz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747" y="831326"/>
                  <a:ext cx="587853" cy="374718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6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" name="Egyenes összekötő nyíllal 3"/>
          <p:cNvCxnSpPr/>
          <p:nvPr/>
        </p:nvCxnSpPr>
        <p:spPr>
          <a:xfrm flipH="1">
            <a:off x="5920509" y="2875039"/>
            <a:ext cx="1256146" cy="717906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/>
          <p:cNvCxnSpPr/>
          <p:nvPr/>
        </p:nvCxnSpPr>
        <p:spPr>
          <a:xfrm flipH="1">
            <a:off x="5920509" y="2875039"/>
            <a:ext cx="2895601" cy="717906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Kép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872" y="3798021"/>
            <a:ext cx="4159273" cy="684000"/>
          </a:xfrm>
          <a:prstGeom prst="rect">
            <a:avLst/>
          </a:prstGeom>
        </p:spPr>
      </p:pic>
      <p:sp>
        <p:nvSpPr>
          <p:cNvPr id="14" name="Ellipszis 13"/>
          <p:cNvSpPr/>
          <p:nvPr/>
        </p:nvSpPr>
        <p:spPr>
          <a:xfrm>
            <a:off x="7472218" y="3592945"/>
            <a:ext cx="415637" cy="1034473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zövegdoboz 15"/>
          <p:cNvSpPr txBox="1"/>
          <p:nvPr/>
        </p:nvSpPr>
        <p:spPr>
          <a:xfrm>
            <a:off x="8000145" y="3916218"/>
            <a:ext cx="2510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latin typeface="Book Antiqua" panose="02040602050305030304" pitchFamily="18" charset="0"/>
              </a:rPr>
              <a:t>atomic</a:t>
            </a:r>
            <a:r>
              <a:rPr lang="hu-HU" b="1" dirty="0">
                <a:latin typeface="Book Antiqua" panose="02040602050305030304" pitchFamily="18" charset="0"/>
              </a:rPr>
              <a:t> unit: m(</a:t>
            </a:r>
            <a:r>
              <a:rPr lang="hu-HU" b="1" baseline="30000" dirty="0">
                <a:latin typeface="Book Antiqua" panose="02040602050305030304" pitchFamily="18" charset="0"/>
              </a:rPr>
              <a:t>12</a:t>
            </a:r>
            <a:r>
              <a:rPr lang="hu-HU" b="1" dirty="0">
                <a:latin typeface="Book Antiqua" panose="02040602050305030304" pitchFamily="18" charset="0"/>
              </a:rPr>
              <a:t>C)/12</a:t>
            </a:r>
          </a:p>
          <a:p>
            <a:r>
              <a:rPr lang="hu-HU" dirty="0">
                <a:latin typeface="Book Antiqua" panose="02040602050305030304" pitchFamily="18" charset="0"/>
              </a:rPr>
              <a:t>		</a:t>
            </a:r>
            <a:r>
              <a:rPr lang="hu-HU" sz="1200" dirty="0" err="1">
                <a:latin typeface="Book Antiqua" panose="02040602050305030304" pitchFamily="18" charset="0"/>
              </a:rPr>
              <a:t>atomic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mass</a:t>
            </a:r>
            <a:endParaRPr lang="en-GB" sz="1200" dirty="0">
              <a:latin typeface="Book Antiqua" panose="02040602050305030304" pitchFamily="18" charset="0"/>
            </a:endParaRPr>
          </a:p>
        </p:txBody>
      </p:sp>
      <p:pic>
        <p:nvPicPr>
          <p:cNvPr id="19" name="Kép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5564" y="4507820"/>
            <a:ext cx="2556000" cy="688160"/>
          </a:xfrm>
          <a:prstGeom prst="rect">
            <a:avLst/>
          </a:prstGeom>
        </p:spPr>
      </p:pic>
      <p:sp>
        <p:nvSpPr>
          <p:cNvPr id="28" name="Téglalap 27"/>
          <p:cNvSpPr/>
          <p:nvPr/>
        </p:nvSpPr>
        <p:spPr>
          <a:xfrm>
            <a:off x="8000145" y="3798021"/>
            <a:ext cx="2714037" cy="149441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zövegdoboz 2"/>
          <p:cNvSpPr txBox="1"/>
          <p:nvPr/>
        </p:nvSpPr>
        <p:spPr>
          <a:xfrm>
            <a:off x="128930" y="5110137"/>
            <a:ext cx="4979248" cy="92333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rgbClr val="C00000"/>
                </a:solidFill>
                <a:latin typeface="Book Antiqua" panose="02040602050305030304" pitchFamily="18" charset="0"/>
              </a:rPr>
              <a:t>Isotopes</a:t>
            </a:r>
            <a:r>
              <a:rPr lang="hu-HU" b="1" dirty="0">
                <a:latin typeface="Book Antiqua" panose="02040602050305030304" pitchFamily="18" charset="0"/>
              </a:rPr>
              <a:t>: </a:t>
            </a:r>
            <a:r>
              <a:rPr lang="hu-HU" b="1" dirty="0" err="1">
                <a:latin typeface="Book Antiqua" panose="02040602050305030304" pitchFamily="18" charset="0"/>
              </a:rPr>
              <a:t>same</a:t>
            </a:r>
            <a:r>
              <a:rPr lang="hu-HU" b="1" dirty="0">
                <a:latin typeface="Book Antiqua" panose="02040602050305030304" pitchFamily="18" charset="0"/>
              </a:rPr>
              <a:t> Z, </a:t>
            </a:r>
            <a:r>
              <a:rPr lang="hu-HU" b="1" dirty="0" err="1">
                <a:latin typeface="Book Antiqua" panose="02040602050305030304" pitchFamily="18" charset="0"/>
              </a:rPr>
              <a:t>different</a:t>
            </a:r>
            <a:r>
              <a:rPr lang="hu-HU" b="1" dirty="0">
                <a:latin typeface="Book Antiqua" panose="02040602050305030304" pitchFamily="18" charset="0"/>
              </a:rPr>
              <a:t> A </a:t>
            </a:r>
            <a:r>
              <a:rPr lang="hu-HU" sz="1600" dirty="0">
                <a:latin typeface="Book Antiqua" panose="02040602050305030304" pitchFamily="18" charset="0"/>
              </a:rPr>
              <a:t>(</a:t>
            </a:r>
            <a:r>
              <a:rPr lang="hu-HU" sz="1600" dirty="0" err="1">
                <a:latin typeface="Book Antiqua" panose="02040602050305030304" pitchFamily="18" charset="0"/>
              </a:rPr>
              <a:t>one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element</a:t>
            </a:r>
            <a:r>
              <a:rPr lang="hu-HU" sz="1600" dirty="0">
                <a:latin typeface="Book Antiqua" panose="0204060205030503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Isobars</a:t>
            </a:r>
            <a:r>
              <a:rPr lang="hu-HU" b="1" dirty="0">
                <a:latin typeface="Book Antiqua" panose="02040602050305030304" pitchFamily="18" charset="0"/>
              </a:rPr>
              <a:t>: </a:t>
            </a:r>
            <a:r>
              <a:rPr lang="hu-HU" b="1" dirty="0" err="1">
                <a:latin typeface="Book Antiqua" panose="02040602050305030304" pitchFamily="18" charset="0"/>
              </a:rPr>
              <a:t>same</a:t>
            </a:r>
            <a:r>
              <a:rPr lang="hu-HU" b="1" dirty="0">
                <a:latin typeface="Book Antiqua" panose="02040602050305030304" pitchFamily="18" charset="0"/>
              </a:rPr>
              <a:t> A, </a:t>
            </a:r>
            <a:r>
              <a:rPr lang="hu-HU" b="1" dirty="0" err="1">
                <a:latin typeface="Book Antiqua" panose="02040602050305030304" pitchFamily="18" charset="0"/>
              </a:rPr>
              <a:t>different</a:t>
            </a:r>
            <a:r>
              <a:rPr lang="hu-HU" b="1" dirty="0">
                <a:latin typeface="Book Antiqua" panose="02040602050305030304" pitchFamily="18" charset="0"/>
              </a:rPr>
              <a:t> 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rgbClr val="00B050"/>
                </a:solidFill>
                <a:latin typeface="Book Antiqua" panose="02040602050305030304" pitchFamily="18" charset="0"/>
              </a:rPr>
              <a:t>Isotones</a:t>
            </a:r>
            <a:r>
              <a:rPr lang="hu-HU" b="1" dirty="0">
                <a:latin typeface="Book Antiqua" panose="02040602050305030304" pitchFamily="18" charset="0"/>
              </a:rPr>
              <a:t>: </a:t>
            </a:r>
            <a:r>
              <a:rPr lang="hu-HU" b="1" dirty="0" err="1">
                <a:latin typeface="Book Antiqua" panose="02040602050305030304" pitchFamily="18" charset="0"/>
              </a:rPr>
              <a:t>same</a:t>
            </a:r>
            <a:r>
              <a:rPr lang="hu-HU" b="1" dirty="0">
                <a:latin typeface="Book Antiqua" panose="02040602050305030304" pitchFamily="18" charset="0"/>
              </a:rPr>
              <a:t> N(=A-Z), </a:t>
            </a:r>
            <a:r>
              <a:rPr lang="hu-HU" b="1" dirty="0" err="1">
                <a:latin typeface="Book Antiqua" panose="02040602050305030304" pitchFamily="18" charset="0"/>
              </a:rPr>
              <a:t>different</a:t>
            </a:r>
            <a:r>
              <a:rPr lang="hu-HU" b="1" dirty="0">
                <a:latin typeface="Book Antiqua" panose="02040602050305030304" pitchFamily="18" charset="0"/>
              </a:rPr>
              <a:t> A and Z </a:t>
            </a:r>
            <a:endParaRPr lang="en-GB" b="1" dirty="0">
              <a:latin typeface="Book Antiqua" panose="02040602050305030304" pitchFamily="18" charset="0"/>
            </a:endParaRPr>
          </a:p>
        </p:txBody>
      </p:sp>
      <p:cxnSp>
        <p:nvCxnSpPr>
          <p:cNvPr id="6" name="Egyenes összekötő nyíllal 5"/>
          <p:cNvCxnSpPr/>
          <p:nvPr/>
        </p:nvCxnSpPr>
        <p:spPr>
          <a:xfrm flipH="1" flipV="1">
            <a:off x="5569420" y="4842664"/>
            <a:ext cx="1" cy="1238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nyíllal 26"/>
          <p:cNvCxnSpPr/>
          <p:nvPr/>
        </p:nvCxnSpPr>
        <p:spPr>
          <a:xfrm>
            <a:off x="5569420" y="6079486"/>
            <a:ext cx="1240044" cy="1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14"/>
          <p:cNvSpPr txBox="1"/>
          <p:nvPr/>
        </p:nvSpPr>
        <p:spPr>
          <a:xfrm>
            <a:off x="6756715" y="599635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Book Antiqua" panose="02040602050305030304" pitchFamily="18" charset="0"/>
              </a:rPr>
              <a:t>N</a:t>
            </a:r>
            <a:endParaRPr lang="en-GB" dirty="0">
              <a:latin typeface="Book Antiqua" panose="02040602050305030304" pitchFamily="18" charset="0"/>
            </a:endParaRPr>
          </a:p>
        </p:txBody>
      </p:sp>
      <p:sp>
        <p:nvSpPr>
          <p:cNvPr id="17" name="Szövegdoboz 16"/>
          <p:cNvSpPr txBox="1"/>
          <p:nvPr/>
        </p:nvSpPr>
        <p:spPr>
          <a:xfrm>
            <a:off x="5235674" y="475742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Book Antiqua" panose="02040602050305030304" pitchFamily="18" charset="0"/>
              </a:rPr>
              <a:t>Z</a:t>
            </a:r>
            <a:endParaRPr lang="en-GB" dirty="0">
              <a:latin typeface="Book Antiqua" panose="02040602050305030304" pitchFamily="18" charset="0"/>
            </a:endParaRPr>
          </a:p>
        </p:txBody>
      </p:sp>
      <p:sp>
        <p:nvSpPr>
          <p:cNvPr id="18" name="Szabadkézi sokszög 17"/>
          <p:cNvSpPr/>
          <p:nvPr/>
        </p:nvSpPr>
        <p:spPr>
          <a:xfrm>
            <a:off x="5628131" y="5080000"/>
            <a:ext cx="979054" cy="877455"/>
          </a:xfrm>
          <a:custGeom>
            <a:avLst/>
            <a:gdLst>
              <a:gd name="connsiteX0" fmla="*/ 0 w 979054"/>
              <a:gd name="connsiteY0" fmla="*/ 877455 h 877455"/>
              <a:gd name="connsiteX1" fmla="*/ 203200 w 979054"/>
              <a:gd name="connsiteY1" fmla="*/ 628073 h 877455"/>
              <a:gd name="connsiteX2" fmla="*/ 203200 w 979054"/>
              <a:gd name="connsiteY2" fmla="*/ 628073 h 877455"/>
              <a:gd name="connsiteX3" fmla="*/ 535709 w 979054"/>
              <a:gd name="connsiteY3" fmla="*/ 203200 h 877455"/>
              <a:gd name="connsiteX4" fmla="*/ 979054 w 979054"/>
              <a:gd name="connsiteY4" fmla="*/ 0 h 877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054" h="877455">
                <a:moveTo>
                  <a:pt x="0" y="877455"/>
                </a:moveTo>
                <a:lnTo>
                  <a:pt x="203200" y="628073"/>
                </a:lnTo>
                <a:lnTo>
                  <a:pt x="203200" y="628073"/>
                </a:lnTo>
                <a:cubicBezTo>
                  <a:pt x="258618" y="557261"/>
                  <a:pt x="406400" y="307879"/>
                  <a:pt x="535709" y="203200"/>
                </a:cubicBezTo>
                <a:cubicBezTo>
                  <a:pt x="665018" y="98521"/>
                  <a:pt x="822036" y="49260"/>
                  <a:pt x="979054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Egyenes összekötő 29"/>
          <p:cNvCxnSpPr/>
          <p:nvPr/>
        </p:nvCxnSpPr>
        <p:spPr>
          <a:xfrm>
            <a:off x="5569420" y="5652655"/>
            <a:ext cx="118729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gyenes összekötő 30"/>
          <p:cNvCxnSpPr/>
          <p:nvPr/>
        </p:nvCxnSpPr>
        <p:spPr>
          <a:xfrm>
            <a:off x="5569419" y="5292436"/>
            <a:ext cx="118729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31"/>
          <p:cNvCxnSpPr/>
          <p:nvPr/>
        </p:nvCxnSpPr>
        <p:spPr>
          <a:xfrm>
            <a:off x="5569420" y="5430424"/>
            <a:ext cx="118729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gyenes összekötő 38"/>
          <p:cNvCxnSpPr/>
          <p:nvPr/>
        </p:nvCxnSpPr>
        <p:spPr>
          <a:xfrm>
            <a:off x="6419273" y="4968215"/>
            <a:ext cx="0" cy="110102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gyenes összekötő 39"/>
          <p:cNvCxnSpPr/>
          <p:nvPr/>
        </p:nvCxnSpPr>
        <p:spPr>
          <a:xfrm>
            <a:off x="6163067" y="4978462"/>
            <a:ext cx="0" cy="110102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gyenes összekötő 40"/>
          <p:cNvCxnSpPr/>
          <p:nvPr/>
        </p:nvCxnSpPr>
        <p:spPr>
          <a:xfrm>
            <a:off x="6271492" y="4968215"/>
            <a:ext cx="0" cy="110102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gyenes összekötő 42"/>
          <p:cNvCxnSpPr/>
          <p:nvPr/>
        </p:nvCxnSpPr>
        <p:spPr>
          <a:xfrm>
            <a:off x="6117658" y="4942088"/>
            <a:ext cx="691806" cy="81216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gyenes összekötő 43"/>
          <p:cNvCxnSpPr/>
          <p:nvPr/>
        </p:nvCxnSpPr>
        <p:spPr>
          <a:xfrm>
            <a:off x="5761547" y="5165719"/>
            <a:ext cx="691806" cy="81216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gyenes összekötő 44"/>
          <p:cNvCxnSpPr/>
          <p:nvPr/>
        </p:nvCxnSpPr>
        <p:spPr>
          <a:xfrm>
            <a:off x="6042875" y="5043688"/>
            <a:ext cx="691806" cy="81216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E58AA28-5A3C-FE6C-B764-BE0E2FA02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8157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latin typeface="Book Antiqua" panose="02040602050305030304" pitchFamily="18" charset="0"/>
              </a:rPr>
              <a:t>Constituents</a:t>
            </a:r>
            <a:r>
              <a:rPr lang="hu-HU" b="1" dirty="0"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atomic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nucleus</a:t>
            </a:r>
            <a:endParaRPr lang="en-GB" b="1" dirty="0">
              <a:latin typeface="Book Antiqua" panose="02040602050305030304" pitchFamily="18" charset="0"/>
            </a:endParaRPr>
          </a:p>
        </p:txBody>
      </p:sp>
      <p:sp>
        <p:nvSpPr>
          <p:cNvPr id="5" name="Lekerekített téglalap 7">
            <a:extLst>
              <a:ext uri="{FF2B5EF4-FFF2-40B4-BE49-F238E27FC236}">
                <a16:creationId xmlns:a16="http://schemas.microsoft.com/office/drawing/2014/main" id="{90F70EEC-7869-AC3F-5BAE-689B91750609}"/>
              </a:ext>
            </a:extLst>
          </p:cNvPr>
          <p:cNvSpPr/>
          <p:nvPr/>
        </p:nvSpPr>
        <p:spPr>
          <a:xfrm>
            <a:off x="5112324" y="2496643"/>
            <a:ext cx="1290193" cy="3693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ook Antiqua" panose="02040602050305030304" pitchFamily="18" charset="0"/>
            </a:endParaRPr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34AD01AA-D0BC-3A1D-BFFF-50E063FCD05E}"/>
              </a:ext>
            </a:extLst>
          </p:cNvPr>
          <p:cNvCxnSpPr>
            <a:cxnSpLocks/>
          </p:cNvCxnSpPr>
          <p:nvPr/>
        </p:nvCxnSpPr>
        <p:spPr>
          <a:xfrm>
            <a:off x="5757421" y="2933625"/>
            <a:ext cx="0" cy="3970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ED481175-63E0-E2C9-A795-C2D3D257D3CD}"/>
              </a:ext>
            </a:extLst>
          </p:cNvPr>
          <p:cNvSpPr txBox="1"/>
          <p:nvPr/>
        </p:nvSpPr>
        <p:spPr>
          <a:xfrm>
            <a:off x="3922770" y="3260900"/>
            <a:ext cx="4687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What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binds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nucleons</a:t>
            </a:r>
            <a:r>
              <a:rPr lang="hu-HU" dirty="0">
                <a:latin typeface="Book Antiqua" panose="02040602050305030304" pitchFamily="18" charset="0"/>
              </a:rPr>
              <a:t>? (</a:t>
            </a:r>
            <a:r>
              <a:rPr lang="hu-HU" dirty="0" err="1">
                <a:latin typeface="Book Antiqua" panose="02040602050305030304" pitchFamily="18" charset="0"/>
              </a:rPr>
              <a:t>protons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repel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each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other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due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to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Coulomb </a:t>
            </a:r>
            <a:r>
              <a:rPr lang="hu-HU" dirty="0" err="1">
                <a:latin typeface="Book Antiqua" panose="02040602050305030304" pitchFamily="18" charset="0"/>
              </a:rPr>
              <a:t>force</a:t>
            </a:r>
            <a:r>
              <a:rPr lang="hu-HU" dirty="0">
                <a:latin typeface="Book Antiqua" panose="02040602050305030304" pitchFamily="18" charset="0"/>
              </a:rPr>
              <a:t>)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6A55DDE-6F2A-F487-FDC5-EB6C2553306D}"/>
              </a:ext>
            </a:extLst>
          </p:cNvPr>
          <p:cNvSpPr txBox="1"/>
          <p:nvPr/>
        </p:nvSpPr>
        <p:spPr>
          <a:xfrm>
            <a:off x="946853" y="20405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2D50EC37-9B07-8F0B-19EC-020EF53239B2}"/>
              </a:ext>
            </a:extLst>
          </p:cNvPr>
          <p:cNvSpPr txBox="1"/>
          <p:nvPr/>
        </p:nvSpPr>
        <p:spPr>
          <a:xfrm>
            <a:off x="946853" y="3146029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Atomic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endParaRPr lang="en-US" dirty="0">
              <a:latin typeface="Book Antiqua" panose="02040602050305030304" pitchFamily="18" charset="0"/>
            </a:endParaRPr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D60423A1-A267-66BC-34C8-F0EE42631126}"/>
              </a:ext>
            </a:extLst>
          </p:cNvPr>
          <p:cNvCxnSpPr>
            <a:cxnSpLocks/>
          </p:cNvCxnSpPr>
          <p:nvPr/>
        </p:nvCxnSpPr>
        <p:spPr>
          <a:xfrm>
            <a:off x="2413835" y="2245780"/>
            <a:ext cx="632339" cy="34359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657DA467-F21F-5CF3-A6A5-6FCE6CD2B5C0}"/>
              </a:ext>
            </a:extLst>
          </p:cNvPr>
          <p:cNvCxnSpPr>
            <a:cxnSpLocks/>
          </p:cNvCxnSpPr>
          <p:nvPr/>
        </p:nvCxnSpPr>
        <p:spPr>
          <a:xfrm flipV="1">
            <a:off x="2394725" y="2875039"/>
            <a:ext cx="670560" cy="39707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BD752A24-B508-C9F1-6B7C-16B61DCFF7E8}"/>
              </a:ext>
            </a:extLst>
          </p:cNvPr>
          <p:cNvSpPr txBox="1"/>
          <p:nvPr/>
        </p:nvSpPr>
        <p:spPr>
          <a:xfrm>
            <a:off x="2268812" y="4853913"/>
            <a:ext cx="28713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There</a:t>
            </a:r>
            <a:r>
              <a:rPr lang="hu-HU" dirty="0">
                <a:latin typeface="Book Antiqua" panose="02040602050305030304" pitchFamily="18" charset="0"/>
              </a:rPr>
              <a:t> must be a </a:t>
            </a:r>
            <a:r>
              <a:rPr lang="hu-HU" b="1" dirty="0" err="1">
                <a:latin typeface="Book Antiqua" panose="02040602050305030304" pitchFamily="18" charset="0"/>
              </a:rPr>
              <a:t>new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type</a:t>
            </a:r>
            <a:r>
              <a:rPr lang="hu-HU" b="1" dirty="0"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latin typeface="Book Antiqua" panose="02040602050305030304" pitchFamily="18" charset="0"/>
              </a:rPr>
              <a:t>interaction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between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nucleons</a:t>
            </a:r>
            <a:r>
              <a:rPr lang="hu-HU" dirty="0">
                <a:latin typeface="Book Antiqua" panose="02040602050305030304" pitchFamily="18" charset="0"/>
              </a:rPr>
              <a:t>!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17" name="Lefelé nyíl 26">
            <a:extLst>
              <a:ext uri="{FF2B5EF4-FFF2-40B4-BE49-F238E27FC236}">
                <a16:creationId xmlns:a16="http://schemas.microsoft.com/office/drawing/2014/main" id="{BB4D6EE6-C2F5-67A8-025A-C435B47582BD}"/>
              </a:ext>
            </a:extLst>
          </p:cNvPr>
          <p:cNvSpPr/>
          <p:nvPr/>
        </p:nvSpPr>
        <p:spPr>
          <a:xfrm>
            <a:off x="5248077" y="4053840"/>
            <a:ext cx="1018689" cy="378680"/>
          </a:xfrm>
          <a:prstGeom prst="downArrow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25DA209E-7755-3A91-0BB2-0046DD8DBF8A}"/>
              </a:ext>
            </a:extLst>
          </p:cNvPr>
          <p:cNvSpPr txBox="1"/>
          <p:nvPr/>
        </p:nvSpPr>
        <p:spPr>
          <a:xfrm>
            <a:off x="6266766" y="4790274"/>
            <a:ext cx="5067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Introduce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nuclear</a:t>
            </a:r>
            <a:r>
              <a:rPr lang="hu-HU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force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properties</a:t>
            </a:r>
            <a:r>
              <a:rPr lang="hu-HU" dirty="0">
                <a:latin typeface="Book Antiqua" panose="0204060205030503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latin typeface="Book Antiqua" panose="02040602050305030304" pitchFamily="18" charset="0"/>
              </a:rPr>
              <a:t>attractive</a:t>
            </a:r>
            <a:r>
              <a:rPr lang="hu-HU" dirty="0">
                <a:latin typeface="Book Antiqua" panose="02040602050305030304" pitchFamily="18" charset="0"/>
              </a:rPr>
              <a:t> (</a:t>
            </a:r>
            <a:r>
              <a:rPr lang="hu-HU" dirty="0" err="1">
                <a:latin typeface="Book Antiqua" panose="02040602050305030304" pitchFamily="18" charset="0"/>
              </a:rPr>
              <a:t>stronger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than</a:t>
            </a:r>
            <a:r>
              <a:rPr lang="hu-HU" dirty="0">
                <a:latin typeface="Book Antiqua" panose="02040602050305030304" pitchFamily="18" charset="0"/>
              </a:rPr>
              <a:t> EM)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latin typeface="Book Antiqua" panose="02040602050305030304" pitchFamily="18" charset="0"/>
              </a:rPr>
              <a:t>short-range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>
                <a:latin typeface="Book Antiqua" panose="02040602050305030304" pitchFamily="18" charset="0"/>
              </a:rPr>
              <a:t>(</a:t>
            </a:r>
            <a:r>
              <a:rPr lang="hu-HU" dirty="0" err="1">
                <a:latin typeface="Book Antiqua" panose="02040602050305030304" pitchFamily="18" charset="0"/>
              </a:rPr>
              <a:t>know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from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scattering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experiments</a:t>
            </a:r>
            <a:r>
              <a:rPr lang="hu-HU" dirty="0">
                <a:latin typeface="Book Antiqua" panose="02040602050305030304" pitchFamily="18" charset="0"/>
              </a:rPr>
              <a:t>)</a:t>
            </a:r>
            <a:endParaRPr lang="en-US" dirty="0">
              <a:latin typeface="Book Antiqua" panose="02040602050305030304" pitchFamily="18" charset="0"/>
            </a:endParaRPr>
          </a:p>
        </p:txBody>
      </p:sp>
      <p:grpSp>
        <p:nvGrpSpPr>
          <p:cNvPr id="22" name="Csoportba foglalás 21">
            <a:extLst>
              <a:ext uri="{FF2B5EF4-FFF2-40B4-BE49-F238E27FC236}">
                <a16:creationId xmlns:a16="http://schemas.microsoft.com/office/drawing/2014/main" id="{55CAE46F-D1E9-6953-30B6-79A49BD28603}"/>
              </a:ext>
            </a:extLst>
          </p:cNvPr>
          <p:cNvGrpSpPr/>
          <p:nvPr/>
        </p:nvGrpSpPr>
        <p:grpSpPr>
          <a:xfrm>
            <a:off x="2939819" y="1826814"/>
            <a:ext cx="6838346" cy="1029840"/>
            <a:chOff x="866747" y="176204"/>
            <a:chExt cx="6838346" cy="1029840"/>
          </a:xfrm>
        </p:grpSpPr>
        <p:grpSp>
          <p:nvGrpSpPr>
            <p:cNvPr id="23" name="Csoportba foglalás 22">
              <a:extLst>
                <a:ext uri="{FF2B5EF4-FFF2-40B4-BE49-F238E27FC236}">
                  <a16:creationId xmlns:a16="http://schemas.microsoft.com/office/drawing/2014/main" id="{14C995C4-F8B3-F859-793E-31C7B3F9818E}"/>
                </a:ext>
              </a:extLst>
            </p:cNvPr>
            <p:cNvGrpSpPr/>
            <p:nvPr/>
          </p:nvGrpSpPr>
          <p:grpSpPr>
            <a:xfrm>
              <a:off x="1371308" y="176204"/>
              <a:ext cx="6333785" cy="1013568"/>
              <a:chOff x="1371308" y="176204"/>
              <a:chExt cx="6333785" cy="1013568"/>
            </a:xfrm>
          </p:grpSpPr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24FB6B64-0D0C-943D-659B-A1582F0C8479}"/>
                  </a:ext>
                </a:extLst>
              </p:cNvPr>
              <p:cNvSpPr txBox="1"/>
              <p:nvPr/>
            </p:nvSpPr>
            <p:spPr>
              <a:xfrm>
                <a:off x="3395779" y="176204"/>
                <a:ext cx="14382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sz="2800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A=N+Z</a:t>
                </a:r>
                <a:endParaRPr lang="en-US" sz="2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endParaRPr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017D80A8-29DB-936B-F29B-CEC73221FB34}"/>
                  </a:ext>
                </a:extLst>
              </p:cNvPr>
              <p:cNvSpPr txBox="1"/>
              <p:nvPr/>
            </p:nvSpPr>
            <p:spPr>
              <a:xfrm>
                <a:off x="1371308" y="820440"/>
                <a:ext cx="63337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dirty="0" err="1">
                    <a:latin typeface="Book Antiqua" panose="02040602050305030304" pitchFamily="18" charset="0"/>
                  </a:rPr>
                  <a:t>nucleus</a:t>
                </a:r>
                <a:r>
                  <a:rPr lang="hu-HU" dirty="0">
                    <a:latin typeface="Book Antiqua" panose="02040602050305030304" pitchFamily="18" charset="0"/>
                  </a:rPr>
                  <a:t> (A,Z) = </a:t>
                </a:r>
                <a:r>
                  <a:rPr lang="hu-HU" b="1" dirty="0" err="1">
                    <a:solidFill>
                      <a:schemeClr val="accent2"/>
                    </a:solidFill>
                    <a:latin typeface="Book Antiqua" panose="02040602050305030304" pitchFamily="18" charset="0"/>
                  </a:rPr>
                  <a:t>bound</a:t>
                </a:r>
                <a:r>
                  <a:rPr lang="hu-HU" b="1" dirty="0">
                    <a:solidFill>
                      <a:schemeClr val="accent2"/>
                    </a:solidFill>
                    <a:latin typeface="Book Antiqua" panose="02040602050305030304" pitchFamily="18" charset="0"/>
                  </a:rPr>
                  <a:t> </a:t>
                </a:r>
                <a:r>
                  <a:rPr lang="hu-HU" b="1" dirty="0" err="1">
                    <a:solidFill>
                      <a:schemeClr val="accent2"/>
                    </a:solidFill>
                    <a:latin typeface="Book Antiqua" panose="02040602050305030304" pitchFamily="18" charset="0"/>
                  </a:rPr>
                  <a:t>state</a:t>
                </a:r>
                <a:r>
                  <a:rPr lang="hu-HU" b="1" dirty="0">
                    <a:solidFill>
                      <a:schemeClr val="accent2"/>
                    </a:solidFill>
                    <a:latin typeface="Book Antiqua" panose="02040602050305030304" pitchFamily="18" charset="0"/>
                  </a:rPr>
                  <a:t> </a:t>
                </a:r>
                <a:r>
                  <a:rPr lang="hu-HU" dirty="0">
                    <a:latin typeface="Book Antiqua" panose="02040602050305030304" pitchFamily="18" charset="0"/>
                  </a:rPr>
                  <a:t>of </a:t>
                </a:r>
                <a:r>
                  <a:rPr lang="hu-HU" dirty="0" err="1">
                    <a:latin typeface="Book Antiqua" panose="02040602050305030304" pitchFamily="18" charset="0"/>
                  </a:rPr>
                  <a:t>protons</a:t>
                </a:r>
                <a:r>
                  <a:rPr lang="hu-HU" dirty="0">
                    <a:latin typeface="Book Antiqua" panose="02040602050305030304" pitchFamily="18" charset="0"/>
                  </a:rPr>
                  <a:t> (Z) and </a:t>
                </a:r>
                <a:r>
                  <a:rPr lang="hu-HU" dirty="0" err="1">
                    <a:latin typeface="Book Antiqua" panose="02040602050305030304" pitchFamily="18" charset="0"/>
                  </a:rPr>
                  <a:t>neutrons</a:t>
                </a:r>
                <a:r>
                  <a:rPr lang="hu-HU" dirty="0">
                    <a:latin typeface="Book Antiqua" panose="02040602050305030304" pitchFamily="18" charset="0"/>
                  </a:rPr>
                  <a:t> (N)</a:t>
                </a:r>
                <a:endParaRPr lang="en-US" dirty="0">
                  <a:latin typeface="Book Antiqua" panose="0204060205030503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Szövegdoboz 23">
                  <a:extLst>
                    <a:ext uri="{FF2B5EF4-FFF2-40B4-BE49-F238E27FC236}">
                      <a16:creationId xmlns:a16="http://schemas.microsoft.com/office/drawing/2014/main" id="{E4412CC0-3A1C-D15E-8148-43E3DB20C96F}"/>
                    </a:ext>
                  </a:extLst>
                </p:cNvPr>
                <p:cNvSpPr txBox="1"/>
                <p:nvPr/>
              </p:nvSpPr>
              <p:spPr>
                <a:xfrm>
                  <a:off x="866747" y="831326"/>
                  <a:ext cx="587853" cy="3747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</m:e>
                        </m:sPre>
                      </m:oMath>
                    </m:oMathPara>
                  </a14:m>
                  <a:endParaRPr lang="en-US" dirty="0">
                    <a:latin typeface="Book Antiqua" panose="02040602050305030304" pitchFamily="18" charset="0"/>
                  </a:endParaRPr>
                </a:p>
              </p:txBody>
            </p:sp>
          </mc:Choice>
          <mc:Fallback xmlns="">
            <p:sp>
              <p:nvSpPr>
                <p:cNvPr id="18" name="Szövegdoboz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747" y="831326"/>
                  <a:ext cx="587853" cy="374718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6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72E68A09-ECED-20CD-E288-610D72CE1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5571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ook Antiqua" panose="02040602050305030304" pitchFamily="18" charset="0"/>
              </a:rPr>
              <a:t>Basic (</a:t>
            </a:r>
            <a:r>
              <a:rPr lang="hu-HU" dirty="0" err="1">
                <a:latin typeface="Book Antiqua" panose="02040602050305030304" pitchFamily="18" charset="0"/>
              </a:rPr>
              <a:t>bulk</a:t>
            </a:r>
            <a:r>
              <a:rPr lang="hu-HU" dirty="0">
                <a:latin typeface="Book Antiqua" panose="02040602050305030304" pitchFamily="18" charset="0"/>
              </a:rPr>
              <a:t>) </a:t>
            </a:r>
            <a:r>
              <a:rPr lang="hu-HU" dirty="0" err="1">
                <a:latin typeface="Book Antiqua" panose="02040602050305030304" pitchFamily="18" charset="0"/>
              </a:rPr>
              <a:t>properties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nuclei</a:t>
            </a:r>
            <a:endParaRPr lang="en-GB" dirty="0">
              <a:latin typeface="Book Antiqua" panose="02040602050305030304" pitchFamily="18" charset="0"/>
            </a:endParaRPr>
          </a:p>
        </p:txBody>
      </p:sp>
      <p:sp>
        <p:nvSpPr>
          <p:cNvPr id="4" name="Szöveg hely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Charge</a:t>
            </a:r>
            <a:r>
              <a:rPr lang="hu-HU" dirty="0"/>
              <a:t> </a:t>
            </a:r>
            <a:r>
              <a:rPr lang="hu-HU" dirty="0" err="1"/>
              <a:t>density</a:t>
            </a:r>
            <a:r>
              <a:rPr lang="hu-HU" dirty="0"/>
              <a:t>, </a:t>
            </a:r>
            <a:r>
              <a:rPr lang="hu-HU" dirty="0" err="1"/>
              <a:t>charge</a:t>
            </a:r>
            <a:r>
              <a:rPr lang="hu-HU" dirty="0"/>
              <a:t> and </a:t>
            </a:r>
            <a:r>
              <a:rPr lang="hu-HU" dirty="0" err="1"/>
              <a:t>force</a:t>
            </a:r>
            <a:r>
              <a:rPr lang="hu-HU" dirty="0"/>
              <a:t> </a:t>
            </a:r>
            <a:r>
              <a:rPr lang="hu-HU" dirty="0" err="1"/>
              <a:t>radius</a:t>
            </a:r>
            <a:r>
              <a:rPr lang="hu-HU" dirty="0"/>
              <a:t>, </a:t>
            </a:r>
            <a:r>
              <a:rPr lang="hu-HU" dirty="0" err="1"/>
              <a:t>magnetic</a:t>
            </a:r>
            <a:r>
              <a:rPr lang="hu-HU" dirty="0"/>
              <a:t> </a:t>
            </a:r>
            <a:r>
              <a:rPr lang="hu-HU" dirty="0" err="1"/>
              <a:t>moment</a:t>
            </a:r>
            <a:r>
              <a:rPr lang="hu-HU" dirty="0"/>
              <a:t>, </a:t>
            </a:r>
            <a:r>
              <a:rPr lang="hu-HU" dirty="0" err="1"/>
              <a:t>nuclear</a:t>
            </a:r>
            <a:r>
              <a:rPr lang="hu-HU" dirty="0"/>
              <a:t> spin</a:t>
            </a:r>
            <a:endParaRPr lang="en-GB" dirty="0"/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18511139-5B37-987B-1839-EF94910A2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36375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A84CA791-93F6-0DD7-A2A5-583B3CAE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density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radius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0FB724DB-8936-95E4-382D-632989417948}"/>
              </a:ext>
            </a:extLst>
          </p:cNvPr>
          <p:cNvSpPr txBox="1"/>
          <p:nvPr/>
        </p:nvSpPr>
        <p:spPr>
          <a:xfrm>
            <a:off x="715108" y="2314590"/>
            <a:ext cx="39885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How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to</a:t>
            </a:r>
            <a:r>
              <a:rPr lang="hu-HU" dirty="0">
                <a:latin typeface="Book Antiqua" panose="02040602050305030304" pitchFamily="18" charset="0"/>
              </a:rPr>
              <a:t> „</a:t>
            </a:r>
            <a:r>
              <a:rPr lang="hu-HU" dirty="0" err="1">
                <a:latin typeface="Book Antiqua" panose="02040602050305030304" pitchFamily="18" charset="0"/>
              </a:rPr>
              <a:t>look</a:t>
            </a:r>
            <a:r>
              <a:rPr lang="hu-HU" dirty="0">
                <a:latin typeface="Book Antiqua" panose="02040602050305030304" pitchFamily="18" charset="0"/>
              </a:rPr>
              <a:t>” </a:t>
            </a:r>
            <a:r>
              <a:rPr lang="hu-HU" dirty="0" err="1">
                <a:latin typeface="Book Antiqua" panose="02040602050305030304" pitchFamily="18" charset="0"/>
              </a:rPr>
              <a:t>inside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B544A53E-7308-BF4B-282F-94E20C86C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7670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7414-D6B5-A32C-3CBC-A0756D9C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26388517-BA32-23C4-96D9-1B4A25CA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density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radius</a:t>
            </a:r>
            <a:endParaRPr lang="hu-HU" dirty="0"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9BA02459-FE60-E19D-F78A-3B11FEFAB7C9}"/>
                  </a:ext>
                </a:extLst>
              </p:cNvPr>
              <p:cNvSpPr txBox="1"/>
              <p:nvPr/>
            </p:nvSpPr>
            <p:spPr>
              <a:xfrm>
                <a:off x="6095999" y="2213142"/>
                <a:ext cx="1711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𝑛𝑢𝑐𝑙𝑒𝑢𝑠</m:t>
                          </m:r>
                        </m:sub>
                      </m:sSub>
                    </m:oMath>
                  </m:oMathPara>
                </a14:m>
                <a:endParaRPr lang="hu-HU" sz="2400" dirty="0"/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9BA02459-FE60-E19D-F78A-3B11FEFAB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213142"/>
                <a:ext cx="1711569" cy="461665"/>
              </a:xfrm>
              <a:prstGeom prst="rect">
                <a:avLst/>
              </a:prstGeom>
              <a:blipFill>
                <a:blip r:embed="rId2"/>
                <a:stretch>
                  <a:fillRect l="-1068" r="-3915" b="-263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zövegdoboz 6">
            <a:extLst>
              <a:ext uri="{FF2B5EF4-FFF2-40B4-BE49-F238E27FC236}">
                <a16:creationId xmlns:a16="http://schemas.microsoft.com/office/drawing/2014/main" id="{1B146F35-D280-7FD4-ED61-6FB3BA31D2F2}"/>
              </a:ext>
            </a:extLst>
          </p:cNvPr>
          <p:cNvSpPr txBox="1"/>
          <p:nvPr/>
        </p:nvSpPr>
        <p:spPr>
          <a:xfrm>
            <a:off x="715108" y="2314590"/>
            <a:ext cx="39885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How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to</a:t>
            </a:r>
            <a:r>
              <a:rPr lang="hu-HU" dirty="0">
                <a:latin typeface="Book Antiqua" panose="02040602050305030304" pitchFamily="18" charset="0"/>
              </a:rPr>
              <a:t> „</a:t>
            </a:r>
            <a:r>
              <a:rPr lang="hu-HU" dirty="0" err="1">
                <a:latin typeface="Book Antiqua" panose="02040602050305030304" pitchFamily="18" charset="0"/>
              </a:rPr>
              <a:t>look</a:t>
            </a:r>
            <a:r>
              <a:rPr lang="hu-HU" dirty="0">
                <a:latin typeface="Book Antiqua" panose="02040602050305030304" pitchFamily="18" charset="0"/>
              </a:rPr>
              <a:t>” </a:t>
            </a:r>
            <a:r>
              <a:rPr lang="hu-HU" dirty="0" err="1">
                <a:latin typeface="Book Antiqua" panose="02040602050305030304" pitchFamily="18" charset="0"/>
              </a:rPr>
              <a:t>inside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7E7F7BC8-1D02-BF41-D1C0-EFDE4912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3354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3391F-3D2A-556F-0619-6470858D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CC8F7715-C801-AF86-6F11-E3BFFABC7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density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radius</a:t>
            </a:r>
            <a:endParaRPr lang="hu-HU" dirty="0"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968978B2-3E6E-99A0-66D8-6BC6B24BBB83}"/>
                  </a:ext>
                </a:extLst>
              </p:cNvPr>
              <p:cNvSpPr txBox="1"/>
              <p:nvPr/>
            </p:nvSpPr>
            <p:spPr>
              <a:xfrm>
                <a:off x="4982308" y="2786258"/>
                <a:ext cx="7326923" cy="728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hu-H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sSub>
                            <m:sSubPr>
                              <m:ctrlPr>
                                <a:rPr lang="hu-H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𝑛𝑢𝑐𝑙𝑒𝑢𝑠</m:t>
                              </m:r>
                            </m:sub>
                          </m:sSub>
                        </m:den>
                      </m:f>
                      <m:r>
                        <a:rPr lang="hu-H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𝑝𝑐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hu-H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hu-H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𝑛𝑢𝑐𝑙𝑒𝑢𝑠</m:t>
                              </m:r>
                            </m:sub>
                          </m:sSub>
                        </m:den>
                      </m:f>
                      <m:r>
                        <a:rPr lang="hu-H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hu-H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197∙2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𝑀𝑒𝑉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=123 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𝑀𝑒𝑉</m:t>
                      </m:r>
                    </m:oMath>
                  </m:oMathPara>
                </a14:m>
                <a:endParaRPr lang="hu-HU" sz="2000" dirty="0"/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968978B2-3E6E-99A0-66D8-6BC6B24BB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308" y="2786258"/>
                <a:ext cx="7326923" cy="7286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CDB873AF-F81F-6C15-EB62-0823604E4291}"/>
                  </a:ext>
                </a:extLst>
              </p:cNvPr>
              <p:cNvSpPr txBox="1"/>
              <p:nvPr/>
            </p:nvSpPr>
            <p:spPr>
              <a:xfrm>
                <a:off x="6095999" y="2213142"/>
                <a:ext cx="1711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𝑛𝑢𝑐𝑙𝑒𝑢𝑠</m:t>
                          </m:r>
                        </m:sub>
                      </m:sSub>
                    </m:oMath>
                  </m:oMathPara>
                </a14:m>
                <a:endParaRPr lang="hu-HU" sz="2400" dirty="0"/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CDB873AF-F81F-6C15-EB62-0823604E4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213142"/>
                <a:ext cx="1711569" cy="461665"/>
              </a:xfrm>
              <a:prstGeom prst="rect">
                <a:avLst/>
              </a:prstGeom>
              <a:blipFill>
                <a:blip r:embed="rId3"/>
                <a:stretch>
                  <a:fillRect l="-1068" r="-3915" b="-263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zövegdoboz 6">
            <a:extLst>
              <a:ext uri="{FF2B5EF4-FFF2-40B4-BE49-F238E27FC236}">
                <a16:creationId xmlns:a16="http://schemas.microsoft.com/office/drawing/2014/main" id="{FD6C7075-438D-B21C-3D58-027A65CBF505}"/>
              </a:ext>
            </a:extLst>
          </p:cNvPr>
          <p:cNvSpPr txBox="1"/>
          <p:nvPr/>
        </p:nvSpPr>
        <p:spPr>
          <a:xfrm>
            <a:off x="715108" y="2314590"/>
            <a:ext cx="39885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How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to</a:t>
            </a:r>
            <a:r>
              <a:rPr lang="hu-HU" dirty="0">
                <a:latin typeface="Book Antiqua" panose="02040602050305030304" pitchFamily="18" charset="0"/>
              </a:rPr>
              <a:t> „</a:t>
            </a:r>
            <a:r>
              <a:rPr lang="hu-HU" dirty="0" err="1">
                <a:latin typeface="Book Antiqua" panose="02040602050305030304" pitchFamily="18" charset="0"/>
              </a:rPr>
              <a:t>look</a:t>
            </a:r>
            <a:r>
              <a:rPr lang="hu-HU" dirty="0">
                <a:latin typeface="Book Antiqua" panose="02040602050305030304" pitchFamily="18" charset="0"/>
              </a:rPr>
              <a:t>” </a:t>
            </a:r>
            <a:r>
              <a:rPr lang="hu-HU" dirty="0" err="1">
                <a:latin typeface="Book Antiqua" panose="02040602050305030304" pitchFamily="18" charset="0"/>
              </a:rPr>
              <a:t>inside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9E3924B3-42D4-E44F-0910-DE3522FC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7030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B0DD-A51F-61A1-9B59-DFFFD0B1A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DF20BE0D-2C39-4C17-BD67-46F0F0B0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density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radius</a:t>
            </a:r>
            <a:endParaRPr lang="hu-HU" dirty="0"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B909181C-7755-E38F-6619-D53C6351A4B3}"/>
                  </a:ext>
                </a:extLst>
              </p:cNvPr>
              <p:cNvSpPr txBox="1"/>
              <p:nvPr/>
            </p:nvSpPr>
            <p:spPr>
              <a:xfrm>
                <a:off x="4982308" y="2786258"/>
                <a:ext cx="7326923" cy="728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hu-H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sSub>
                            <m:sSubPr>
                              <m:ctrlPr>
                                <a:rPr lang="hu-H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𝑛𝑢𝑐𝑙𝑒𝑢𝑠</m:t>
                              </m:r>
                            </m:sub>
                          </m:sSub>
                        </m:den>
                      </m:f>
                      <m:r>
                        <a:rPr lang="hu-H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𝑝𝑐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hu-H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hu-H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𝑛𝑢𝑐𝑙𝑒𝑢𝑠</m:t>
                              </m:r>
                            </m:sub>
                          </m:sSub>
                        </m:den>
                      </m:f>
                      <m:r>
                        <a:rPr lang="hu-H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hu-H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197∙2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𝑀𝑒𝑉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=123 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𝑀𝑒𝑉</m:t>
                      </m:r>
                    </m:oMath>
                  </m:oMathPara>
                </a14:m>
                <a:endParaRPr lang="hu-HU" sz="2000" dirty="0"/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B909181C-7755-E38F-6619-D53C6351A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308" y="2786258"/>
                <a:ext cx="7326923" cy="7286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D5019895-74FB-17F5-7233-D7DC7C7F1B94}"/>
                  </a:ext>
                </a:extLst>
              </p:cNvPr>
              <p:cNvSpPr txBox="1"/>
              <p:nvPr/>
            </p:nvSpPr>
            <p:spPr>
              <a:xfrm>
                <a:off x="6095999" y="2213142"/>
                <a:ext cx="1711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𝑛𝑢𝑐𝑙𝑒𝑢𝑠</m:t>
                          </m:r>
                        </m:sub>
                      </m:sSub>
                    </m:oMath>
                  </m:oMathPara>
                </a14:m>
                <a:endParaRPr lang="hu-HU" sz="2400" dirty="0"/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D5019895-74FB-17F5-7233-D7DC7C7F1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213142"/>
                <a:ext cx="1711569" cy="461665"/>
              </a:xfrm>
              <a:prstGeom prst="rect">
                <a:avLst/>
              </a:prstGeom>
              <a:blipFill>
                <a:blip r:embed="rId3"/>
                <a:stretch>
                  <a:fillRect l="-1068" r="-3915" b="-263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zövegdoboz 6">
            <a:extLst>
              <a:ext uri="{FF2B5EF4-FFF2-40B4-BE49-F238E27FC236}">
                <a16:creationId xmlns:a16="http://schemas.microsoft.com/office/drawing/2014/main" id="{96F0BE7B-6FAE-5827-0176-788D7C415A48}"/>
              </a:ext>
            </a:extLst>
          </p:cNvPr>
          <p:cNvSpPr txBox="1"/>
          <p:nvPr/>
        </p:nvSpPr>
        <p:spPr>
          <a:xfrm>
            <a:off x="715108" y="2314590"/>
            <a:ext cx="44230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How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to</a:t>
            </a:r>
            <a:r>
              <a:rPr lang="hu-HU" dirty="0">
                <a:latin typeface="Book Antiqua" panose="02040602050305030304" pitchFamily="18" charset="0"/>
              </a:rPr>
              <a:t> „</a:t>
            </a:r>
            <a:r>
              <a:rPr lang="hu-HU" dirty="0" err="1">
                <a:latin typeface="Book Antiqua" panose="02040602050305030304" pitchFamily="18" charset="0"/>
              </a:rPr>
              <a:t>look</a:t>
            </a:r>
            <a:r>
              <a:rPr lang="hu-HU" dirty="0">
                <a:latin typeface="Book Antiqua" panose="02040602050305030304" pitchFamily="18" charset="0"/>
              </a:rPr>
              <a:t>” </a:t>
            </a:r>
            <a:r>
              <a:rPr lang="hu-HU" dirty="0" err="1">
                <a:latin typeface="Book Antiqua" panose="02040602050305030304" pitchFamily="18" charset="0"/>
              </a:rPr>
              <a:t>inside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Determine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nuclear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charge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density</a:t>
            </a:r>
            <a:endParaRPr lang="hu-H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A5655852-5C57-E13D-CD44-3113F2B46A35}"/>
                  </a:ext>
                </a:extLst>
              </p:cNvPr>
              <p:cNvSpPr txBox="1"/>
              <p:nvPr/>
            </p:nvSpPr>
            <p:spPr>
              <a:xfrm>
                <a:off x="2209801" y="4452290"/>
                <a:ext cx="2772507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hu-H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hu-H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hu-HU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hu-HU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A5655852-5C57-E13D-CD44-3113F2B46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1" y="4452290"/>
                <a:ext cx="2772507" cy="6182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37D9F4FA-A373-2F47-82B2-E4BAB9364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89799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53A26-FDA0-07ED-D64E-12453DAA5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7D8E6D40-9FF2-880B-5AA0-DC561DE5C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density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radius</a:t>
            </a:r>
            <a:endParaRPr lang="hu-HU" dirty="0"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EBDFF8C5-9A2F-8414-CB2B-07E145DF98C3}"/>
                  </a:ext>
                </a:extLst>
              </p:cNvPr>
              <p:cNvSpPr txBox="1"/>
              <p:nvPr/>
            </p:nvSpPr>
            <p:spPr>
              <a:xfrm>
                <a:off x="4982308" y="2786258"/>
                <a:ext cx="7326923" cy="728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hu-H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sSub>
                            <m:sSubPr>
                              <m:ctrlPr>
                                <a:rPr lang="hu-H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𝑛𝑢𝑐𝑙𝑒𝑢𝑠</m:t>
                              </m:r>
                            </m:sub>
                          </m:sSub>
                        </m:den>
                      </m:f>
                      <m:r>
                        <a:rPr lang="hu-H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𝑝𝑐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hu-H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hu-H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𝑛𝑢𝑐𝑙𝑒𝑢𝑠</m:t>
                              </m:r>
                            </m:sub>
                          </m:sSub>
                        </m:den>
                      </m:f>
                      <m:r>
                        <a:rPr lang="hu-H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hu-H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197∙2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𝑀𝑒𝑉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=123 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𝑀𝑒𝑉</m:t>
                      </m:r>
                    </m:oMath>
                  </m:oMathPara>
                </a14:m>
                <a:endParaRPr lang="hu-HU" sz="2000" dirty="0"/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EBDFF8C5-9A2F-8414-CB2B-07E145DF9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308" y="2786258"/>
                <a:ext cx="7326923" cy="7286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705735DC-55FA-5AFC-4C9D-08B5535A1DC4}"/>
                  </a:ext>
                </a:extLst>
              </p:cNvPr>
              <p:cNvSpPr txBox="1"/>
              <p:nvPr/>
            </p:nvSpPr>
            <p:spPr>
              <a:xfrm>
                <a:off x="6095999" y="2213142"/>
                <a:ext cx="1711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𝑛𝑢𝑐𝑙𝑒𝑢𝑠</m:t>
                          </m:r>
                        </m:sub>
                      </m:sSub>
                    </m:oMath>
                  </m:oMathPara>
                </a14:m>
                <a:endParaRPr lang="hu-HU" sz="2400" dirty="0"/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705735DC-55FA-5AFC-4C9D-08B5535A1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213142"/>
                <a:ext cx="1711569" cy="461665"/>
              </a:xfrm>
              <a:prstGeom prst="rect">
                <a:avLst/>
              </a:prstGeom>
              <a:blipFill>
                <a:blip r:embed="rId4"/>
                <a:stretch>
                  <a:fillRect l="-1068" r="-3915" b="-263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zövegdoboz 6">
            <a:extLst>
              <a:ext uri="{FF2B5EF4-FFF2-40B4-BE49-F238E27FC236}">
                <a16:creationId xmlns:a16="http://schemas.microsoft.com/office/drawing/2014/main" id="{1FF812EE-14B2-D6A5-1578-C353FE2D13F0}"/>
              </a:ext>
            </a:extLst>
          </p:cNvPr>
          <p:cNvSpPr txBox="1"/>
          <p:nvPr/>
        </p:nvSpPr>
        <p:spPr>
          <a:xfrm>
            <a:off x="715108" y="2314590"/>
            <a:ext cx="44230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How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to</a:t>
            </a:r>
            <a:r>
              <a:rPr lang="hu-HU" dirty="0">
                <a:latin typeface="Book Antiqua" panose="02040602050305030304" pitchFamily="18" charset="0"/>
              </a:rPr>
              <a:t> „</a:t>
            </a:r>
            <a:r>
              <a:rPr lang="hu-HU" dirty="0" err="1">
                <a:latin typeface="Book Antiqua" panose="02040602050305030304" pitchFamily="18" charset="0"/>
              </a:rPr>
              <a:t>look</a:t>
            </a:r>
            <a:r>
              <a:rPr lang="hu-HU" dirty="0">
                <a:latin typeface="Book Antiqua" panose="02040602050305030304" pitchFamily="18" charset="0"/>
              </a:rPr>
              <a:t>” </a:t>
            </a:r>
            <a:r>
              <a:rPr lang="hu-HU" dirty="0" err="1">
                <a:latin typeface="Book Antiqua" panose="02040602050305030304" pitchFamily="18" charset="0"/>
              </a:rPr>
              <a:t>inside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Determine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nuclear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charge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density</a:t>
            </a:r>
            <a:endParaRPr lang="hu-H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714C1E8A-04B0-CFFE-55D3-25FBB1A0297B}"/>
                  </a:ext>
                </a:extLst>
              </p:cNvPr>
              <p:cNvSpPr txBox="1"/>
              <p:nvPr/>
            </p:nvSpPr>
            <p:spPr>
              <a:xfrm>
                <a:off x="2209801" y="4452290"/>
                <a:ext cx="2772507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hu-H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hu-H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hu-HU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hu-HU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714C1E8A-04B0-CFFE-55D3-25FBB1A02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1" y="4452290"/>
                <a:ext cx="2772507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zövegdoboz 1">
            <a:extLst>
              <a:ext uri="{FF2B5EF4-FFF2-40B4-BE49-F238E27FC236}">
                <a16:creationId xmlns:a16="http://schemas.microsoft.com/office/drawing/2014/main" id="{0C487DB2-AE0D-D5D6-4A5E-EF8F893C8125}"/>
              </a:ext>
            </a:extLst>
          </p:cNvPr>
          <p:cNvSpPr txBox="1"/>
          <p:nvPr/>
        </p:nvSpPr>
        <p:spPr>
          <a:xfrm>
            <a:off x="969994" y="5204996"/>
            <a:ext cx="70368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High-energy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alpha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particle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>
                <a:latin typeface="Book Antiqua" panose="02040602050305030304" pitchFamily="18" charset="0"/>
              </a:rPr>
              <a:t>is </a:t>
            </a:r>
            <a:r>
              <a:rPr lang="hu-HU" dirty="0" err="1">
                <a:latin typeface="Book Antiqua" panose="02040602050305030304" pitchFamily="18" charset="0"/>
              </a:rPr>
              <a:t>not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suitable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alpha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experiences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nuclear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force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upon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approaching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surface</a:t>
            </a:r>
            <a:r>
              <a:rPr lang="hu-HU" dirty="0">
                <a:latin typeface="Book Antiqua" panose="02040602050305030304" pitchFamily="18" charset="0"/>
              </a:rPr>
              <a:t>         </a:t>
            </a:r>
            <a:r>
              <a:rPr lang="hu-HU" dirty="0" err="1">
                <a:latin typeface="Book Antiqua" panose="02040602050305030304" pitchFamily="18" charset="0"/>
              </a:rPr>
              <a:t>anomalous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scattering</a:t>
            </a:r>
            <a:endParaRPr lang="hu-HU" dirty="0">
              <a:latin typeface="Book Antiqua" panose="02040602050305030304" pitchFamily="18" charset="0"/>
            </a:endParaRPr>
          </a:p>
        </p:txBody>
      </p:sp>
      <p:cxnSp>
        <p:nvCxnSpPr>
          <p:cNvPr id="9" name="Egyenes összekötő nyíllal 8">
            <a:extLst>
              <a:ext uri="{FF2B5EF4-FFF2-40B4-BE49-F238E27FC236}">
                <a16:creationId xmlns:a16="http://schemas.microsoft.com/office/drawing/2014/main" id="{C7F9F05D-571C-69B7-0CB5-E47548A695C5}"/>
              </a:ext>
            </a:extLst>
          </p:cNvPr>
          <p:cNvCxnSpPr/>
          <p:nvPr/>
        </p:nvCxnSpPr>
        <p:spPr>
          <a:xfrm>
            <a:off x="1840523" y="5943600"/>
            <a:ext cx="369278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BAAA4970-1374-99F0-AC08-74A3399A6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30435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C5455-932D-633D-A065-7BB4AC08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3D6BD353-AF8B-18C2-9000-76EE15D14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density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radius</a:t>
            </a:r>
            <a:endParaRPr lang="hu-HU" dirty="0"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E547D517-51B2-F0D9-4D37-05C90E423F3F}"/>
                  </a:ext>
                </a:extLst>
              </p:cNvPr>
              <p:cNvSpPr txBox="1"/>
              <p:nvPr/>
            </p:nvSpPr>
            <p:spPr>
              <a:xfrm>
                <a:off x="4982308" y="2786258"/>
                <a:ext cx="7326923" cy="728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hu-H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sSub>
                            <m:sSubPr>
                              <m:ctrlPr>
                                <a:rPr lang="hu-H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𝑛𝑢𝑐𝑙𝑒𝑢𝑠</m:t>
                              </m:r>
                            </m:sub>
                          </m:sSub>
                        </m:den>
                      </m:f>
                      <m:r>
                        <a:rPr lang="hu-H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𝑝𝑐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hu-H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hu-H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𝑛𝑢𝑐𝑙𝑒𝑢𝑠</m:t>
                              </m:r>
                            </m:sub>
                          </m:sSub>
                        </m:den>
                      </m:f>
                      <m:r>
                        <a:rPr lang="hu-H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hu-H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197∙2</m:t>
                          </m:r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hu-H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𝑀𝑒𝑉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=123 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𝑀𝑒𝑉</m:t>
                      </m:r>
                    </m:oMath>
                  </m:oMathPara>
                </a14:m>
                <a:endParaRPr lang="hu-HU" sz="2000" dirty="0"/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E547D517-51B2-F0D9-4D37-05C90E423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308" y="2786258"/>
                <a:ext cx="7326923" cy="7286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433BB977-FA7F-4D76-C082-6E446AE3F2E6}"/>
                  </a:ext>
                </a:extLst>
              </p:cNvPr>
              <p:cNvSpPr txBox="1"/>
              <p:nvPr/>
            </p:nvSpPr>
            <p:spPr>
              <a:xfrm>
                <a:off x="6095999" y="2213142"/>
                <a:ext cx="1711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𝑛𝑢𝑐𝑙𝑒𝑢𝑠</m:t>
                          </m:r>
                        </m:sub>
                      </m:sSub>
                    </m:oMath>
                  </m:oMathPara>
                </a14:m>
                <a:endParaRPr lang="hu-HU" sz="2400" dirty="0"/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433BB977-FA7F-4D76-C082-6E446AE3F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213142"/>
                <a:ext cx="1711569" cy="461665"/>
              </a:xfrm>
              <a:prstGeom prst="rect">
                <a:avLst/>
              </a:prstGeom>
              <a:blipFill>
                <a:blip r:embed="rId3"/>
                <a:stretch>
                  <a:fillRect l="-1068" r="-3915" b="-263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zövegdoboz 6">
            <a:extLst>
              <a:ext uri="{FF2B5EF4-FFF2-40B4-BE49-F238E27FC236}">
                <a16:creationId xmlns:a16="http://schemas.microsoft.com/office/drawing/2014/main" id="{885CF9A6-CFED-4DD8-C1F0-EDB50D67F484}"/>
              </a:ext>
            </a:extLst>
          </p:cNvPr>
          <p:cNvSpPr txBox="1"/>
          <p:nvPr/>
        </p:nvSpPr>
        <p:spPr>
          <a:xfrm>
            <a:off x="715108" y="2314590"/>
            <a:ext cx="44230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How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to</a:t>
            </a:r>
            <a:r>
              <a:rPr lang="hu-HU" dirty="0">
                <a:latin typeface="Book Antiqua" panose="02040602050305030304" pitchFamily="18" charset="0"/>
              </a:rPr>
              <a:t> „</a:t>
            </a:r>
            <a:r>
              <a:rPr lang="hu-HU" dirty="0" err="1">
                <a:latin typeface="Book Antiqua" panose="02040602050305030304" pitchFamily="18" charset="0"/>
              </a:rPr>
              <a:t>look</a:t>
            </a:r>
            <a:r>
              <a:rPr lang="hu-HU" dirty="0">
                <a:latin typeface="Book Antiqua" panose="02040602050305030304" pitchFamily="18" charset="0"/>
              </a:rPr>
              <a:t>” </a:t>
            </a:r>
            <a:r>
              <a:rPr lang="hu-HU" dirty="0" err="1">
                <a:latin typeface="Book Antiqua" panose="02040602050305030304" pitchFamily="18" charset="0"/>
              </a:rPr>
              <a:t>inside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Determine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nuclear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charge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density</a:t>
            </a:r>
            <a:endParaRPr lang="hu-H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BC7866B1-42BF-0C55-EA63-9C628A123787}"/>
                  </a:ext>
                </a:extLst>
              </p:cNvPr>
              <p:cNvSpPr txBox="1"/>
              <p:nvPr/>
            </p:nvSpPr>
            <p:spPr>
              <a:xfrm>
                <a:off x="2209801" y="4452290"/>
                <a:ext cx="2772507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hu-H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hu-H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hu-HU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hu-HU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BC7866B1-42BF-0C55-EA63-9C628A123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1" y="4452290"/>
                <a:ext cx="2772507" cy="6182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zövegdoboz 1">
            <a:extLst>
              <a:ext uri="{FF2B5EF4-FFF2-40B4-BE49-F238E27FC236}">
                <a16:creationId xmlns:a16="http://schemas.microsoft.com/office/drawing/2014/main" id="{2EF3E1D1-658D-2C41-B5E2-EB459EE8051A}"/>
              </a:ext>
            </a:extLst>
          </p:cNvPr>
          <p:cNvSpPr txBox="1"/>
          <p:nvPr/>
        </p:nvSpPr>
        <p:spPr>
          <a:xfrm>
            <a:off x="969994" y="5204996"/>
            <a:ext cx="70368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High-energy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alpha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particle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>
                <a:latin typeface="Book Antiqua" panose="02040602050305030304" pitchFamily="18" charset="0"/>
              </a:rPr>
              <a:t>is </a:t>
            </a:r>
            <a:r>
              <a:rPr lang="hu-HU" dirty="0" err="1">
                <a:latin typeface="Book Antiqua" panose="02040602050305030304" pitchFamily="18" charset="0"/>
              </a:rPr>
              <a:t>not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suitable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alpha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experiences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nuclear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force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upon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approaching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surface</a:t>
            </a:r>
            <a:r>
              <a:rPr lang="hu-HU" dirty="0">
                <a:latin typeface="Book Antiqua" panose="02040602050305030304" pitchFamily="18" charset="0"/>
              </a:rPr>
              <a:t>         </a:t>
            </a:r>
            <a:r>
              <a:rPr lang="hu-HU" dirty="0" err="1">
                <a:latin typeface="Book Antiqua" panose="02040602050305030304" pitchFamily="18" charset="0"/>
              </a:rPr>
              <a:t>anomalous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scattering</a:t>
            </a:r>
            <a:endParaRPr lang="hu-HU" dirty="0">
              <a:latin typeface="Book Antiqua" panose="02040602050305030304" pitchFamily="18" charset="0"/>
            </a:endParaRPr>
          </a:p>
        </p:txBody>
      </p:sp>
      <p:cxnSp>
        <p:nvCxnSpPr>
          <p:cNvPr id="9" name="Egyenes összekötő nyíllal 8">
            <a:extLst>
              <a:ext uri="{FF2B5EF4-FFF2-40B4-BE49-F238E27FC236}">
                <a16:creationId xmlns:a16="http://schemas.microsoft.com/office/drawing/2014/main" id="{6CD170E1-4CA1-B879-AF88-8864F7D38FA0}"/>
              </a:ext>
            </a:extLst>
          </p:cNvPr>
          <p:cNvCxnSpPr/>
          <p:nvPr/>
        </p:nvCxnSpPr>
        <p:spPr>
          <a:xfrm>
            <a:off x="1840523" y="5943600"/>
            <a:ext cx="369278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>
            <a:extLst>
              <a:ext uri="{FF2B5EF4-FFF2-40B4-BE49-F238E27FC236}">
                <a16:creationId xmlns:a16="http://schemas.microsoft.com/office/drawing/2014/main" id="{8F8BF43A-A240-92ED-C42E-BD83D8D5E235}"/>
              </a:ext>
            </a:extLst>
          </p:cNvPr>
          <p:cNvSpPr txBox="1"/>
          <p:nvPr/>
        </p:nvSpPr>
        <p:spPr>
          <a:xfrm>
            <a:off x="7209694" y="4134487"/>
            <a:ext cx="3570208" cy="3693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High-energy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electron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scattering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6BB93B36-6C22-E4FD-8CEF-F7FC0B1804C7}"/>
              </a:ext>
            </a:extLst>
          </p:cNvPr>
          <p:cNvCxnSpPr>
            <a:cxnSpLocks/>
          </p:cNvCxnSpPr>
          <p:nvPr/>
        </p:nvCxnSpPr>
        <p:spPr>
          <a:xfrm flipH="1">
            <a:off x="10607040" y="3429000"/>
            <a:ext cx="614966" cy="177599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B488A6F2-0BB6-AED2-DE61-77006BB2FC72}"/>
              </a:ext>
            </a:extLst>
          </p:cNvPr>
          <p:cNvCxnSpPr>
            <a:cxnSpLocks/>
          </p:cNvCxnSpPr>
          <p:nvPr/>
        </p:nvCxnSpPr>
        <p:spPr>
          <a:xfrm>
            <a:off x="8844106" y="4453715"/>
            <a:ext cx="254174" cy="75128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3B4B0AAB-CEBE-A6CD-5EBB-B82319B83BDD}"/>
              </a:ext>
            </a:extLst>
          </p:cNvPr>
          <p:cNvSpPr txBox="1"/>
          <p:nvPr/>
        </p:nvSpPr>
        <p:spPr>
          <a:xfrm>
            <a:off x="8410798" y="5232419"/>
            <a:ext cx="3461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Relativistic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electron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scattering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on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Coulomb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potential</a:t>
            </a:r>
            <a:endParaRPr lang="hu-H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0" name="Dia számának helye 9">
            <a:extLst>
              <a:ext uri="{FF2B5EF4-FFF2-40B4-BE49-F238E27FC236}">
                <a16:creationId xmlns:a16="http://schemas.microsoft.com/office/drawing/2014/main" id="{4F0093A4-3056-57E6-6549-7C964C11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89252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D9E8D-F11F-0626-E40F-015C336B4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B11AA753-16E1-6F3D-F124-A457C767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density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radius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Hofstädter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experiment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9" name="Dia számának helye 5">
            <a:extLst>
              <a:ext uri="{FF2B5EF4-FFF2-40B4-BE49-F238E27FC236}">
                <a16:creationId xmlns:a16="http://schemas.microsoft.com/office/drawing/2014/main" id="{0BEBC2D0-BB53-0345-E8AB-109D5603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57009" y="5120641"/>
            <a:ext cx="2590800" cy="260350"/>
          </a:xfrm>
        </p:spPr>
        <p:txBody>
          <a:bodyPr/>
          <a:lstStyle/>
          <a:p>
            <a:pPr>
              <a:defRPr/>
            </a:pPr>
            <a:fld id="{7D3FC2B8-BBCC-4019-B49F-9978C59B3E4D}" type="slidenum">
              <a:rPr lang="hu-HU" altLang="hu-HU" smtClean="0"/>
              <a:pPr>
                <a:defRPr/>
              </a:pPr>
              <a:t>39</a:t>
            </a:fld>
            <a:endParaRPr lang="hu-HU" altLang="hu-HU"/>
          </a:p>
        </p:txBody>
      </p:sp>
      <p:grpSp>
        <p:nvGrpSpPr>
          <p:cNvPr id="11" name="Csoportba foglalás 10">
            <a:extLst>
              <a:ext uri="{FF2B5EF4-FFF2-40B4-BE49-F238E27FC236}">
                <a16:creationId xmlns:a16="http://schemas.microsoft.com/office/drawing/2014/main" id="{82D04878-0C85-C9AB-E0F6-A26BEAE56E10}"/>
              </a:ext>
            </a:extLst>
          </p:cNvPr>
          <p:cNvGrpSpPr/>
          <p:nvPr/>
        </p:nvGrpSpPr>
        <p:grpSpPr>
          <a:xfrm>
            <a:off x="3843022" y="2834873"/>
            <a:ext cx="2807010" cy="2695575"/>
            <a:chOff x="2735796" y="3724128"/>
            <a:chExt cx="2807010" cy="2695575"/>
          </a:xfrm>
        </p:grpSpPr>
        <p:pic>
          <p:nvPicPr>
            <p:cNvPr id="12" name="Kép 11">
              <a:extLst>
                <a:ext uri="{FF2B5EF4-FFF2-40B4-BE49-F238E27FC236}">
                  <a16:creationId xmlns:a16="http://schemas.microsoft.com/office/drawing/2014/main" id="{50E10E38-AAEF-BAAD-9790-9A2A0E8DC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75856" y="3724128"/>
              <a:ext cx="2266950" cy="2695575"/>
            </a:xfrm>
            <a:prstGeom prst="rect">
              <a:avLst/>
            </a:prstGeom>
          </p:spPr>
        </p:pic>
        <p:sp>
          <p:nvSpPr>
            <p:cNvPr id="25" name="Jobbra nyíl 14">
              <a:extLst>
                <a:ext uri="{FF2B5EF4-FFF2-40B4-BE49-F238E27FC236}">
                  <a16:creationId xmlns:a16="http://schemas.microsoft.com/office/drawing/2014/main" id="{7E355EA1-D419-9B86-A142-B131E49F7683}"/>
                </a:ext>
              </a:extLst>
            </p:cNvPr>
            <p:cNvSpPr/>
            <p:nvPr/>
          </p:nvSpPr>
          <p:spPr>
            <a:xfrm>
              <a:off x="2735796" y="4581128"/>
              <a:ext cx="540060" cy="1008112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Jobbra nyíl 17">
            <a:extLst>
              <a:ext uri="{FF2B5EF4-FFF2-40B4-BE49-F238E27FC236}">
                <a16:creationId xmlns:a16="http://schemas.microsoft.com/office/drawing/2014/main" id="{836D4E4C-5365-0872-C07C-F0DE53889332}"/>
              </a:ext>
            </a:extLst>
          </p:cNvPr>
          <p:cNvSpPr/>
          <p:nvPr/>
        </p:nvSpPr>
        <p:spPr>
          <a:xfrm>
            <a:off x="7157501" y="3684617"/>
            <a:ext cx="397346" cy="936104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Csoportba foglalás 28">
            <a:extLst>
              <a:ext uri="{FF2B5EF4-FFF2-40B4-BE49-F238E27FC236}">
                <a16:creationId xmlns:a16="http://schemas.microsoft.com/office/drawing/2014/main" id="{4432A035-F0E1-0920-1B2C-0AAE67B69364}"/>
              </a:ext>
            </a:extLst>
          </p:cNvPr>
          <p:cNvGrpSpPr/>
          <p:nvPr/>
        </p:nvGrpSpPr>
        <p:grpSpPr>
          <a:xfrm>
            <a:off x="7335661" y="2723032"/>
            <a:ext cx="3884397" cy="2147649"/>
            <a:chOff x="5571475" y="4450001"/>
            <a:chExt cx="3884397" cy="2147649"/>
          </a:xfrm>
        </p:grpSpPr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57559461-DC1D-BB00-FA7A-17C7551A4932}"/>
                </a:ext>
              </a:extLst>
            </p:cNvPr>
            <p:cNvGrpSpPr/>
            <p:nvPr/>
          </p:nvGrpSpPr>
          <p:grpSpPr>
            <a:xfrm>
              <a:off x="5571475" y="4450001"/>
              <a:ext cx="3884397" cy="1327671"/>
              <a:chOff x="5571475" y="4450001"/>
              <a:chExt cx="3884397" cy="1327671"/>
            </a:xfrm>
          </p:grpSpPr>
          <p:sp>
            <p:nvSpPr>
              <p:cNvPr id="32" name="Szövegdoboz 31">
                <a:extLst>
                  <a:ext uri="{FF2B5EF4-FFF2-40B4-BE49-F238E27FC236}">
                    <a16:creationId xmlns:a16="http://schemas.microsoft.com/office/drawing/2014/main" id="{72276724-4356-9A3C-728E-23CA17FD5317}"/>
                  </a:ext>
                </a:extLst>
              </p:cNvPr>
              <p:cNvSpPr txBox="1"/>
              <p:nvPr/>
            </p:nvSpPr>
            <p:spPr>
              <a:xfrm>
                <a:off x="5571475" y="4450001"/>
                <a:ext cx="38843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sz="2400" b="1" dirty="0" err="1">
                    <a:solidFill>
                      <a:schemeClr val="accent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Woods</a:t>
                </a:r>
                <a:r>
                  <a:rPr lang="hu-HU" sz="2400" b="1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-Saxon</a:t>
                </a:r>
                <a:r>
                  <a:rPr lang="hu-HU" sz="2400" b="1" dirty="0">
                    <a:latin typeface="Book Antiqua" panose="02040602050305030304" pitchFamily="18" charset="0"/>
                  </a:rPr>
                  <a:t> </a:t>
                </a:r>
                <a:r>
                  <a:rPr lang="hu-HU" sz="2400" b="1" dirty="0" err="1">
                    <a:latin typeface="Book Antiqua" panose="02040602050305030304" pitchFamily="18" charset="0"/>
                  </a:rPr>
                  <a:t>distribution</a:t>
                </a:r>
                <a:endParaRPr lang="en-US" sz="2400" b="1" dirty="0">
                  <a:latin typeface="Book Antiqua" panose="02040602050305030304" pitchFamily="18" charset="0"/>
                </a:endParaRPr>
              </a:p>
            </p:txBody>
          </p:sp>
          <p:pic>
            <p:nvPicPr>
              <p:cNvPr id="33" name="Kép 32">
                <a:extLst>
                  <a:ext uri="{FF2B5EF4-FFF2-40B4-BE49-F238E27FC236}">
                    <a16:creationId xmlns:a16="http://schemas.microsoft.com/office/drawing/2014/main" id="{6F53104B-C689-CB2F-CC2B-E5F3DCBACE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21054" y="5043780"/>
                <a:ext cx="1821625" cy="733892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</p:pic>
        </p:grpSp>
        <p:pic>
          <p:nvPicPr>
            <p:cNvPr id="31" name="Kép 30">
              <a:extLst>
                <a:ext uri="{FF2B5EF4-FFF2-40B4-BE49-F238E27FC236}">
                  <a16:creationId xmlns:a16="http://schemas.microsoft.com/office/drawing/2014/main" id="{E49A94E8-AD6D-9337-AA34-91AEB179A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8859" y="5861161"/>
              <a:ext cx="1786891" cy="736489"/>
            </a:xfrm>
            <a:prstGeom prst="rect">
              <a:avLst/>
            </a:prstGeom>
          </p:spPr>
        </p:pic>
      </p:grpSp>
      <p:pic>
        <p:nvPicPr>
          <p:cNvPr id="36" name="Kép 35">
            <a:extLst>
              <a:ext uri="{FF2B5EF4-FFF2-40B4-BE49-F238E27FC236}">
                <a16:creationId xmlns:a16="http://schemas.microsoft.com/office/drawing/2014/main" id="{1EB69DAE-9EAC-5F56-A336-FC87098DCB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858" y="2792917"/>
            <a:ext cx="2314575" cy="2762250"/>
          </a:xfrm>
          <a:prstGeom prst="rect">
            <a:avLst/>
          </a:prstGeom>
        </p:spPr>
      </p:pic>
      <p:sp>
        <p:nvSpPr>
          <p:cNvPr id="37" name="Szövegdoboz 36">
            <a:extLst>
              <a:ext uri="{FF2B5EF4-FFF2-40B4-BE49-F238E27FC236}">
                <a16:creationId xmlns:a16="http://schemas.microsoft.com/office/drawing/2014/main" id="{2A8084FF-F633-DD74-0812-E43509380F5A}"/>
              </a:ext>
            </a:extLst>
          </p:cNvPr>
          <p:cNvSpPr txBox="1"/>
          <p:nvPr/>
        </p:nvSpPr>
        <p:spPr>
          <a:xfrm>
            <a:off x="353743" y="2213848"/>
            <a:ext cx="5820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Result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for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450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MeV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electron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scattering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on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58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Ni (1957):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pic>
        <p:nvPicPr>
          <p:cNvPr id="39" name="Kép 38">
            <a:extLst>
              <a:ext uri="{FF2B5EF4-FFF2-40B4-BE49-F238E27FC236}">
                <a16:creationId xmlns:a16="http://schemas.microsoft.com/office/drawing/2014/main" id="{F53B8E21-6AE6-720D-B50E-DE7D6CF641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571" y="132245"/>
            <a:ext cx="936000" cy="15496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Szövegdoboz 1">
                <a:extLst>
                  <a:ext uri="{FF2B5EF4-FFF2-40B4-BE49-F238E27FC236}">
                    <a16:creationId xmlns:a16="http://schemas.microsoft.com/office/drawing/2014/main" id="{7F757BCE-51C7-E585-3B0B-9C9B17278AA9}"/>
                  </a:ext>
                </a:extLst>
              </p:cNvPr>
              <p:cNvSpPr txBox="1"/>
              <p:nvPr/>
            </p:nvSpPr>
            <p:spPr>
              <a:xfrm>
                <a:off x="8002737" y="5278252"/>
                <a:ext cx="1962460" cy="37965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𝑛𝑢𝑐𝑙𝑒𝑢𝑠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Szövegdoboz 1">
                <a:extLst>
                  <a:ext uri="{FF2B5EF4-FFF2-40B4-BE49-F238E27FC236}">
                    <a16:creationId xmlns:a16="http://schemas.microsoft.com/office/drawing/2014/main" id="{7F757BCE-51C7-E585-3B0B-9C9B17278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737" y="5278252"/>
                <a:ext cx="1962460" cy="3796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Összekötő: görbe 4">
            <a:extLst>
              <a:ext uri="{FF2B5EF4-FFF2-40B4-BE49-F238E27FC236}">
                <a16:creationId xmlns:a16="http://schemas.microsoft.com/office/drawing/2014/main" id="{E215FF89-1DD8-E046-007C-8C7A11B8CB8E}"/>
              </a:ext>
            </a:extLst>
          </p:cNvPr>
          <p:cNvCxnSpPr>
            <a:cxnSpLocks/>
          </p:cNvCxnSpPr>
          <p:nvPr/>
        </p:nvCxnSpPr>
        <p:spPr>
          <a:xfrm rot="5400000">
            <a:off x="7502131" y="4714254"/>
            <a:ext cx="1160048" cy="521779"/>
          </a:xfrm>
          <a:prstGeom prst="curvedConnector4">
            <a:avLst>
              <a:gd name="adj1" fmla="val 41818"/>
              <a:gd name="adj2" fmla="val 1438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3B83C80B-0C25-8D0F-5016-E72DCFEAB86F}"/>
              </a:ext>
            </a:extLst>
          </p:cNvPr>
          <p:cNvSpPr txBox="1"/>
          <p:nvPr/>
        </p:nvSpPr>
        <p:spPr>
          <a:xfrm>
            <a:off x="10039783" y="4195929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≡R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F38A3D78-5310-3931-A6A2-65E0252F83EB}"/>
                  </a:ext>
                </a:extLst>
              </p:cNvPr>
              <p:cNvSpPr txBox="1"/>
              <p:nvPr/>
            </p:nvSpPr>
            <p:spPr>
              <a:xfrm>
                <a:off x="2522293" y="5380991"/>
                <a:ext cx="2772507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den>
                          </m:f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</m:t>
                          </m:r>
                          <m:sSub>
                            <m:sSubPr>
                              <m:ctrlPr>
                                <a:rPr lang="hu-H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hu-HU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hu-H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e>
                        <m:sub/>
                      </m:sSub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F38A3D78-5310-3931-A6A2-65E0252F8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293" y="5380991"/>
                <a:ext cx="2772507" cy="6182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85D2C085-FEC5-CCF5-D63C-7A8287228C0B}"/>
              </a:ext>
            </a:extLst>
          </p:cNvPr>
          <p:cNvCxnSpPr/>
          <p:nvPr/>
        </p:nvCxnSpPr>
        <p:spPr>
          <a:xfrm>
            <a:off x="3478696" y="5695045"/>
            <a:ext cx="2882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2097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E463D-8BD2-56DC-7598-667EDB32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D679113A-5FF1-264F-C034-D9745321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density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radius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Hofstädter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experiment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9" name="Dia számának helye 5">
            <a:extLst>
              <a:ext uri="{FF2B5EF4-FFF2-40B4-BE49-F238E27FC236}">
                <a16:creationId xmlns:a16="http://schemas.microsoft.com/office/drawing/2014/main" id="{8473E342-EA44-299F-B2A1-73F1C31F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9527" y="4966095"/>
            <a:ext cx="2590800" cy="260350"/>
          </a:xfrm>
        </p:spPr>
        <p:txBody>
          <a:bodyPr/>
          <a:lstStyle/>
          <a:p>
            <a:pPr>
              <a:defRPr/>
            </a:pPr>
            <a:fld id="{7D3FC2B8-BBCC-4019-B49F-9978C59B3E4D}" type="slidenum">
              <a:rPr lang="hu-HU" altLang="hu-HU" smtClean="0"/>
              <a:pPr>
                <a:defRPr/>
              </a:pPr>
              <a:t>40</a:t>
            </a:fld>
            <a:endParaRPr lang="hu-HU" altLang="hu-HU"/>
          </a:p>
        </p:txBody>
      </p:sp>
      <p:grpSp>
        <p:nvGrpSpPr>
          <p:cNvPr id="29" name="Csoportba foglalás 28">
            <a:extLst>
              <a:ext uri="{FF2B5EF4-FFF2-40B4-BE49-F238E27FC236}">
                <a16:creationId xmlns:a16="http://schemas.microsoft.com/office/drawing/2014/main" id="{D6CF0C92-E5BA-DBCE-599B-6CCF431E0F5F}"/>
              </a:ext>
            </a:extLst>
          </p:cNvPr>
          <p:cNvGrpSpPr/>
          <p:nvPr/>
        </p:nvGrpSpPr>
        <p:grpSpPr>
          <a:xfrm>
            <a:off x="4153801" y="2082734"/>
            <a:ext cx="3884397" cy="2147649"/>
            <a:chOff x="5571475" y="4450001"/>
            <a:chExt cx="3884397" cy="2147649"/>
          </a:xfrm>
        </p:grpSpPr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E0205885-80B4-6529-DFD9-43983C1E70C3}"/>
                </a:ext>
              </a:extLst>
            </p:cNvPr>
            <p:cNvGrpSpPr/>
            <p:nvPr/>
          </p:nvGrpSpPr>
          <p:grpSpPr>
            <a:xfrm>
              <a:off x="5571475" y="4450001"/>
              <a:ext cx="3884397" cy="1327671"/>
              <a:chOff x="5571475" y="4450001"/>
              <a:chExt cx="3884397" cy="1327671"/>
            </a:xfrm>
          </p:grpSpPr>
          <p:sp>
            <p:nvSpPr>
              <p:cNvPr id="32" name="Szövegdoboz 31">
                <a:extLst>
                  <a:ext uri="{FF2B5EF4-FFF2-40B4-BE49-F238E27FC236}">
                    <a16:creationId xmlns:a16="http://schemas.microsoft.com/office/drawing/2014/main" id="{AA0DA8D9-60C0-B851-12A1-071E764A156E}"/>
                  </a:ext>
                </a:extLst>
              </p:cNvPr>
              <p:cNvSpPr txBox="1"/>
              <p:nvPr/>
            </p:nvSpPr>
            <p:spPr>
              <a:xfrm>
                <a:off x="5571475" y="4450001"/>
                <a:ext cx="38843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sz="2400" b="1" dirty="0" err="1">
                    <a:solidFill>
                      <a:schemeClr val="accent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Woods</a:t>
                </a:r>
                <a:r>
                  <a:rPr lang="hu-HU" sz="2400" b="1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-Saxon</a:t>
                </a:r>
                <a:r>
                  <a:rPr lang="hu-HU" sz="2400" b="1" dirty="0">
                    <a:latin typeface="Book Antiqua" panose="02040602050305030304" pitchFamily="18" charset="0"/>
                  </a:rPr>
                  <a:t> </a:t>
                </a:r>
                <a:r>
                  <a:rPr lang="hu-HU" sz="2400" b="1" dirty="0" err="1">
                    <a:latin typeface="Book Antiqua" panose="02040602050305030304" pitchFamily="18" charset="0"/>
                  </a:rPr>
                  <a:t>distribution</a:t>
                </a:r>
                <a:endParaRPr lang="en-US" sz="2400" b="1" dirty="0">
                  <a:latin typeface="Book Antiqua" panose="02040602050305030304" pitchFamily="18" charset="0"/>
                </a:endParaRPr>
              </a:p>
            </p:txBody>
          </p:sp>
          <p:pic>
            <p:nvPicPr>
              <p:cNvPr id="33" name="Kép 32">
                <a:extLst>
                  <a:ext uri="{FF2B5EF4-FFF2-40B4-BE49-F238E27FC236}">
                    <a16:creationId xmlns:a16="http://schemas.microsoft.com/office/drawing/2014/main" id="{4B33D223-95F8-2788-0686-27C025BB8E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21054" y="5043780"/>
                <a:ext cx="1821625" cy="733892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</p:pic>
        </p:grpSp>
        <p:pic>
          <p:nvPicPr>
            <p:cNvPr id="31" name="Kép 30">
              <a:extLst>
                <a:ext uri="{FF2B5EF4-FFF2-40B4-BE49-F238E27FC236}">
                  <a16:creationId xmlns:a16="http://schemas.microsoft.com/office/drawing/2014/main" id="{99145DEF-1281-4FFF-871E-996602711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8859" y="5861161"/>
              <a:ext cx="1786891" cy="736489"/>
            </a:xfrm>
            <a:prstGeom prst="rect">
              <a:avLst/>
            </a:prstGeom>
          </p:spPr>
        </p:pic>
      </p:grpSp>
      <p:pic>
        <p:nvPicPr>
          <p:cNvPr id="39" name="Kép 38">
            <a:extLst>
              <a:ext uri="{FF2B5EF4-FFF2-40B4-BE49-F238E27FC236}">
                <a16:creationId xmlns:a16="http://schemas.microsoft.com/office/drawing/2014/main" id="{1E775EE6-3109-5E24-DDC1-F597A3DDE4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571" y="132245"/>
            <a:ext cx="936000" cy="15496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Szövegdoboz 1">
                <a:extLst>
                  <a:ext uri="{FF2B5EF4-FFF2-40B4-BE49-F238E27FC236}">
                    <a16:creationId xmlns:a16="http://schemas.microsoft.com/office/drawing/2014/main" id="{725C3341-1C96-C46F-FF85-CA17FAC64DD8}"/>
                  </a:ext>
                </a:extLst>
              </p:cNvPr>
              <p:cNvSpPr txBox="1"/>
              <p:nvPr/>
            </p:nvSpPr>
            <p:spPr>
              <a:xfrm>
                <a:off x="4808682" y="5050271"/>
                <a:ext cx="1962460" cy="37965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𝑛𝑢𝑐𝑙𝑒𝑢𝑠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Szövegdoboz 1">
                <a:extLst>
                  <a:ext uri="{FF2B5EF4-FFF2-40B4-BE49-F238E27FC236}">
                    <a16:creationId xmlns:a16="http://schemas.microsoft.com/office/drawing/2014/main" id="{725C3341-1C96-C46F-FF85-CA17FAC64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682" y="5050271"/>
                <a:ext cx="1962460" cy="3796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Összekötő: görbe 4">
            <a:extLst>
              <a:ext uri="{FF2B5EF4-FFF2-40B4-BE49-F238E27FC236}">
                <a16:creationId xmlns:a16="http://schemas.microsoft.com/office/drawing/2014/main" id="{628562F9-4DC9-11AE-3066-51EDC225CD03}"/>
              </a:ext>
            </a:extLst>
          </p:cNvPr>
          <p:cNvCxnSpPr>
            <a:cxnSpLocks/>
          </p:cNvCxnSpPr>
          <p:nvPr/>
        </p:nvCxnSpPr>
        <p:spPr>
          <a:xfrm rot="5400000">
            <a:off x="4537671" y="4119467"/>
            <a:ext cx="1159052" cy="534205"/>
          </a:xfrm>
          <a:prstGeom prst="curvedConnector3">
            <a:avLst>
              <a:gd name="adj1" fmla="val 55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81591ABD-8E8E-3B07-6BBF-F3BFE1F4BEC5}"/>
              </a:ext>
            </a:extLst>
          </p:cNvPr>
          <p:cNvSpPr txBox="1"/>
          <p:nvPr/>
        </p:nvSpPr>
        <p:spPr>
          <a:xfrm>
            <a:off x="6789507" y="3550948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≡R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8937646B-A31C-DAF7-6D74-C2A76DFBF8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5005" y="4820371"/>
            <a:ext cx="1368000" cy="676875"/>
          </a:xfrm>
          <a:prstGeom prst="rect">
            <a:avLst/>
          </a:prstGeom>
        </p:spPr>
      </p:pic>
      <p:sp>
        <p:nvSpPr>
          <p:cNvPr id="45" name="Szövegdoboz 44">
            <a:extLst>
              <a:ext uri="{FF2B5EF4-FFF2-40B4-BE49-F238E27FC236}">
                <a16:creationId xmlns:a16="http://schemas.microsoft.com/office/drawing/2014/main" id="{E64CD279-3DB2-2315-4A1F-F18C93B18118}"/>
              </a:ext>
            </a:extLst>
          </p:cNvPr>
          <p:cNvSpPr txBox="1"/>
          <p:nvPr/>
        </p:nvSpPr>
        <p:spPr>
          <a:xfrm>
            <a:off x="4977761" y="5642970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Density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independent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A</a:t>
            </a:r>
          </a:p>
        </p:txBody>
      </p:sp>
      <p:pic>
        <p:nvPicPr>
          <p:cNvPr id="47" name="Kép 46">
            <a:extLst>
              <a:ext uri="{FF2B5EF4-FFF2-40B4-BE49-F238E27FC236}">
                <a16:creationId xmlns:a16="http://schemas.microsoft.com/office/drawing/2014/main" id="{9626D90F-69B4-E4BA-ED79-BA3E477002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015" y="2282283"/>
            <a:ext cx="3348000" cy="3468802"/>
          </a:xfrm>
          <a:prstGeom prst="rect">
            <a:avLst/>
          </a:prstGeom>
        </p:spPr>
      </p:pic>
      <p:pic>
        <p:nvPicPr>
          <p:cNvPr id="50" name="Kép 49">
            <a:extLst>
              <a:ext uri="{FF2B5EF4-FFF2-40B4-BE49-F238E27FC236}">
                <a16:creationId xmlns:a16="http://schemas.microsoft.com/office/drawing/2014/main" id="{2CF9D7C4-0FC2-95AE-66CF-C49617CFA1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7066" y="1972395"/>
            <a:ext cx="2592000" cy="2535012"/>
          </a:xfrm>
          <a:prstGeom prst="rect">
            <a:avLst/>
          </a:prstGeom>
        </p:spPr>
      </p:pic>
      <p:sp>
        <p:nvSpPr>
          <p:cNvPr id="51" name="Szövegdoboz 50">
            <a:extLst>
              <a:ext uri="{FF2B5EF4-FFF2-40B4-BE49-F238E27FC236}">
                <a16:creationId xmlns:a16="http://schemas.microsoft.com/office/drawing/2014/main" id="{8EBD3A77-DDE4-0EA6-DD87-ECD2D2CD7FDA}"/>
              </a:ext>
            </a:extLst>
          </p:cNvPr>
          <p:cNvSpPr txBox="1"/>
          <p:nvPr/>
        </p:nvSpPr>
        <p:spPr>
          <a:xfrm>
            <a:off x="8591612" y="4591828"/>
            <a:ext cx="3443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 </a:t>
            </a:r>
            <a:r>
              <a:rPr lang="hu-H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smaller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„</a:t>
            </a:r>
            <a:r>
              <a:rPr lang="hu-HU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d”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closer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we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get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to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homogeneous</a:t>
            </a:r>
            <a:r>
              <a:rPr lang="hu-HU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charge</a:t>
            </a:r>
            <a:r>
              <a:rPr lang="hu-HU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distribution</a:t>
            </a:r>
            <a:endParaRPr lang="hu-HU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CE0900E2-B2D0-D60A-6ACE-9BC5CE776901}"/>
              </a:ext>
            </a:extLst>
          </p:cNvPr>
          <p:cNvSpPr txBox="1"/>
          <p:nvPr/>
        </p:nvSpPr>
        <p:spPr>
          <a:xfrm>
            <a:off x="8788678" y="5517768"/>
            <a:ext cx="26287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Good </a:t>
            </a:r>
            <a:r>
              <a:rPr lang="hu-HU" sz="14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approximation</a:t>
            </a:r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 over a </a:t>
            </a:r>
            <a:r>
              <a:rPr lang="hu-HU" sz="14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large</a:t>
            </a:r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region</a:t>
            </a:r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 of </a:t>
            </a:r>
            <a:r>
              <a:rPr lang="hu-HU" sz="14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the</a:t>
            </a:r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nucleus</a:t>
            </a:r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; </a:t>
            </a:r>
            <a:r>
              <a:rPr lang="hu-HU" sz="14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diviation</a:t>
            </a:r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around</a:t>
            </a:r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 R</a:t>
            </a:r>
          </a:p>
        </p:txBody>
      </p:sp>
      <p:cxnSp>
        <p:nvCxnSpPr>
          <p:cNvPr id="53" name="Egyenes összekötő nyíllal 52">
            <a:extLst>
              <a:ext uri="{FF2B5EF4-FFF2-40B4-BE49-F238E27FC236}">
                <a16:creationId xmlns:a16="http://schemas.microsoft.com/office/drawing/2014/main" id="{AF311AAE-EC14-8B13-7D5C-E96632A37139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10013590" y="5145690"/>
            <a:ext cx="89476" cy="372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349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F5E57-5B6B-D5FF-5633-758EA925E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EE0975FA-B48B-5F6A-F053-A6912C4B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density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radius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Hofstädter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experiment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9" name="Dia számának helye 5">
            <a:extLst>
              <a:ext uri="{FF2B5EF4-FFF2-40B4-BE49-F238E27FC236}">
                <a16:creationId xmlns:a16="http://schemas.microsoft.com/office/drawing/2014/main" id="{11936F3D-7C21-9D0B-3AEC-3A8864DA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9527" y="4966095"/>
            <a:ext cx="2590800" cy="260350"/>
          </a:xfrm>
        </p:spPr>
        <p:txBody>
          <a:bodyPr/>
          <a:lstStyle/>
          <a:p>
            <a:pPr>
              <a:defRPr/>
            </a:pPr>
            <a:fld id="{7D3FC2B8-BBCC-4019-B49F-9978C59B3E4D}" type="slidenum">
              <a:rPr lang="hu-HU" altLang="hu-HU" smtClean="0"/>
              <a:pPr>
                <a:defRPr/>
              </a:pPr>
              <a:t>41</a:t>
            </a:fld>
            <a:endParaRPr lang="hu-HU" altLang="hu-HU"/>
          </a:p>
        </p:txBody>
      </p:sp>
      <p:grpSp>
        <p:nvGrpSpPr>
          <p:cNvPr id="29" name="Csoportba foglalás 28">
            <a:extLst>
              <a:ext uri="{FF2B5EF4-FFF2-40B4-BE49-F238E27FC236}">
                <a16:creationId xmlns:a16="http://schemas.microsoft.com/office/drawing/2014/main" id="{3780E151-8195-868B-5849-612B0D1ED2A2}"/>
              </a:ext>
            </a:extLst>
          </p:cNvPr>
          <p:cNvGrpSpPr/>
          <p:nvPr/>
        </p:nvGrpSpPr>
        <p:grpSpPr>
          <a:xfrm>
            <a:off x="4153801" y="2082734"/>
            <a:ext cx="3884397" cy="2147649"/>
            <a:chOff x="5571475" y="4450001"/>
            <a:chExt cx="3884397" cy="2147649"/>
          </a:xfrm>
        </p:grpSpPr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FDECAD16-EFF7-1D3E-7458-345ABB1EF389}"/>
                </a:ext>
              </a:extLst>
            </p:cNvPr>
            <p:cNvGrpSpPr/>
            <p:nvPr/>
          </p:nvGrpSpPr>
          <p:grpSpPr>
            <a:xfrm>
              <a:off x="5571475" y="4450001"/>
              <a:ext cx="3884397" cy="1327671"/>
              <a:chOff x="5571475" y="4450001"/>
              <a:chExt cx="3884397" cy="1327671"/>
            </a:xfrm>
          </p:grpSpPr>
          <p:sp>
            <p:nvSpPr>
              <p:cNvPr id="32" name="Szövegdoboz 31">
                <a:extLst>
                  <a:ext uri="{FF2B5EF4-FFF2-40B4-BE49-F238E27FC236}">
                    <a16:creationId xmlns:a16="http://schemas.microsoft.com/office/drawing/2014/main" id="{EF536033-047E-FA19-A74A-C4AFF2624B6D}"/>
                  </a:ext>
                </a:extLst>
              </p:cNvPr>
              <p:cNvSpPr txBox="1"/>
              <p:nvPr/>
            </p:nvSpPr>
            <p:spPr>
              <a:xfrm>
                <a:off x="5571475" y="4450001"/>
                <a:ext cx="38843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sz="2400" b="1" dirty="0" err="1">
                    <a:solidFill>
                      <a:schemeClr val="accent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Woods</a:t>
                </a:r>
                <a:r>
                  <a:rPr lang="hu-HU" sz="2400" b="1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-Saxon</a:t>
                </a:r>
                <a:r>
                  <a:rPr lang="hu-HU" sz="2400" b="1" dirty="0">
                    <a:latin typeface="Book Antiqua" panose="02040602050305030304" pitchFamily="18" charset="0"/>
                  </a:rPr>
                  <a:t> </a:t>
                </a:r>
                <a:r>
                  <a:rPr lang="hu-HU" sz="2400" b="1" dirty="0" err="1">
                    <a:latin typeface="Book Antiqua" panose="02040602050305030304" pitchFamily="18" charset="0"/>
                  </a:rPr>
                  <a:t>distribution</a:t>
                </a:r>
                <a:endParaRPr lang="en-US" sz="2400" b="1" dirty="0">
                  <a:latin typeface="Book Antiqua" panose="02040602050305030304" pitchFamily="18" charset="0"/>
                </a:endParaRPr>
              </a:p>
            </p:txBody>
          </p:sp>
          <p:pic>
            <p:nvPicPr>
              <p:cNvPr id="33" name="Kép 32">
                <a:extLst>
                  <a:ext uri="{FF2B5EF4-FFF2-40B4-BE49-F238E27FC236}">
                    <a16:creationId xmlns:a16="http://schemas.microsoft.com/office/drawing/2014/main" id="{531FE812-224C-2059-A819-D7926C2C0C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521054" y="5043780"/>
                <a:ext cx="1821625" cy="733892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</p:pic>
        </p:grpSp>
        <p:pic>
          <p:nvPicPr>
            <p:cNvPr id="31" name="Kép 30">
              <a:extLst>
                <a:ext uri="{FF2B5EF4-FFF2-40B4-BE49-F238E27FC236}">
                  <a16:creationId xmlns:a16="http://schemas.microsoft.com/office/drawing/2014/main" id="{152FBF61-1482-DB56-8B45-7EC8FE2DF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78859" y="5861161"/>
              <a:ext cx="1786891" cy="736489"/>
            </a:xfrm>
            <a:prstGeom prst="rect">
              <a:avLst/>
            </a:prstGeom>
          </p:spPr>
        </p:pic>
      </p:grpSp>
      <p:pic>
        <p:nvPicPr>
          <p:cNvPr id="39" name="Kép 38">
            <a:extLst>
              <a:ext uri="{FF2B5EF4-FFF2-40B4-BE49-F238E27FC236}">
                <a16:creationId xmlns:a16="http://schemas.microsoft.com/office/drawing/2014/main" id="{3860F814-DF6A-8C9A-3BB9-B3CAD605EC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571" y="132245"/>
            <a:ext cx="936000" cy="15496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Szövegdoboz 1">
                <a:extLst>
                  <a:ext uri="{FF2B5EF4-FFF2-40B4-BE49-F238E27FC236}">
                    <a16:creationId xmlns:a16="http://schemas.microsoft.com/office/drawing/2014/main" id="{E8BDDB13-BA11-0528-1F93-98AB65620A48}"/>
                  </a:ext>
                </a:extLst>
              </p:cNvPr>
              <p:cNvSpPr txBox="1"/>
              <p:nvPr/>
            </p:nvSpPr>
            <p:spPr>
              <a:xfrm>
                <a:off x="4808682" y="5050271"/>
                <a:ext cx="1962460" cy="37965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𝑛𝑢𝑐𝑙𝑒𝑢𝑠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Szövegdoboz 1">
                <a:extLst>
                  <a:ext uri="{FF2B5EF4-FFF2-40B4-BE49-F238E27FC236}">
                    <a16:creationId xmlns:a16="http://schemas.microsoft.com/office/drawing/2014/main" id="{E8BDDB13-BA11-0528-1F93-98AB65620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682" y="5050271"/>
                <a:ext cx="1962460" cy="379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Összekötő: görbe 4">
            <a:extLst>
              <a:ext uri="{FF2B5EF4-FFF2-40B4-BE49-F238E27FC236}">
                <a16:creationId xmlns:a16="http://schemas.microsoft.com/office/drawing/2014/main" id="{21F8B33A-499D-283C-751D-FB0FBB93A1F0}"/>
              </a:ext>
            </a:extLst>
          </p:cNvPr>
          <p:cNvCxnSpPr>
            <a:cxnSpLocks/>
          </p:cNvCxnSpPr>
          <p:nvPr/>
        </p:nvCxnSpPr>
        <p:spPr>
          <a:xfrm rot="5400000">
            <a:off x="4537671" y="4119467"/>
            <a:ext cx="1159052" cy="534205"/>
          </a:xfrm>
          <a:prstGeom prst="curvedConnector3">
            <a:avLst>
              <a:gd name="adj1" fmla="val 55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2567E1F1-F492-29A2-E7F6-B12A2EC1EC6C}"/>
              </a:ext>
            </a:extLst>
          </p:cNvPr>
          <p:cNvSpPr txBox="1"/>
          <p:nvPr/>
        </p:nvSpPr>
        <p:spPr>
          <a:xfrm>
            <a:off x="6789507" y="3550948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≡R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A95FDD4B-B526-A7A0-5685-7D9E81835B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5005" y="4820371"/>
            <a:ext cx="1368000" cy="676875"/>
          </a:xfrm>
          <a:prstGeom prst="rect">
            <a:avLst/>
          </a:prstGeom>
        </p:spPr>
      </p:pic>
      <p:sp>
        <p:nvSpPr>
          <p:cNvPr id="45" name="Szövegdoboz 44">
            <a:extLst>
              <a:ext uri="{FF2B5EF4-FFF2-40B4-BE49-F238E27FC236}">
                <a16:creationId xmlns:a16="http://schemas.microsoft.com/office/drawing/2014/main" id="{CD922E44-7E0A-9C19-86EE-345BD0A78581}"/>
              </a:ext>
            </a:extLst>
          </p:cNvPr>
          <p:cNvSpPr txBox="1"/>
          <p:nvPr/>
        </p:nvSpPr>
        <p:spPr>
          <a:xfrm>
            <a:off x="4977761" y="5642970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Density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independent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A</a:t>
            </a:r>
          </a:p>
        </p:txBody>
      </p:sp>
      <p:pic>
        <p:nvPicPr>
          <p:cNvPr id="50" name="Kép 49">
            <a:extLst>
              <a:ext uri="{FF2B5EF4-FFF2-40B4-BE49-F238E27FC236}">
                <a16:creationId xmlns:a16="http://schemas.microsoft.com/office/drawing/2014/main" id="{E53898A5-FC73-E69D-5D04-7DA65490C0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7066" y="1972395"/>
            <a:ext cx="2592000" cy="2535012"/>
          </a:xfrm>
          <a:prstGeom prst="rect">
            <a:avLst/>
          </a:prstGeom>
        </p:spPr>
      </p:pic>
      <p:sp>
        <p:nvSpPr>
          <p:cNvPr id="51" name="Szövegdoboz 50">
            <a:extLst>
              <a:ext uri="{FF2B5EF4-FFF2-40B4-BE49-F238E27FC236}">
                <a16:creationId xmlns:a16="http://schemas.microsoft.com/office/drawing/2014/main" id="{E834E264-927D-24E5-06DB-D904283AEDD8}"/>
              </a:ext>
            </a:extLst>
          </p:cNvPr>
          <p:cNvSpPr txBox="1"/>
          <p:nvPr/>
        </p:nvSpPr>
        <p:spPr>
          <a:xfrm>
            <a:off x="8591612" y="4591828"/>
            <a:ext cx="3443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 </a:t>
            </a:r>
            <a:r>
              <a:rPr lang="hu-H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smaller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„</a:t>
            </a:r>
            <a:r>
              <a:rPr lang="hu-HU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d”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closer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we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get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to</a:t>
            </a:r>
            <a:r>
              <a:rPr lang="hu-H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homogeneous</a:t>
            </a:r>
            <a:r>
              <a:rPr lang="hu-HU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charge</a:t>
            </a:r>
            <a:r>
              <a:rPr lang="hu-HU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distribution</a:t>
            </a:r>
            <a:endParaRPr lang="hu-HU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D1062842-C9C3-C585-1EF1-28E0FAB9696F}"/>
              </a:ext>
            </a:extLst>
          </p:cNvPr>
          <p:cNvSpPr txBox="1"/>
          <p:nvPr/>
        </p:nvSpPr>
        <p:spPr>
          <a:xfrm>
            <a:off x="8788678" y="5517768"/>
            <a:ext cx="26287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Good </a:t>
            </a:r>
            <a:r>
              <a:rPr lang="hu-HU" sz="14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approximation</a:t>
            </a:r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 over a </a:t>
            </a:r>
            <a:r>
              <a:rPr lang="hu-HU" sz="14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large</a:t>
            </a:r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region</a:t>
            </a:r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 of </a:t>
            </a:r>
            <a:r>
              <a:rPr lang="hu-HU" sz="14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the</a:t>
            </a:r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nucleus</a:t>
            </a:r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; </a:t>
            </a:r>
            <a:r>
              <a:rPr lang="hu-HU" sz="14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diviation</a:t>
            </a:r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around</a:t>
            </a:r>
            <a:r>
              <a:rPr lang="hu-HU" sz="1400" dirty="0">
                <a:solidFill>
                  <a:srgbClr val="C00000"/>
                </a:solidFill>
                <a:latin typeface="Book Antiqua" panose="02040602050305030304" pitchFamily="18" charset="0"/>
              </a:rPr>
              <a:t> R</a:t>
            </a:r>
          </a:p>
        </p:txBody>
      </p:sp>
      <p:cxnSp>
        <p:nvCxnSpPr>
          <p:cNvPr id="53" name="Egyenes összekötő nyíllal 52">
            <a:extLst>
              <a:ext uri="{FF2B5EF4-FFF2-40B4-BE49-F238E27FC236}">
                <a16:creationId xmlns:a16="http://schemas.microsoft.com/office/drawing/2014/main" id="{EBC86DE1-0C9A-4F16-8939-DEE71185488F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10013590" y="5145690"/>
            <a:ext cx="89476" cy="372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EBCA7F6F-3056-6A03-27E5-1C3ED44523D9}"/>
              </a:ext>
            </a:extLst>
          </p:cNvPr>
          <p:cNvGrpSpPr/>
          <p:nvPr/>
        </p:nvGrpSpPr>
        <p:grpSpPr>
          <a:xfrm>
            <a:off x="411574" y="1972395"/>
            <a:ext cx="3393211" cy="4173698"/>
            <a:chOff x="278937" y="2853234"/>
            <a:chExt cx="3393211" cy="4173698"/>
          </a:xfrm>
        </p:grpSpPr>
        <p:pic>
          <p:nvPicPr>
            <p:cNvPr id="6" name="Kép 5">
              <a:extLst>
                <a:ext uri="{FF2B5EF4-FFF2-40B4-BE49-F238E27FC236}">
                  <a16:creationId xmlns:a16="http://schemas.microsoft.com/office/drawing/2014/main" id="{C9D88047-8854-4D57-54BA-F9E1D4186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1097" y="3444697"/>
              <a:ext cx="2954338" cy="3582235"/>
            </a:xfrm>
            <a:prstGeom prst="rect">
              <a:avLst/>
            </a:prstGeom>
          </p:spPr>
        </p:pic>
        <p:sp>
          <p:nvSpPr>
            <p:cNvPr id="7" name="Szövegdoboz 6">
              <a:extLst>
                <a:ext uri="{FF2B5EF4-FFF2-40B4-BE49-F238E27FC236}">
                  <a16:creationId xmlns:a16="http://schemas.microsoft.com/office/drawing/2014/main" id="{666DF11D-62EC-49E5-489C-243D9C167C6D}"/>
                </a:ext>
              </a:extLst>
            </p:cNvPr>
            <p:cNvSpPr txBox="1"/>
            <p:nvPr/>
          </p:nvSpPr>
          <p:spPr>
            <a:xfrm>
              <a:off x="278937" y="2853234"/>
              <a:ext cx="33932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Measurement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for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different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isotopes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:</a:t>
              </a:r>
              <a:endPara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08540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6D8019-E247-7878-DABA-2B530B3C9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latin typeface="Book Antiqua" panose="02040602050305030304" pitchFamily="18" charset="0"/>
              </a:rPr>
              <a:t>Nuclear</a:t>
            </a:r>
            <a:r>
              <a:rPr lang="hu-HU" b="1" dirty="0">
                <a:latin typeface="Book Antiqua" panose="02040602050305030304" pitchFamily="18" charset="0"/>
              </a:rPr>
              <a:t> spin </a:t>
            </a:r>
            <a:r>
              <a:rPr lang="hu-HU" dirty="0">
                <a:latin typeface="Book Antiqua" panose="02040602050305030304" pitchFamily="18" charset="0"/>
              </a:rPr>
              <a:t>and </a:t>
            </a:r>
            <a:r>
              <a:rPr lang="hu-HU" dirty="0" err="1">
                <a:latin typeface="Book Antiqua" panose="02040602050305030304" pitchFamily="18" charset="0"/>
              </a:rPr>
              <a:t>magnetic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moment</a:t>
            </a:r>
            <a:endParaRPr lang="hu-HU" dirty="0">
              <a:latin typeface="Book Antiqua" panose="02040602050305030304" pitchFamily="18" charset="0"/>
            </a:endParaRPr>
          </a:p>
        </p:txBody>
      </p:sp>
      <p:grpSp>
        <p:nvGrpSpPr>
          <p:cNvPr id="33" name="Csoportba foglalás 32">
            <a:extLst>
              <a:ext uri="{FF2B5EF4-FFF2-40B4-BE49-F238E27FC236}">
                <a16:creationId xmlns:a16="http://schemas.microsoft.com/office/drawing/2014/main" id="{F63B0C30-D013-42CE-8305-6C49F5EE9690}"/>
              </a:ext>
            </a:extLst>
          </p:cNvPr>
          <p:cNvGrpSpPr/>
          <p:nvPr/>
        </p:nvGrpSpPr>
        <p:grpSpPr>
          <a:xfrm>
            <a:off x="2559382" y="1871554"/>
            <a:ext cx="5011128" cy="572144"/>
            <a:chOff x="-563743" y="919807"/>
            <a:chExt cx="5011128" cy="572144"/>
          </a:xfrm>
        </p:grpSpPr>
        <p:sp>
          <p:nvSpPr>
            <p:cNvPr id="34" name="Szövegdoboz 33">
              <a:extLst>
                <a:ext uri="{FF2B5EF4-FFF2-40B4-BE49-F238E27FC236}">
                  <a16:creationId xmlns:a16="http://schemas.microsoft.com/office/drawing/2014/main" id="{C57C4278-6D47-3054-E068-62084C668F3E}"/>
                </a:ext>
              </a:extLst>
            </p:cNvPr>
            <p:cNvSpPr txBox="1"/>
            <p:nvPr/>
          </p:nvSpPr>
          <p:spPr>
            <a:xfrm>
              <a:off x="-563743" y="1040578"/>
              <a:ext cx="2820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Nuclear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-spin </a:t>
              </a:r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eigenstates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:</a:t>
              </a:r>
              <a:endPara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églalap 34">
                  <a:extLst>
                    <a:ext uri="{FF2B5EF4-FFF2-40B4-BE49-F238E27FC236}">
                      <a16:creationId xmlns:a16="http://schemas.microsoft.com/office/drawing/2014/main" id="{964DA572-70FE-C3F5-7DEF-A4CC7116C3D4}"/>
                    </a:ext>
                  </a:extLst>
                </p:cNvPr>
                <p:cNvSpPr/>
                <p:nvPr/>
              </p:nvSpPr>
              <p:spPr>
                <a:xfrm>
                  <a:off x="2058911" y="919807"/>
                  <a:ext cx="2388474" cy="5721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  <m:r>
                          <a:rPr lang="hu-H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Sup>
                          <m:sSubSupPr>
                            <m:ctrlPr>
                              <a:rPr lang="hu-H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hu-H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d>
                          <m:dPr>
                            <m:begChr m:val=""/>
                            <m:endChr m:val="⟩"/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hu-H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hu-H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églalap 34">
                  <a:extLst>
                    <a:ext uri="{FF2B5EF4-FFF2-40B4-BE49-F238E27FC236}">
                      <a16:creationId xmlns:a16="http://schemas.microsoft.com/office/drawing/2014/main" id="{964DA572-70FE-C3F5-7DEF-A4CC7116C3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8911" y="919807"/>
                  <a:ext cx="2388474" cy="57214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Csoportba foglalás 35">
            <a:extLst>
              <a:ext uri="{FF2B5EF4-FFF2-40B4-BE49-F238E27FC236}">
                <a16:creationId xmlns:a16="http://schemas.microsoft.com/office/drawing/2014/main" id="{B895E383-78B2-6F26-0CBD-8A359DA4F60C}"/>
              </a:ext>
            </a:extLst>
          </p:cNvPr>
          <p:cNvGrpSpPr/>
          <p:nvPr/>
        </p:nvGrpSpPr>
        <p:grpSpPr>
          <a:xfrm>
            <a:off x="4286478" y="2372803"/>
            <a:ext cx="7231361" cy="670291"/>
            <a:chOff x="827584" y="1705454"/>
            <a:chExt cx="7299082" cy="670291"/>
          </a:xfrm>
        </p:grpSpPr>
        <p:cxnSp>
          <p:nvCxnSpPr>
            <p:cNvPr id="37" name="Egyenes összekötő nyíllal 36">
              <a:extLst>
                <a:ext uri="{FF2B5EF4-FFF2-40B4-BE49-F238E27FC236}">
                  <a16:creationId xmlns:a16="http://schemas.microsoft.com/office/drawing/2014/main" id="{40885C3A-4FEA-BD86-2A4A-6390A7B266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3688" y="1705454"/>
              <a:ext cx="236688" cy="2833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gyenes összekötő nyíllal 37">
              <a:extLst>
                <a:ext uri="{FF2B5EF4-FFF2-40B4-BE49-F238E27FC236}">
                  <a16:creationId xmlns:a16="http://schemas.microsoft.com/office/drawing/2014/main" id="{D3F12524-A6A9-83F7-8200-C186AF0A70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66020" y="1784480"/>
              <a:ext cx="233496" cy="2833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Szövegdoboz 38">
              <a:extLst>
                <a:ext uri="{FF2B5EF4-FFF2-40B4-BE49-F238E27FC236}">
                  <a16:creationId xmlns:a16="http://schemas.microsoft.com/office/drawing/2014/main" id="{D583AF30-419A-2665-33A4-5DDB3424EB7E}"/>
                </a:ext>
              </a:extLst>
            </p:cNvPr>
            <p:cNvSpPr txBox="1"/>
            <p:nvPr/>
          </p:nvSpPr>
          <p:spPr>
            <a:xfrm>
              <a:off x="827584" y="1988840"/>
              <a:ext cx="1014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latin typeface="Book Antiqua" panose="02040602050305030304" pitchFamily="18" charset="0"/>
                </a:rPr>
                <a:t>nucleus</a:t>
              </a:r>
              <a:endParaRPr lang="en-US" b="1" dirty="0">
                <a:latin typeface="Book Antiqua" panose="02040602050305030304" pitchFamily="18" charset="0"/>
              </a:endParaRPr>
            </a:p>
          </p:txBody>
        </p:sp>
        <p:sp>
          <p:nvSpPr>
            <p:cNvPr id="40" name="Szövegdoboz 39">
              <a:extLst>
                <a:ext uri="{FF2B5EF4-FFF2-40B4-BE49-F238E27FC236}">
                  <a16:creationId xmlns:a16="http://schemas.microsoft.com/office/drawing/2014/main" id="{4860E5EF-2592-A014-3F70-7DC4A99F7AAB}"/>
                </a:ext>
              </a:extLst>
            </p:cNvPr>
            <p:cNvSpPr txBox="1"/>
            <p:nvPr/>
          </p:nvSpPr>
          <p:spPr>
            <a:xfrm>
              <a:off x="2445492" y="2006413"/>
              <a:ext cx="5681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latin typeface="Book Antiqua" panose="02040602050305030304" pitchFamily="18" charset="0"/>
                </a:rPr>
                <a:t>single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latin typeface="Book Antiqua" panose="02040602050305030304" pitchFamily="18" charset="0"/>
                </a:rPr>
                <a:t>nucleon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i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Book Antiqua" panose="02040602050305030304" pitchFamily="18" charset="0"/>
                </a:rPr>
                <a:t>total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latin typeface="Book Antiqua" panose="02040602050305030304" pitchFamily="18" charset="0"/>
                </a:rPr>
                <a:t>angular</a:t>
              </a:r>
              <a:r>
                <a:rPr lang="hu-HU" b="1" dirty="0">
                  <a:latin typeface="Book Antiqua" panose="02040602050305030304" pitchFamily="18" charset="0"/>
                </a:rPr>
                <a:t> momentum </a:t>
              </a:r>
              <a:r>
                <a:rPr lang="hu-HU" b="1" dirty="0" err="1">
                  <a:latin typeface="Book Antiqua" panose="02040602050305030304" pitchFamily="18" charset="0"/>
                </a:rPr>
                <a:t>eigenstates</a:t>
              </a:r>
              <a:endParaRPr lang="en-US" b="1" dirty="0">
                <a:latin typeface="Book Antiqua" panose="02040602050305030304" pitchFamily="18" charset="0"/>
              </a:endParaRPr>
            </a:p>
          </p:txBody>
        </p:sp>
      </p:grp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520E886F-D3E9-354D-F790-F469A0F9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42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57711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4D51A-D880-F700-CFBC-C7EB79B27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E0FE71-79FF-2030-9248-AC25AFAEB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latin typeface="Book Antiqua" panose="02040602050305030304" pitchFamily="18" charset="0"/>
              </a:rPr>
              <a:t>Nuclear</a:t>
            </a:r>
            <a:r>
              <a:rPr lang="hu-HU" b="1" dirty="0">
                <a:latin typeface="Book Antiqua" panose="02040602050305030304" pitchFamily="18" charset="0"/>
              </a:rPr>
              <a:t> spin </a:t>
            </a:r>
            <a:r>
              <a:rPr lang="hu-HU" dirty="0">
                <a:latin typeface="Book Antiqua" panose="02040602050305030304" pitchFamily="18" charset="0"/>
              </a:rPr>
              <a:t>and </a:t>
            </a:r>
            <a:r>
              <a:rPr lang="hu-HU" dirty="0" err="1">
                <a:latin typeface="Book Antiqua" panose="02040602050305030304" pitchFamily="18" charset="0"/>
              </a:rPr>
              <a:t>magnetic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moment</a:t>
            </a:r>
            <a:endParaRPr lang="hu-HU" dirty="0">
              <a:latin typeface="Book Antiqua" panose="02040602050305030304" pitchFamily="18" charset="0"/>
            </a:endParaRPr>
          </a:p>
        </p:txBody>
      </p:sp>
      <p:grpSp>
        <p:nvGrpSpPr>
          <p:cNvPr id="33" name="Csoportba foglalás 32">
            <a:extLst>
              <a:ext uri="{FF2B5EF4-FFF2-40B4-BE49-F238E27FC236}">
                <a16:creationId xmlns:a16="http://schemas.microsoft.com/office/drawing/2014/main" id="{3EABA29E-EF77-5394-41B8-E83F5766AED7}"/>
              </a:ext>
            </a:extLst>
          </p:cNvPr>
          <p:cNvGrpSpPr/>
          <p:nvPr/>
        </p:nvGrpSpPr>
        <p:grpSpPr>
          <a:xfrm>
            <a:off x="2559382" y="1871554"/>
            <a:ext cx="5011128" cy="572144"/>
            <a:chOff x="-563743" y="919807"/>
            <a:chExt cx="5011128" cy="572144"/>
          </a:xfrm>
        </p:grpSpPr>
        <p:sp>
          <p:nvSpPr>
            <p:cNvPr id="34" name="Szövegdoboz 33">
              <a:extLst>
                <a:ext uri="{FF2B5EF4-FFF2-40B4-BE49-F238E27FC236}">
                  <a16:creationId xmlns:a16="http://schemas.microsoft.com/office/drawing/2014/main" id="{0382098A-9712-C5F1-77C5-9A24390E3D9F}"/>
                </a:ext>
              </a:extLst>
            </p:cNvPr>
            <p:cNvSpPr txBox="1"/>
            <p:nvPr/>
          </p:nvSpPr>
          <p:spPr>
            <a:xfrm>
              <a:off x="-563743" y="1040578"/>
              <a:ext cx="2820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Nuclear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-spin </a:t>
              </a:r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eigenstates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:</a:t>
              </a:r>
              <a:endPara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églalap 34">
                  <a:extLst>
                    <a:ext uri="{FF2B5EF4-FFF2-40B4-BE49-F238E27FC236}">
                      <a16:creationId xmlns:a16="http://schemas.microsoft.com/office/drawing/2014/main" id="{6011D295-6A79-3D7E-197E-21BC13C028FA}"/>
                    </a:ext>
                  </a:extLst>
                </p:cNvPr>
                <p:cNvSpPr/>
                <p:nvPr/>
              </p:nvSpPr>
              <p:spPr>
                <a:xfrm>
                  <a:off x="2058911" y="919807"/>
                  <a:ext cx="2388474" cy="5721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  <m:r>
                          <a:rPr lang="hu-H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Sup>
                          <m:sSubSupPr>
                            <m:ctrlPr>
                              <a:rPr lang="hu-H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hu-H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d>
                          <m:dPr>
                            <m:begChr m:val=""/>
                            <m:endChr m:val="⟩"/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hu-H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hu-H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églalap 34">
                  <a:extLst>
                    <a:ext uri="{FF2B5EF4-FFF2-40B4-BE49-F238E27FC236}">
                      <a16:creationId xmlns:a16="http://schemas.microsoft.com/office/drawing/2014/main" id="{6011D295-6A79-3D7E-197E-21BC13C028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8911" y="919807"/>
                  <a:ext cx="2388474" cy="57214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Csoportba foglalás 35">
            <a:extLst>
              <a:ext uri="{FF2B5EF4-FFF2-40B4-BE49-F238E27FC236}">
                <a16:creationId xmlns:a16="http://schemas.microsoft.com/office/drawing/2014/main" id="{6C991777-7766-CE98-8794-3750C646105A}"/>
              </a:ext>
            </a:extLst>
          </p:cNvPr>
          <p:cNvGrpSpPr/>
          <p:nvPr/>
        </p:nvGrpSpPr>
        <p:grpSpPr>
          <a:xfrm>
            <a:off x="4286478" y="2372803"/>
            <a:ext cx="7231361" cy="670291"/>
            <a:chOff x="827584" y="1705454"/>
            <a:chExt cx="7299082" cy="670291"/>
          </a:xfrm>
        </p:grpSpPr>
        <p:cxnSp>
          <p:nvCxnSpPr>
            <p:cNvPr id="37" name="Egyenes összekötő nyíllal 36">
              <a:extLst>
                <a:ext uri="{FF2B5EF4-FFF2-40B4-BE49-F238E27FC236}">
                  <a16:creationId xmlns:a16="http://schemas.microsoft.com/office/drawing/2014/main" id="{2D509605-1227-1305-00B1-9468545F72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3688" y="1705454"/>
              <a:ext cx="236688" cy="2833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gyenes összekötő nyíllal 37">
              <a:extLst>
                <a:ext uri="{FF2B5EF4-FFF2-40B4-BE49-F238E27FC236}">
                  <a16:creationId xmlns:a16="http://schemas.microsoft.com/office/drawing/2014/main" id="{5A164294-1307-B993-3D01-62CB4574C2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66020" y="1784480"/>
              <a:ext cx="233496" cy="2833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Szövegdoboz 38">
              <a:extLst>
                <a:ext uri="{FF2B5EF4-FFF2-40B4-BE49-F238E27FC236}">
                  <a16:creationId xmlns:a16="http://schemas.microsoft.com/office/drawing/2014/main" id="{A285E977-70CD-A6DC-79F1-40C7115C8E29}"/>
                </a:ext>
              </a:extLst>
            </p:cNvPr>
            <p:cNvSpPr txBox="1"/>
            <p:nvPr/>
          </p:nvSpPr>
          <p:spPr>
            <a:xfrm>
              <a:off x="827584" y="1988840"/>
              <a:ext cx="1014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latin typeface="Book Antiqua" panose="02040602050305030304" pitchFamily="18" charset="0"/>
                </a:rPr>
                <a:t>nucleus</a:t>
              </a:r>
              <a:endParaRPr lang="en-US" b="1" dirty="0">
                <a:latin typeface="Book Antiqua" panose="02040602050305030304" pitchFamily="18" charset="0"/>
              </a:endParaRPr>
            </a:p>
          </p:txBody>
        </p:sp>
        <p:sp>
          <p:nvSpPr>
            <p:cNvPr id="40" name="Szövegdoboz 39">
              <a:extLst>
                <a:ext uri="{FF2B5EF4-FFF2-40B4-BE49-F238E27FC236}">
                  <a16:creationId xmlns:a16="http://schemas.microsoft.com/office/drawing/2014/main" id="{0680FD7A-71D5-B4AF-8A0F-300C751074F3}"/>
                </a:ext>
              </a:extLst>
            </p:cNvPr>
            <p:cNvSpPr txBox="1"/>
            <p:nvPr/>
          </p:nvSpPr>
          <p:spPr>
            <a:xfrm>
              <a:off x="2445492" y="2006413"/>
              <a:ext cx="5681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latin typeface="Book Antiqua" panose="02040602050305030304" pitchFamily="18" charset="0"/>
                </a:rPr>
                <a:t>single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latin typeface="Book Antiqua" panose="02040602050305030304" pitchFamily="18" charset="0"/>
                </a:rPr>
                <a:t>nucleon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i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Book Antiqua" panose="02040602050305030304" pitchFamily="18" charset="0"/>
                </a:rPr>
                <a:t>total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latin typeface="Book Antiqua" panose="02040602050305030304" pitchFamily="18" charset="0"/>
                </a:rPr>
                <a:t>angular</a:t>
              </a:r>
              <a:r>
                <a:rPr lang="hu-HU" b="1" dirty="0">
                  <a:latin typeface="Book Antiqua" panose="02040602050305030304" pitchFamily="18" charset="0"/>
                </a:rPr>
                <a:t> momentum </a:t>
              </a:r>
              <a:r>
                <a:rPr lang="hu-HU" b="1" dirty="0" err="1">
                  <a:latin typeface="Book Antiqua" panose="02040602050305030304" pitchFamily="18" charset="0"/>
                </a:rPr>
                <a:t>eigenstates</a:t>
              </a:r>
              <a:endParaRPr lang="en-US" b="1" dirty="0">
                <a:latin typeface="Book Antiqua" panose="02040602050305030304" pitchFamily="18" charset="0"/>
              </a:endParaRPr>
            </a:p>
          </p:txBody>
        </p:sp>
      </p:grpSp>
      <p:sp>
        <p:nvSpPr>
          <p:cNvPr id="45" name="Szövegdoboz 44">
            <a:extLst>
              <a:ext uri="{FF2B5EF4-FFF2-40B4-BE49-F238E27FC236}">
                <a16:creationId xmlns:a16="http://schemas.microsoft.com/office/drawing/2014/main" id="{8BA71D49-5152-E5D8-1A06-F0BFACC01761}"/>
              </a:ext>
            </a:extLst>
          </p:cNvPr>
          <p:cNvSpPr txBox="1"/>
          <p:nvPr/>
        </p:nvSpPr>
        <p:spPr>
          <a:xfrm>
            <a:off x="150864" y="3609392"/>
            <a:ext cx="5081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Nucleus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=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bound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state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protons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and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neutrons</a:t>
            </a:r>
            <a:endParaRPr lang="en-US" b="1" dirty="0">
              <a:solidFill>
                <a:schemeClr val="accent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grpSp>
        <p:nvGrpSpPr>
          <p:cNvPr id="46" name="Csoportba foglalás 45">
            <a:extLst>
              <a:ext uri="{FF2B5EF4-FFF2-40B4-BE49-F238E27FC236}">
                <a16:creationId xmlns:a16="http://schemas.microsoft.com/office/drawing/2014/main" id="{46BE2474-635B-3EBA-A590-6BCC1AA236BF}"/>
              </a:ext>
            </a:extLst>
          </p:cNvPr>
          <p:cNvGrpSpPr/>
          <p:nvPr/>
        </p:nvGrpSpPr>
        <p:grpSpPr>
          <a:xfrm>
            <a:off x="5230014" y="3320053"/>
            <a:ext cx="2882163" cy="872675"/>
            <a:chOff x="4817472" y="3702350"/>
            <a:chExt cx="2882163" cy="872675"/>
          </a:xfrm>
        </p:grpSpPr>
        <p:sp>
          <p:nvSpPr>
            <p:cNvPr id="47" name="Jobbra nyíl 23">
              <a:extLst>
                <a:ext uri="{FF2B5EF4-FFF2-40B4-BE49-F238E27FC236}">
                  <a16:creationId xmlns:a16="http://schemas.microsoft.com/office/drawing/2014/main" id="{71341942-F119-F8CF-3B3F-FA568E8B4936}"/>
                </a:ext>
              </a:extLst>
            </p:cNvPr>
            <p:cNvSpPr/>
            <p:nvPr/>
          </p:nvSpPr>
          <p:spPr>
            <a:xfrm>
              <a:off x="4817472" y="3964566"/>
              <a:ext cx="355672" cy="416478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Szövegdoboz 47">
                  <a:extLst>
                    <a:ext uri="{FF2B5EF4-FFF2-40B4-BE49-F238E27FC236}">
                      <a16:creationId xmlns:a16="http://schemas.microsoft.com/office/drawing/2014/main" id="{543F5779-B329-B47D-6455-A7F32798D5D8}"/>
                    </a:ext>
                  </a:extLst>
                </p:cNvPr>
                <p:cNvSpPr txBox="1"/>
                <p:nvPr/>
              </p:nvSpPr>
              <p:spPr>
                <a:xfrm>
                  <a:off x="5406764" y="3702350"/>
                  <a:ext cx="2292871" cy="872675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hu-HU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p>
                          <m:e>
                            <m:sSub>
                              <m:sSubPr>
                                <m:ctrl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hu-HU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hu-HU" b="0" i="0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hu-H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p>
                          <m:e>
                            <m:sSub>
                              <m:sSubPr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hu-HU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Szövegdoboz 47">
                  <a:extLst>
                    <a:ext uri="{FF2B5EF4-FFF2-40B4-BE49-F238E27FC236}">
                      <a16:creationId xmlns:a16="http://schemas.microsoft.com/office/drawing/2014/main" id="{543F5779-B329-B47D-6455-A7F32798D5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6764" y="3702350"/>
                  <a:ext cx="2292871" cy="8726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Csoportba foglalás 48">
            <a:extLst>
              <a:ext uri="{FF2B5EF4-FFF2-40B4-BE49-F238E27FC236}">
                <a16:creationId xmlns:a16="http://schemas.microsoft.com/office/drawing/2014/main" id="{01BEB9A8-93FB-E86D-79C8-9CE224B3BEC0}"/>
              </a:ext>
            </a:extLst>
          </p:cNvPr>
          <p:cNvGrpSpPr/>
          <p:nvPr/>
        </p:nvGrpSpPr>
        <p:grpSpPr>
          <a:xfrm>
            <a:off x="91605" y="4768162"/>
            <a:ext cx="6660023" cy="409664"/>
            <a:chOff x="-318156" y="4923582"/>
            <a:chExt cx="6660023" cy="409664"/>
          </a:xfrm>
        </p:grpSpPr>
        <p:sp>
          <p:nvSpPr>
            <p:cNvPr id="50" name="Szövegdoboz 49">
              <a:extLst>
                <a:ext uri="{FF2B5EF4-FFF2-40B4-BE49-F238E27FC236}">
                  <a16:creationId xmlns:a16="http://schemas.microsoft.com/office/drawing/2014/main" id="{4A374D86-ADFE-16C7-671B-F2D765174298}"/>
                </a:ext>
              </a:extLst>
            </p:cNvPr>
            <p:cNvSpPr txBox="1"/>
            <p:nvPr/>
          </p:nvSpPr>
          <p:spPr>
            <a:xfrm>
              <a:off x="-318156" y="4963332"/>
              <a:ext cx="498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Total </a:t>
              </a:r>
              <a:r>
                <a:rPr lang="hu-HU" b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angular</a:t>
              </a:r>
              <a:r>
                <a:rPr lang="hu-HU" b="1" dirty="0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 momentum of a </a:t>
              </a:r>
              <a:r>
                <a:rPr lang="hu-HU" b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single</a:t>
              </a:r>
              <a:r>
                <a:rPr lang="hu-HU" b="1" dirty="0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nucleon</a:t>
              </a:r>
              <a:r>
                <a:rPr lang="hu-HU" b="1" dirty="0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:</a:t>
              </a:r>
              <a:endParaRPr lang="en-US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églalap 50">
                  <a:extLst>
                    <a:ext uri="{FF2B5EF4-FFF2-40B4-BE49-F238E27FC236}">
                      <a16:creationId xmlns:a16="http://schemas.microsoft.com/office/drawing/2014/main" id="{1D93AA81-A1E2-937C-5D02-D553FCF97B25}"/>
                    </a:ext>
                  </a:extLst>
                </p:cNvPr>
                <p:cNvSpPr/>
                <p:nvPr/>
              </p:nvSpPr>
              <p:spPr>
                <a:xfrm>
                  <a:off x="4506621" y="4923582"/>
                  <a:ext cx="1835246" cy="4096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hu-HU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hu-HU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hu-HU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hu-HU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hu-HU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hu-HU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hu-HU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églalap 50">
                  <a:extLst>
                    <a:ext uri="{FF2B5EF4-FFF2-40B4-BE49-F238E27FC236}">
                      <a16:creationId xmlns:a16="http://schemas.microsoft.com/office/drawing/2014/main" id="{1D93AA81-A1E2-937C-5D02-D553FCF97B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6621" y="4923582"/>
                  <a:ext cx="1835246" cy="409664"/>
                </a:xfrm>
                <a:prstGeom prst="rect">
                  <a:avLst/>
                </a:prstGeom>
                <a:blipFill>
                  <a:blip r:embed="rId4"/>
                  <a:stretch>
                    <a:fillRect t="-1493" r="-5298" b="-4478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Csoportba foglalás 51">
            <a:extLst>
              <a:ext uri="{FF2B5EF4-FFF2-40B4-BE49-F238E27FC236}">
                <a16:creationId xmlns:a16="http://schemas.microsoft.com/office/drawing/2014/main" id="{52288B1F-2F7B-29F9-5FB9-D8796B669271}"/>
              </a:ext>
            </a:extLst>
          </p:cNvPr>
          <p:cNvGrpSpPr/>
          <p:nvPr/>
        </p:nvGrpSpPr>
        <p:grpSpPr>
          <a:xfrm>
            <a:off x="5333521" y="3951601"/>
            <a:ext cx="659133" cy="643774"/>
            <a:chOff x="4920979" y="4333898"/>
            <a:chExt cx="659133" cy="6437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églalap 52">
                  <a:extLst>
                    <a:ext uri="{FF2B5EF4-FFF2-40B4-BE49-F238E27FC236}">
                      <a16:creationId xmlns:a16="http://schemas.microsoft.com/office/drawing/2014/main" id="{5653571C-6A0F-8449-2908-28569B2DFACE}"/>
                    </a:ext>
                  </a:extLst>
                </p:cNvPr>
                <p:cNvSpPr/>
                <p:nvPr/>
              </p:nvSpPr>
              <p:spPr>
                <a:xfrm>
                  <a:off x="4920979" y="4427072"/>
                  <a:ext cx="451598" cy="55060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hu-HU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mr>
                          <m:m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églalap 52">
                  <a:extLst>
                    <a:ext uri="{FF2B5EF4-FFF2-40B4-BE49-F238E27FC236}">
                      <a16:creationId xmlns:a16="http://schemas.microsoft.com/office/drawing/2014/main" id="{5653571C-6A0F-8449-2908-28569B2DFA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0979" y="4427072"/>
                  <a:ext cx="451598" cy="5506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Egyenes összekötő nyíllal 53">
              <a:extLst>
                <a:ext uri="{FF2B5EF4-FFF2-40B4-BE49-F238E27FC236}">
                  <a16:creationId xmlns:a16="http://schemas.microsoft.com/office/drawing/2014/main" id="{43D69ED2-3B7D-99FC-AEAB-38B0E4D384A2}"/>
                </a:ext>
              </a:extLst>
            </p:cNvPr>
            <p:cNvCxnSpPr/>
            <p:nvPr/>
          </p:nvCxnSpPr>
          <p:spPr>
            <a:xfrm flipH="1">
              <a:off x="5267690" y="4333898"/>
              <a:ext cx="312422" cy="19956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9091A8A0-A5EC-AE33-5971-FC028AA11E9B}"/>
              </a:ext>
            </a:extLst>
          </p:cNvPr>
          <p:cNvGrpSpPr/>
          <p:nvPr/>
        </p:nvGrpSpPr>
        <p:grpSpPr>
          <a:xfrm>
            <a:off x="4774077" y="5154580"/>
            <a:ext cx="2853772" cy="931435"/>
            <a:chOff x="4361535" y="5536877"/>
            <a:chExt cx="2853772" cy="931435"/>
          </a:xfrm>
        </p:grpSpPr>
        <p:grpSp>
          <p:nvGrpSpPr>
            <p:cNvPr id="56" name="Csoportba foglalás 55">
              <a:extLst>
                <a:ext uri="{FF2B5EF4-FFF2-40B4-BE49-F238E27FC236}">
                  <a16:creationId xmlns:a16="http://schemas.microsoft.com/office/drawing/2014/main" id="{7F6C2FA9-9F88-4614-5FEF-49951CD5D121}"/>
                </a:ext>
              </a:extLst>
            </p:cNvPr>
            <p:cNvGrpSpPr/>
            <p:nvPr/>
          </p:nvGrpSpPr>
          <p:grpSpPr>
            <a:xfrm>
              <a:off x="4995308" y="5560123"/>
              <a:ext cx="517385" cy="879524"/>
              <a:chOff x="4995308" y="5560123"/>
              <a:chExt cx="517385" cy="8795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églalap 62">
                    <a:extLst>
                      <a:ext uri="{FF2B5EF4-FFF2-40B4-BE49-F238E27FC236}">
                        <a16:creationId xmlns:a16="http://schemas.microsoft.com/office/drawing/2014/main" id="{96A97E95-0F4D-2123-1C06-82A171C835B5}"/>
                      </a:ext>
                    </a:extLst>
                  </p:cNvPr>
                  <p:cNvSpPr/>
                  <p:nvPr/>
                </p:nvSpPr>
                <p:spPr>
                  <a:xfrm>
                    <a:off x="4995308" y="5833006"/>
                    <a:ext cx="517385" cy="60664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</m:m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3" name="Téglalap 62">
                    <a:extLst>
                      <a:ext uri="{FF2B5EF4-FFF2-40B4-BE49-F238E27FC236}">
                        <a16:creationId xmlns:a16="http://schemas.microsoft.com/office/drawing/2014/main" id="{96A97E95-0F4D-2123-1C06-82A171C835B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95308" y="5833006"/>
                    <a:ext cx="517385" cy="60664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u-H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Egyenes összekötő nyíllal 63">
                <a:extLst>
                  <a:ext uri="{FF2B5EF4-FFF2-40B4-BE49-F238E27FC236}">
                    <a16:creationId xmlns:a16="http://schemas.microsoft.com/office/drawing/2014/main" id="{9DCF84A3-F5CF-EA98-D180-C43E2E906875}"/>
                  </a:ext>
                </a:extLst>
              </p:cNvPr>
              <p:cNvCxnSpPr>
                <a:endCxn id="63" idx="0"/>
              </p:cNvCxnSpPr>
              <p:nvPr/>
            </p:nvCxnSpPr>
            <p:spPr>
              <a:xfrm flipH="1">
                <a:off x="5254001" y="5560123"/>
                <a:ext cx="13689" cy="27288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2A68867E-132F-7E8E-5421-DBA290636B12}"/>
                </a:ext>
              </a:extLst>
            </p:cNvPr>
            <p:cNvGrpSpPr/>
            <p:nvPr/>
          </p:nvGrpSpPr>
          <p:grpSpPr>
            <a:xfrm>
              <a:off x="4361535" y="5596878"/>
              <a:ext cx="575414" cy="871434"/>
              <a:chOff x="4995308" y="5590270"/>
              <a:chExt cx="575414" cy="87143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églalap 60">
                    <a:extLst>
                      <a:ext uri="{FF2B5EF4-FFF2-40B4-BE49-F238E27FC236}">
                        <a16:creationId xmlns:a16="http://schemas.microsoft.com/office/drawing/2014/main" id="{A1DE7784-728D-4035-FA89-483069056D79}"/>
                      </a:ext>
                    </a:extLst>
                  </p:cNvPr>
                  <p:cNvSpPr/>
                  <p:nvPr/>
                </p:nvSpPr>
                <p:spPr>
                  <a:xfrm>
                    <a:off x="4995308" y="5833006"/>
                    <a:ext cx="575414" cy="62869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𝑗𝑖</m:t>
                                    </m:r>
                                  </m:sub>
                                </m:sSub>
                              </m:e>
                            </m:mr>
                          </m:m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1" name="Téglalap 60">
                    <a:extLst>
                      <a:ext uri="{FF2B5EF4-FFF2-40B4-BE49-F238E27FC236}">
                        <a16:creationId xmlns:a16="http://schemas.microsoft.com/office/drawing/2014/main" id="{A1DE7784-728D-4035-FA89-483069056D7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95308" y="5833006"/>
                    <a:ext cx="575414" cy="62869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u-H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2" name="Egyenes összekötő nyíllal 61">
                <a:extLst>
                  <a:ext uri="{FF2B5EF4-FFF2-40B4-BE49-F238E27FC236}">
                    <a16:creationId xmlns:a16="http://schemas.microsoft.com/office/drawing/2014/main" id="{EA0761AA-F1F2-9392-46FF-F8D1BA86DA2A}"/>
                  </a:ext>
                </a:extLst>
              </p:cNvPr>
              <p:cNvCxnSpPr>
                <a:endCxn id="61" idx="0"/>
              </p:cNvCxnSpPr>
              <p:nvPr/>
            </p:nvCxnSpPr>
            <p:spPr>
              <a:xfrm flipH="1">
                <a:off x="5283015" y="5590270"/>
                <a:ext cx="86556" cy="24273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88CD0D02-1E21-2C34-A4B2-334732457FA7}"/>
                </a:ext>
              </a:extLst>
            </p:cNvPr>
            <p:cNvGrpSpPr/>
            <p:nvPr/>
          </p:nvGrpSpPr>
          <p:grpSpPr>
            <a:xfrm>
              <a:off x="5771386" y="5536877"/>
              <a:ext cx="1443921" cy="892476"/>
              <a:chOff x="5112740" y="5549137"/>
              <a:chExt cx="1443921" cy="8924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églalap 58">
                    <a:extLst>
                      <a:ext uri="{FF2B5EF4-FFF2-40B4-BE49-F238E27FC236}">
                        <a16:creationId xmlns:a16="http://schemas.microsoft.com/office/drawing/2014/main" id="{E2B6A876-900A-0CDD-47C1-823677BC7FB8}"/>
                      </a:ext>
                    </a:extLst>
                  </p:cNvPr>
                  <p:cNvSpPr/>
                  <p:nvPr/>
                </p:nvSpPr>
                <p:spPr>
                  <a:xfrm>
                    <a:off x="5112740" y="5822020"/>
                    <a:ext cx="1443921" cy="619593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=1/2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𝑠𝑖</m:t>
                                    </m:r>
                                  </m:sub>
                                </m:s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</m:e>
                            </m:mr>
                          </m:m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9" name="Téglalap 58">
                    <a:extLst>
                      <a:ext uri="{FF2B5EF4-FFF2-40B4-BE49-F238E27FC236}">
                        <a16:creationId xmlns:a16="http://schemas.microsoft.com/office/drawing/2014/main" id="{E2B6A876-900A-0CDD-47C1-823677BC7FB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2740" y="5822020"/>
                    <a:ext cx="1443921" cy="61959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u-H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0" name="Egyenes összekötő nyíllal 59">
                <a:extLst>
                  <a:ext uri="{FF2B5EF4-FFF2-40B4-BE49-F238E27FC236}">
                    <a16:creationId xmlns:a16="http://schemas.microsoft.com/office/drawing/2014/main" id="{0C3E1A70-4A92-CAA8-EAFD-17492F943266}"/>
                  </a:ext>
                </a:extLst>
              </p:cNvPr>
              <p:cNvCxnSpPr>
                <a:endCxn id="59" idx="0"/>
              </p:cNvCxnSpPr>
              <p:nvPr/>
            </p:nvCxnSpPr>
            <p:spPr>
              <a:xfrm>
                <a:off x="5385123" y="5549137"/>
                <a:ext cx="449578" cy="27288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1" name="Szövegdoboz 70">
            <a:extLst>
              <a:ext uri="{FF2B5EF4-FFF2-40B4-BE49-F238E27FC236}">
                <a16:creationId xmlns:a16="http://schemas.microsoft.com/office/drawing/2014/main" id="{B90404CA-98A8-83E3-9EE9-D272BD1A390E}"/>
              </a:ext>
            </a:extLst>
          </p:cNvPr>
          <p:cNvSpPr txBox="1"/>
          <p:nvPr/>
        </p:nvSpPr>
        <p:spPr>
          <a:xfrm>
            <a:off x="67558" y="5519265"/>
            <a:ext cx="35157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latin typeface="Book Antiqua" panose="02040602050305030304" pitchFamily="18" charset="0"/>
              </a:rPr>
              <a:t>angular</a:t>
            </a:r>
            <a:r>
              <a:rPr lang="hu-HU" sz="1600" b="1" dirty="0">
                <a:latin typeface="Book Antiqua" panose="02040602050305030304" pitchFamily="18" charset="0"/>
              </a:rPr>
              <a:t> momentum + </a:t>
            </a:r>
            <a:r>
              <a:rPr lang="hu-HU" sz="1600" b="1" dirty="0" err="1">
                <a:latin typeface="Book Antiqua" panose="02040602050305030304" pitchFamily="18" charset="0"/>
              </a:rPr>
              <a:t>intrinsic</a:t>
            </a:r>
            <a:r>
              <a:rPr lang="hu-HU" sz="1600" b="1" dirty="0">
                <a:latin typeface="Book Antiqua" panose="02040602050305030304" pitchFamily="18" charset="0"/>
              </a:rPr>
              <a:t> spin</a:t>
            </a:r>
          </a:p>
        </p:txBody>
      </p:sp>
      <p:sp>
        <p:nvSpPr>
          <p:cNvPr id="72" name="Jobb oldali kapcsos zárójel 71">
            <a:extLst>
              <a:ext uri="{FF2B5EF4-FFF2-40B4-BE49-F238E27FC236}">
                <a16:creationId xmlns:a16="http://schemas.microsoft.com/office/drawing/2014/main" id="{FF68400A-203B-58CC-3907-8BED5274DF01}"/>
              </a:ext>
            </a:extLst>
          </p:cNvPr>
          <p:cNvSpPr/>
          <p:nvPr/>
        </p:nvSpPr>
        <p:spPr>
          <a:xfrm rot="5400000">
            <a:off x="645093" y="4709844"/>
            <a:ext cx="407535" cy="1208845"/>
          </a:xfrm>
          <a:prstGeom prst="rightBrace">
            <a:avLst>
              <a:gd name="adj1" fmla="val 76277"/>
              <a:gd name="adj2" fmla="val 52949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12E85D62-9368-3F8C-2A33-A06838EF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43</a:t>
            </a:fld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88BED567-D825-C89A-C0EE-6E8C975D03DA}"/>
                  </a:ext>
                </a:extLst>
              </p:cNvPr>
              <p:cNvSpPr txBox="1"/>
              <p:nvPr/>
            </p:nvSpPr>
            <p:spPr>
              <a:xfrm>
                <a:off x="5200090" y="6012841"/>
                <a:ext cx="140218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hu-HU" sz="1400" b="0" i="1" smtClean="0">
                          <a:latin typeface="Cambria Math" panose="02040503050406030204" pitchFamily="18" charset="0"/>
                        </a:rPr>
                        <m:t>=0,1,2,….</m:t>
                      </m:r>
                    </m:oMath>
                  </m:oMathPara>
                </a14:m>
                <a:endParaRPr lang="hu-HU" sz="1400" b="0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88BED567-D825-C89A-C0EE-6E8C975D0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090" y="6012841"/>
                <a:ext cx="140218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35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E953-7B70-EC1B-6A6D-B115729D9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235EA2-4785-5729-7C8E-4B5316F9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latin typeface="Book Antiqua" panose="02040602050305030304" pitchFamily="18" charset="0"/>
              </a:rPr>
              <a:t>Nuclear</a:t>
            </a:r>
            <a:r>
              <a:rPr lang="hu-HU" b="1" dirty="0">
                <a:latin typeface="Book Antiqua" panose="02040602050305030304" pitchFamily="18" charset="0"/>
              </a:rPr>
              <a:t> spin </a:t>
            </a:r>
            <a:r>
              <a:rPr lang="hu-HU" dirty="0">
                <a:latin typeface="Book Antiqua" panose="02040602050305030304" pitchFamily="18" charset="0"/>
              </a:rPr>
              <a:t>and </a:t>
            </a:r>
            <a:r>
              <a:rPr lang="hu-HU" dirty="0" err="1">
                <a:latin typeface="Book Antiqua" panose="02040602050305030304" pitchFamily="18" charset="0"/>
              </a:rPr>
              <a:t>magnetic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moment</a:t>
            </a:r>
            <a:endParaRPr lang="hu-HU" dirty="0">
              <a:latin typeface="Book Antiqua" panose="02040602050305030304" pitchFamily="18" charset="0"/>
            </a:endParaRPr>
          </a:p>
        </p:txBody>
      </p:sp>
      <p:grpSp>
        <p:nvGrpSpPr>
          <p:cNvPr id="33" name="Csoportba foglalás 32">
            <a:extLst>
              <a:ext uri="{FF2B5EF4-FFF2-40B4-BE49-F238E27FC236}">
                <a16:creationId xmlns:a16="http://schemas.microsoft.com/office/drawing/2014/main" id="{A259B12B-2764-B6D1-FD9B-23DCDEEBF4D3}"/>
              </a:ext>
            </a:extLst>
          </p:cNvPr>
          <p:cNvGrpSpPr/>
          <p:nvPr/>
        </p:nvGrpSpPr>
        <p:grpSpPr>
          <a:xfrm>
            <a:off x="2559382" y="1871554"/>
            <a:ext cx="5011128" cy="572144"/>
            <a:chOff x="-563743" y="919807"/>
            <a:chExt cx="5011128" cy="572144"/>
          </a:xfrm>
        </p:grpSpPr>
        <p:sp>
          <p:nvSpPr>
            <p:cNvPr id="34" name="Szövegdoboz 33">
              <a:extLst>
                <a:ext uri="{FF2B5EF4-FFF2-40B4-BE49-F238E27FC236}">
                  <a16:creationId xmlns:a16="http://schemas.microsoft.com/office/drawing/2014/main" id="{BE579AC8-88CD-F26F-8539-FD5A67868476}"/>
                </a:ext>
              </a:extLst>
            </p:cNvPr>
            <p:cNvSpPr txBox="1"/>
            <p:nvPr/>
          </p:nvSpPr>
          <p:spPr>
            <a:xfrm>
              <a:off x="-563743" y="1040578"/>
              <a:ext cx="2820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Nuclear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-spin </a:t>
              </a:r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eigenstates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:</a:t>
              </a:r>
              <a:endPara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églalap 34">
                  <a:extLst>
                    <a:ext uri="{FF2B5EF4-FFF2-40B4-BE49-F238E27FC236}">
                      <a16:creationId xmlns:a16="http://schemas.microsoft.com/office/drawing/2014/main" id="{F1599359-869F-0295-1AF4-3F436074E73B}"/>
                    </a:ext>
                  </a:extLst>
                </p:cNvPr>
                <p:cNvSpPr/>
                <p:nvPr/>
              </p:nvSpPr>
              <p:spPr>
                <a:xfrm>
                  <a:off x="2058911" y="919807"/>
                  <a:ext cx="2388474" cy="5721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  <m:r>
                          <a:rPr lang="hu-H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Sup>
                          <m:sSubSupPr>
                            <m:ctrlPr>
                              <a:rPr lang="hu-H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hu-H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d>
                          <m:dPr>
                            <m:begChr m:val=""/>
                            <m:endChr m:val="⟩"/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hu-H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hu-H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églalap 34">
                  <a:extLst>
                    <a:ext uri="{FF2B5EF4-FFF2-40B4-BE49-F238E27FC236}">
                      <a16:creationId xmlns:a16="http://schemas.microsoft.com/office/drawing/2014/main" id="{F1599359-869F-0295-1AF4-3F436074E7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8911" y="919807"/>
                  <a:ext cx="2388474" cy="57214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Csoportba foglalás 35">
            <a:extLst>
              <a:ext uri="{FF2B5EF4-FFF2-40B4-BE49-F238E27FC236}">
                <a16:creationId xmlns:a16="http://schemas.microsoft.com/office/drawing/2014/main" id="{77DECE5E-76EF-2196-0573-550C662A55D7}"/>
              </a:ext>
            </a:extLst>
          </p:cNvPr>
          <p:cNvGrpSpPr/>
          <p:nvPr/>
        </p:nvGrpSpPr>
        <p:grpSpPr>
          <a:xfrm>
            <a:off x="4286478" y="2372803"/>
            <a:ext cx="7231361" cy="670291"/>
            <a:chOff x="827584" y="1705454"/>
            <a:chExt cx="7299082" cy="670291"/>
          </a:xfrm>
        </p:grpSpPr>
        <p:cxnSp>
          <p:nvCxnSpPr>
            <p:cNvPr id="37" name="Egyenes összekötő nyíllal 36">
              <a:extLst>
                <a:ext uri="{FF2B5EF4-FFF2-40B4-BE49-F238E27FC236}">
                  <a16:creationId xmlns:a16="http://schemas.microsoft.com/office/drawing/2014/main" id="{2CF2F7D1-1786-EFD1-BD1E-CD9F6A39B9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3688" y="1705454"/>
              <a:ext cx="236688" cy="2833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gyenes összekötő nyíllal 37">
              <a:extLst>
                <a:ext uri="{FF2B5EF4-FFF2-40B4-BE49-F238E27FC236}">
                  <a16:creationId xmlns:a16="http://schemas.microsoft.com/office/drawing/2014/main" id="{8F5EEEEC-F991-929B-D055-8237F2D38E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66020" y="1784480"/>
              <a:ext cx="233496" cy="2833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Szövegdoboz 38">
              <a:extLst>
                <a:ext uri="{FF2B5EF4-FFF2-40B4-BE49-F238E27FC236}">
                  <a16:creationId xmlns:a16="http://schemas.microsoft.com/office/drawing/2014/main" id="{A3A1F932-4D18-22B1-D22B-C8221753B86D}"/>
                </a:ext>
              </a:extLst>
            </p:cNvPr>
            <p:cNvSpPr txBox="1"/>
            <p:nvPr/>
          </p:nvSpPr>
          <p:spPr>
            <a:xfrm>
              <a:off x="827584" y="1988840"/>
              <a:ext cx="1014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latin typeface="Book Antiqua" panose="02040602050305030304" pitchFamily="18" charset="0"/>
                </a:rPr>
                <a:t>nucleus</a:t>
              </a:r>
              <a:endParaRPr lang="en-US" b="1" dirty="0">
                <a:latin typeface="Book Antiqua" panose="02040602050305030304" pitchFamily="18" charset="0"/>
              </a:endParaRPr>
            </a:p>
          </p:txBody>
        </p:sp>
        <p:sp>
          <p:nvSpPr>
            <p:cNvPr id="40" name="Szövegdoboz 39">
              <a:extLst>
                <a:ext uri="{FF2B5EF4-FFF2-40B4-BE49-F238E27FC236}">
                  <a16:creationId xmlns:a16="http://schemas.microsoft.com/office/drawing/2014/main" id="{C7489D7E-CDFF-C1C4-FE24-31A607351E89}"/>
                </a:ext>
              </a:extLst>
            </p:cNvPr>
            <p:cNvSpPr txBox="1"/>
            <p:nvPr/>
          </p:nvSpPr>
          <p:spPr>
            <a:xfrm>
              <a:off x="2445492" y="2006413"/>
              <a:ext cx="5681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latin typeface="Book Antiqua" panose="02040602050305030304" pitchFamily="18" charset="0"/>
                </a:rPr>
                <a:t>single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latin typeface="Book Antiqua" panose="02040602050305030304" pitchFamily="18" charset="0"/>
                </a:rPr>
                <a:t>nucleon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i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Book Antiqua" panose="02040602050305030304" pitchFamily="18" charset="0"/>
                </a:rPr>
                <a:t>total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latin typeface="Book Antiqua" panose="02040602050305030304" pitchFamily="18" charset="0"/>
                </a:rPr>
                <a:t>angular</a:t>
              </a:r>
              <a:r>
                <a:rPr lang="hu-HU" b="1" dirty="0">
                  <a:latin typeface="Book Antiqua" panose="02040602050305030304" pitchFamily="18" charset="0"/>
                </a:rPr>
                <a:t> momentum </a:t>
              </a:r>
              <a:r>
                <a:rPr lang="hu-HU" b="1" dirty="0" err="1">
                  <a:latin typeface="Book Antiqua" panose="02040602050305030304" pitchFamily="18" charset="0"/>
                </a:rPr>
                <a:t>eigenstates</a:t>
              </a:r>
              <a:endParaRPr lang="en-US" b="1" dirty="0">
                <a:latin typeface="Book Antiqua" panose="02040602050305030304" pitchFamily="18" charset="0"/>
              </a:endParaRPr>
            </a:p>
          </p:txBody>
        </p:sp>
      </p:grpSp>
      <p:sp>
        <p:nvSpPr>
          <p:cNvPr id="45" name="Szövegdoboz 44">
            <a:extLst>
              <a:ext uri="{FF2B5EF4-FFF2-40B4-BE49-F238E27FC236}">
                <a16:creationId xmlns:a16="http://schemas.microsoft.com/office/drawing/2014/main" id="{5822BC8A-89D3-8983-EE77-9B249D68572F}"/>
              </a:ext>
            </a:extLst>
          </p:cNvPr>
          <p:cNvSpPr txBox="1"/>
          <p:nvPr/>
        </p:nvSpPr>
        <p:spPr>
          <a:xfrm>
            <a:off x="150864" y="3609392"/>
            <a:ext cx="5081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Nucleus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=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bound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state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protons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and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neutrons</a:t>
            </a:r>
            <a:endParaRPr lang="en-US" b="1" dirty="0">
              <a:solidFill>
                <a:schemeClr val="accent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grpSp>
        <p:nvGrpSpPr>
          <p:cNvPr id="46" name="Csoportba foglalás 45">
            <a:extLst>
              <a:ext uri="{FF2B5EF4-FFF2-40B4-BE49-F238E27FC236}">
                <a16:creationId xmlns:a16="http://schemas.microsoft.com/office/drawing/2014/main" id="{D2FB8CB3-5FCC-09F0-C331-BA468096ABE3}"/>
              </a:ext>
            </a:extLst>
          </p:cNvPr>
          <p:cNvGrpSpPr/>
          <p:nvPr/>
        </p:nvGrpSpPr>
        <p:grpSpPr>
          <a:xfrm>
            <a:off x="5230014" y="3320053"/>
            <a:ext cx="2882163" cy="872675"/>
            <a:chOff x="4817472" y="3702350"/>
            <a:chExt cx="2882163" cy="872675"/>
          </a:xfrm>
        </p:grpSpPr>
        <p:sp>
          <p:nvSpPr>
            <p:cNvPr id="47" name="Jobbra nyíl 23">
              <a:extLst>
                <a:ext uri="{FF2B5EF4-FFF2-40B4-BE49-F238E27FC236}">
                  <a16:creationId xmlns:a16="http://schemas.microsoft.com/office/drawing/2014/main" id="{F86D42D3-3FB0-ED42-E7A9-2894CDF82FBC}"/>
                </a:ext>
              </a:extLst>
            </p:cNvPr>
            <p:cNvSpPr/>
            <p:nvPr/>
          </p:nvSpPr>
          <p:spPr>
            <a:xfrm>
              <a:off x="4817472" y="3964566"/>
              <a:ext cx="355672" cy="416478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Szövegdoboz 47">
                  <a:extLst>
                    <a:ext uri="{FF2B5EF4-FFF2-40B4-BE49-F238E27FC236}">
                      <a16:creationId xmlns:a16="http://schemas.microsoft.com/office/drawing/2014/main" id="{0C5F39E1-0603-5D8F-3212-3D594A38795D}"/>
                    </a:ext>
                  </a:extLst>
                </p:cNvPr>
                <p:cNvSpPr txBox="1"/>
                <p:nvPr/>
              </p:nvSpPr>
              <p:spPr>
                <a:xfrm>
                  <a:off x="5406764" y="3702350"/>
                  <a:ext cx="2292871" cy="872675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hu-HU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p>
                          <m:e>
                            <m:sSub>
                              <m:sSubPr>
                                <m:ctrl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hu-HU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hu-HU" b="0" i="0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hu-H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p>
                          <m:e>
                            <m:sSub>
                              <m:sSubPr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hu-HU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Szövegdoboz 47">
                  <a:extLst>
                    <a:ext uri="{FF2B5EF4-FFF2-40B4-BE49-F238E27FC236}">
                      <a16:creationId xmlns:a16="http://schemas.microsoft.com/office/drawing/2014/main" id="{0C5F39E1-0603-5D8F-3212-3D594A387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6764" y="3702350"/>
                  <a:ext cx="2292871" cy="8726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Csoportba foglalás 48">
            <a:extLst>
              <a:ext uri="{FF2B5EF4-FFF2-40B4-BE49-F238E27FC236}">
                <a16:creationId xmlns:a16="http://schemas.microsoft.com/office/drawing/2014/main" id="{5DEF2915-F7A8-8252-2678-0D1EE3E5CDBC}"/>
              </a:ext>
            </a:extLst>
          </p:cNvPr>
          <p:cNvGrpSpPr/>
          <p:nvPr/>
        </p:nvGrpSpPr>
        <p:grpSpPr>
          <a:xfrm>
            <a:off x="91605" y="4768162"/>
            <a:ext cx="6660023" cy="409664"/>
            <a:chOff x="-318156" y="4923582"/>
            <a:chExt cx="6660023" cy="409664"/>
          </a:xfrm>
        </p:grpSpPr>
        <p:sp>
          <p:nvSpPr>
            <p:cNvPr id="50" name="Szövegdoboz 49">
              <a:extLst>
                <a:ext uri="{FF2B5EF4-FFF2-40B4-BE49-F238E27FC236}">
                  <a16:creationId xmlns:a16="http://schemas.microsoft.com/office/drawing/2014/main" id="{2A4D43B9-80EE-20E9-889E-C5D40F3D3607}"/>
                </a:ext>
              </a:extLst>
            </p:cNvPr>
            <p:cNvSpPr txBox="1"/>
            <p:nvPr/>
          </p:nvSpPr>
          <p:spPr>
            <a:xfrm>
              <a:off x="-318156" y="4963332"/>
              <a:ext cx="498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Total </a:t>
              </a:r>
              <a:r>
                <a:rPr lang="hu-HU" b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angular</a:t>
              </a:r>
              <a:r>
                <a:rPr lang="hu-HU" b="1" dirty="0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 momentum of a </a:t>
              </a:r>
              <a:r>
                <a:rPr lang="hu-HU" b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single</a:t>
              </a:r>
              <a:r>
                <a:rPr lang="hu-HU" b="1" dirty="0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nucleon</a:t>
              </a:r>
              <a:r>
                <a:rPr lang="hu-HU" b="1" dirty="0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:</a:t>
              </a:r>
              <a:endParaRPr lang="en-US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églalap 50">
                  <a:extLst>
                    <a:ext uri="{FF2B5EF4-FFF2-40B4-BE49-F238E27FC236}">
                      <a16:creationId xmlns:a16="http://schemas.microsoft.com/office/drawing/2014/main" id="{DB9AD1D5-F3AE-CF79-0790-72388D1ECEDD}"/>
                    </a:ext>
                  </a:extLst>
                </p:cNvPr>
                <p:cNvSpPr/>
                <p:nvPr/>
              </p:nvSpPr>
              <p:spPr>
                <a:xfrm>
                  <a:off x="4506621" y="4923582"/>
                  <a:ext cx="1835246" cy="4096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hu-HU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hu-HU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hu-HU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hu-HU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hu-HU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hu-HU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hu-HU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églalap 50">
                  <a:extLst>
                    <a:ext uri="{FF2B5EF4-FFF2-40B4-BE49-F238E27FC236}">
                      <a16:creationId xmlns:a16="http://schemas.microsoft.com/office/drawing/2014/main" id="{DB9AD1D5-F3AE-CF79-0790-72388D1ECE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6621" y="4923582"/>
                  <a:ext cx="1835246" cy="409664"/>
                </a:xfrm>
                <a:prstGeom prst="rect">
                  <a:avLst/>
                </a:prstGeom>
                <a:blipFill>
                  <a:blip r:embed="rId4"/>
                  <a:stretch>
                    <a:fillRect t="-1493" r="-5298" b="-4478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Csoportba foglalás 51">
            <a:extLst>
              <a:ext uri="{FF2B5EF4-FFF2-40B4-BE49-F238E27FC236}">
                <a16:creationId xmlns:a16="http://schemas.microsoft.com/office/drawing/2014/main" id="{DDAE78AC-232C-6E13-AB6F-C10B068F566B}"/>
              </a:ext>
            </a:extLst>
          </p:cNvPr>
          <p:cNvGrpSpPr/>
          <p:nvPr/>
        </p:nvGrpSpPr>
        <p:grpSpPr>
          <a:xfrm>
            <a:off x="5333521" y="3951601"/>
            <a:ext cx="659133" cy="643774"/>
            <a:chOff x="4920979" y="4333898"/>
            <a:chExt cx="659133" cy="6437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églalap 52">
                  <a:extLst>
                    <a:ext uri="{FF2B5EF4-FFF2-40B4-BE49-F238E27FC236}">
                      <a16:creationId xmlns:a16="http://schemas.microsoft.com/office/drawing/2014/main" id="{91C5ADDD-1FD6-5AB2-AFB7-96DC24885893}"/>
                    </a:ext>
                  </a:extLst>
                </p:cNvPr>
                <p:cNvSpPr/>
                <p:nvPr/>
              </p:nvSpPr>
              <p:spPr>
                <a:xfrm>
                  <a:off x="4920979" y="4427072"/>
                  <a:ext cx="451598" cy="55060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hu-HU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mr>
                          <m:m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églalap 52">
                  <a:extLst>
                    <a:ext uri="{FF2B5EF4-FFF2-40B4-BE49-F238E27FC236}">
                      <a16:creationId xmlns:a16="http://schemas.microsoft.com/office/drawing/2014/main" id="{91C5ADDD-1FD6-5AB2-AFB7-96DC248858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0979" y="4427072"/>
                  <a:ext cx="451598" cy="5506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Egyenes összekötő nyíllal 53">
              <a:extLst>
                <a:ext uri="{FF2B5EF4-FFF2-40B4-BE49-F238E27FC236}">
                  <a16:creationId xmlns:a16="http://schemas.microsoft.com/office/drawing/2014/main" id="{2BB121E2-27CB-6DB1-1A30-FCC4B7DD84B3}"/>
                </a:ext>
              </a:extLst>
            </p:cNvPr>
            <p:cNvCxnSpPr/>
            <p:nvPr/>
          </p:nvCxnSpPr>
          <p:spPr>
            <a:xfrm flipH="1">
              <a:off x="5267690" y="4333898"/>
              <a:ext cx="312422" cy="19956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A778E409-54CC-53F2-1226-601F63F9373C}"/>
              </a:ext>
            </a:extLst>
          </p:cNvPr>
          <p:cNvGrpSpPr/>
          <p:nvPr/>
        </p:nvGrpSpPr>
        <p:grpSpPr>
          <a:xfrm>
            <a:off x="4774077" y="5154580"/>
            <a:ext cx="2853772" cy="931435"/>
            <a:chOff x="4361535" y="5536877"/>
            <a:chExt cx="2853772" cy="931435"/>
          </a:xfrm>
        </p:grpSpPr>
        <p:grpSp>
          <p:nvGrpSpPr>
            <p:cNvPr id="56" name="Csoportba foglalás 55">
              <a:extLst>
                <a:ext uri="{FF2B5EF4-FFF2-40B4-BE49-F238E27FC236}">
                  <a16:creationId xmlns:a16="http://schemas.microsoft.com/office/drawing/2014/main" id="{4D8424C1-D7FA-4DA4-5FA8-3F2372683EE5}"/>
                </a:ext>
              </a:extLst>
            </p:cNvPr>
            <p:cNvGrpSpPr/>
            <p:nvPr/>
          </p:nvGrpSpPr>
          <p:grpSpPr>
            <a:xfrm>
              <a:off x="4995308" y="5560123"/>
              <a:ext cx="517385" cy="879524"/>
              <a:chOff x="4995308" y="5560123"/>
              <a:chExt cx="517385" cy="8795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églalap 62">
                    <a:extLst>
                      <a:ext uri="{FF2B5EF4-FFF2-40B4-BE49-F238E27FC236}">
                        <a16:creationId xmlns:a16="http://schemas.microsoft.com/office/drawing/2014/main" id="{6A326DDC-E591-CC26-60A1-833FFD1FD880}"/>
                      </a:ext>
                    </a:extLst>
                  </p:cNvPr>
                  <p:cNvSpPr/>
                  <p:nvPr/>
                </p:nvSpPr>
                <p:spPr>
                  <a:xfrm>
                    <a:off x="4995308" y="5833006"/>
                    <a:ext cx="517385" cy="60664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</m:m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3" name="Téglalap 62">
                    <a:extLst>
                      <a:ext uri="{FF2B5EF4-FFF2-40B4-BE49-F238E27FC236}">
                        <a16:creationId xmlns:a16="http://schemas.microsoft.com/office/drawing/2014/main" id="{6A326DDC-E591-CC26-60A1-833FFD1FD88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95308" y="5833006"/>
                    <a:ext cx="517385" cy="60664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u-H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Egyenes összekötő nyíllal 63">
                <a:extLst>
                  <a:ext uri="{FF2B5EF4-FFF2-40B4-BE49-F238E27FC236}">
                    <a16:creationId xmlns:a16="http://schemas.microsoft.com/office/drawing/2014/main" id="{45DA4495-229D-7BC9-3DEA-F0C7C427AACB}"/>
                  </a:ext>
                </a:extLst>
              </p:cNvPr>
              <p:cNvCxnSpPr>
                <a:endCxn id="63" idx="0"/>
              </p:cNvCxnSpPr>
              <p:nvPr/>
            </p:nvCxnSpPr>
            <p:spPr>
              <a:xfrm flipH="1">
                <a:off x="5254001" y="5560123"/>
                <a:ext cx="13689" cy="27288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D99A41CD-5D7A-0E2B-E61B-359D8E67F896}"/>
                </a:ext>
              </a:extLst>
            </p:cNvPr>
            <p:cNvGrpSpPr/>
            <p:nvPr/>
          </p:nvGrpSpPr>
          <p:grpSpPr>
            <a:xfrm>
              <a:off x="4361535" y="5596878"/>
              <a:ext cx="575414" cy="871434"/>
              <a:chOff x="4995308" y="5590270"/>
              <a:chExt cx="575414" cy="87143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églalap 60">
                    <a:extLst>
                      <a:ext uri="{FF2B5EF4-FFF2-40B4-BE49-F238E27FC236}">
                        <a16:creationId xmlns:a16="http://schemas.microsoft.com/office/drawing/2014/main" id="{77E3ABF6-A544-5E3B-8CAF-6F8C0C05FAF9}"/>
                      </a:ext>
                    </a:extLst>
                  </p:cNvPr>
                  <p:cNvSpPr/>
                  <p:nvPr/>
                </p:nvSpPr>
                <p:spPr>
                  <a:xfrm>
                    <a:off x="4995308" y="5833006"/>
                    <a:ext cx="575414" cy="62869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𝑗𝑖</m:t>
                                    </m:r>
                                  </m:sub>
                                </m:sSub>
                              </m:e>
                            </m:mr>
                          </m:m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1" name="Téglalap 60">
                    <a:extLst>
                      <a:ext uri="{FF2B5EF4-FFF2-40B4-BE49-F238E27FC236}">
                        <a16:creationId xmlns:a16="http://schemas.microsoft.com/office/drawing/2014/main" id="{77E3ABF6-A544-5E3B-8CAF-6F8C0C05FAF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95308" y="5833006"/>
                    <a:ext cx="575414" cy="62869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u-H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2" name="Egyenes összekötő nyíllal 61">
                <a:extLst>
                  <a:ext uri="{FF2B5EF4-FFF2-40B4-BE49-F238E27FC236}">
                    <a16:creationId xmlns:a16="http://schemas.microsoft.com/office/drawing/2014/main" id="{E844EC6F-A17F-07A3-6411-F8239AF96CBE}"/>
                  </a:ext>
                </a:extLst>
              </p:cNvPr>
              <p:cNvCxnSpPr>
                <a:endCxn id="61" idx="0"/>
              </p:cNvCxnSpPr>
              <p:nvPr/>
            </p:nvCxnSpPr>
            <p:spPr>
              <a:xfrm flipH="1">
                <a:off x="5283015" y="5590270"/>
                <a:ext cx="86556" cy="24273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96B0F2B4-3D4A-73F3-8D2B-D10B6DA1AD1D}"/>
                </a:ext>
              </a:extLst>
            </p:cNvPr>
            <p:cNvGrpSpPr/>
            <p:nvPr/>
          </p:nvGrpSpPr>
          <p:grpSpPr>
            <a:xfrm>
              <a:off x="5771386" y="5536877"/>
              <a:ext cx="1443921" cy="892476"/>
              <a:chOff x="5112740" y="5549137"/>
              <a:chExt cx="1443921" cy="8924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églalap 58">
                    <a:extLst>
                      <a:ext uri="{FF2B5EF4-FFF2-40B4-BE49-F238E27FC236}">
                        <a16:creationId xmlns:a16="http://schemas.microsoft.com/office/drawing/2014/main" id="{92824752-506F-343B-B6B2-4AE035E8927F}"/>
                      </a:ext>
                    </a:extLst>
                  </p:cNvPr>
                  <p:cNvSpPr/>
                  <p:nvPr/>
                </p:nvSpPr>
                <p:spPr>
                  <a:xfrm>
                    <a:off x="5112740" y="5822020"/>
                    <a:ext cx="1443921" cy="619593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=1/2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𝑠𝑖</m:t>
                                    </m:r>
                                  </m:sub>
                                </m:s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</m:e>
                            </m:mr>
                          </m:m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9" name="Téglalap 58">
                    <a:extLst>
                      <a:ext uri="{FF2B5EF4-FFF2-40B4-BE49-F238E27FC236}">
                        <a16:creationId xmlns:a16="http://schemas.microsoft.com/office/drawing/2014/main" id="{92824752-506F-343B-B6B2-4AE035E8927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2740" y="5822020"/>
                    <a:ext cx="1443921" cy="61959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u-H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0" name="Egyenes összekötő nyíllal 59">
                <a:extLst>
                  <a:ext uri="{FF2B5EF4-FFF2-40B4-BE49-F238E27FC236}">
                    <a16:creationId xmlns:a16="http://schemas.microsoft.com/office/drawing/2014/main" id="{C37997BB-C7A4-65DB-7D23-20C24C8C9E6C}"/>
                  </a:ext>
                </a:extLst>
              </p:cNvPr>
              <p:cNvCxnSpPr>
                <a:endCxn id="59" idx="0"/>
              </p:cNvCxnSpPr>
              <p:nvPr/>
            </p:nvCxnSpPr>
            <p:spPr>
              <a:xfrm>
                <a:off x="5385123" y="5549137"/>
                <a:ext cx="449578" cy="27288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5" name="Csoportba foglalás 64">
            <a:extLst>
              <a:ext uri="{FF2B5EF4-FFF2-40B4-BE49-F238E27FC236}">
                <a16:creationId xmlns:a16="http://schemas.microsoft.com/office/drawing/2014/main" id="{64A367DD-3A45-1CBB-F1BA-D0533FDCA0F0}"/>
              </a:ext>
            </a:extLst>
          </p:cNvPr>
          <p:cNvGrpSpPr/>
          <p:nvPr/>
        </p:nvGrpSpPr>
        <p:grpSpPr>
          <a:xfrm>
            <a:off x="7789077" y="5240459"/>
            <a:ext cx="1250983" cy="890746"/>
            <a:chOff x="7376535" y="5622756"/>
            <a:chExt cx="1250983" cy="890746"/>
          </a:xfrm>
        </p:grpSpPr>
        <p:sp>
          <p:nvSpPr>
            <p:cNvPr id="66" name="Lefelé nyíl 47">
              <a:extLst>
                <a:ext uri="{FF2B5EF4-FFF2-40B4-BE49-F238E27FC236}">
                  <a16:creationId xmlns:a16="http://schemas.microsoft.com/office/drawing/2014/main" id="{57655A23-6224-091F-2D60-E0DE5E6C1918}"/>
                </a:ext>
              </a:extLst>
            </p:cNvPr>
            <p:cNvSpPr/>
            <p:nvPr/>
          </p:nvSpPr>
          <p:spPr>
            <a:xfrm>
              <a:off x="7663589" y="5622756"/>
              <a:ext cx="611832" cy="229373"/>
            </a:xfrm>
            <a:prstGeom prst="down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églalap 66">
                  <a:extLst>
                    <a:ext uri="{FF2B5EF4-FFF2-40B4-BE49-F238E27FC236}">
                      <a16:creationId xmlns:a16="http://schemas.microsoft.com/office/drawing/2014/main" id="{3470B5C1-DB6B-BF49-316C-228B986A2A11}"/>
                    </a:ext>
                  </a:extLst>
                </p:cNvPr>
                <p:cNvSpPr/>
                <p:nvPr/>
              </p:nvSpPr>
              <p:spPr>
                <a:xfrm>
                  <a:off x="7376535" y="5902566"/>
                  <a:ext cx="1250983" cy="610936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hu-H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églalap 66">
                  <a:extLst>
                    <a:ext uri="{FF2B5EF4-FFF2-40B4-BE49-F238E27FC236}">
                      <a16:creationId xmlns:a16="http://schemas.microsoft.com/office/drawing/2014/main" id="{3470B5C1-DB6B-BF49-316C-228B986A2A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6535" y="5902566"/>
                  <a:ext cx="1250983" cy="61093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Csoportba foglalás 67">
            <a:extLst>
              <a:ext uri="{FF2B5EF4-FFF2-40B4-BE49-F238E27FC236}">
                <a16:creationId xmlns:a16="http://schemas.microsoft.com/office/drawing/2014/main" id="{6C886B38-42D0-ED11-2A5A-196973324DB0}"/>
              </a:ext>
            </a:extLst>
          </p:cNvPr>
          <p:cNvGrpSpPr/>
          <p:nvPr/>
        </p:nvGrpSpPr>
        <p:grpSpPr>
          <a:xfrm>
            <a:off x="6751628" y="4669188"/>
            <a:ext cx="2667672" cy="620234"/>
            <a:chOff x="6339086" y="5051485"/>
            <a:chExt cx="2667672" cy="6202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églalap 68">
                  <a:extLst>
                    <a:ext uri="{FF2B5EF4-FFF2-40B4-BE49-F238E27FC236}">
                      <a16:creationId xmlns:a16="http://schemas.microsoft.com/office/drawing/2014/main" id="{45365F66-E9F3-DB9E-BB6D-9F633BDCE01A}"/>
                    </a:ext>
                  </a:extLst>
                </p:cNvPr>
                <p:cNvSpPr/>
                <p:nvPr/>
              </p:nvSpPr>
              <p:spPr>
                <a:xfrm>
                  <a:off x="6754668" y="5051485"/>
                  <a:ext cx="2252090" cy="6202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hu-HU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hu-H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hu-HU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églalap 68">
                  <a:extLst>
                    <a:ext uri="{FF2B5EF4-FFF2-40B4-BE49-F238E27FC236}">
                      <a16:creationId xmlns:a16="http://schemas.microsoft.com/office/drawing/2014/main" id="{45365F66-E9F3-DB9E-BB6D-9F633BDCE0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4668" y="5051485"/>
                  <a:ext cx="2252090" cy="620234"/>
                </a:xfrm>
                <a:prstGeom prst="rect">
                  <a:avLst/>
                </a:prstGeom>
                <a:blipFill>
                  <a:blip r:embed="rId10"/>
                  <a:stretch>
                    <a:fillRect b="-686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Jobbra nyíl 50">
              <a:extLst>
                <a:ext uri="{FF2B5EF4-FFF2-40B4-BE49-F238E27FC236}">
                  <a16:creationId xmlns:a16="http://schemas.microsoft.com/office/drawing/2014/main" id="{46E0599A-1BCB-4B74-AB75-EA16DFF4EFEB}"/>
                </a:ext>
              </a:extLst>
            </p:cNvPr>
            <p:cNvSpPr/>
            <p:nvPr/>
          </p:nvSpPr>
          <p:spPr>
            <a:xfrm>
              <a:off x="6339086" y="5150459"/>
              <a:ext cx="393154" cy="362489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Szövegdoboz 70">
            <a:extLst>
              <a:ext uri="{FF2B5EF4-FFF2-40B4-BE49-F238E27FC236}">
                <a16:creationId xmlns:a16="http://schemas.microsoft.com/office/drawing/2014/main" id="{50897C12-F58F-254A-EE34-DF2472A7297C}"/>
              </a:ext>
            </a:extLst>
          </p:cNvPr>
          <p:cNvSpPr txBox="1"/>
          <p:nvPr/>
        </p:nvSpPr>
        <p:spPr>
          <a:xfrm>
            <a:off x="67558" y="5519265"/>
            <a:ext cx="35157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latin typeface="Book Antiqua" panose="02040602050305030304" pitchFamily="18" charset="0"/>
              </a:rPr>
              <a:t>angular</a:t>
            </a:r>
            <a:r>
              <a:rPr lang="hu-HU" sz="1600" b="1" dirty="0">
                <a:latin typeface="Book Antiqua" panose="02040602050305030304" pitchFamily="18" charset="0"/>
              </a:rPr>
              <a:t> momentum + </a:t>
            </a:r>
            <a:r>
              <a:rPr lang="hu-HU" sz="1600" b="1" dirty="0" err="1">
                <a:latin typeface="Book Antiqua" panose="02040602050305030304" pitchFamily="18" charset="0"/>
              </a:rPr>
              <a:t>intrinsic</a:t>
            </a:r>
            <a:r>
              <a:rPr lang="hu-HU" sz="1600" b="1" dirty="0">
                <a:latin typeface="Book Antiqua" panose="02040602050305030304" pitchFamily="18" charset="0"/>
              </a:rPr>
              <a:t> spin</a:t>
            </a:r>
          </a:p>
        </p:txBody>
      </p:sp>
      <p:sp>
        <p:nvSpPr>
          <p:cNvPr id="72" name="Jobb oldali kapcsos zárójel 71">
            <a:extLst>
              <a:ext uri="{FF2B5EF4-FFF2-40B4-BE49-F238E27FC236}">
                <a16:creationId xmlns:a16="http://schemas.microsoft.com/office/drawing/2014/main" id="{9414D7BF-BA70-A694-BEB9-2B6F89C089C0}"/>
              </a:ext>
            </a:extLst>
          </p:cNvPr>
          <p:cNvSpPr/>
          <p:nvPr/>
        </p:nvSpPr>
        <p:spPr>
          <a:xfrm rot="5400000">
            <a:off x="645093" y="4709844"/>
            <a:ext cx="407535" cy="1208845"/>
          </a:xfrm>
          <a:prstGeom prst="rightBrace">
            <a:avLst>
              <a:gd name="adj1" fmla="val 76277"/>
              <a:gd name="adj2" fmla="val 52949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F7596D5F-2B4F-B602-FDCF-3DD3518E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44</a:t>
            </a:fld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FF509EE-A939-131F-FB64-77BADDC0920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11722" y="5686599"/>
            <a:ext cx="1393202" cy="324000"/>
          </a:xfrm>
          <a:prstGeom prst="rect">
            <a:avLst/>
          </a:prstGeom>
          <a:ln w="31750">
            <a:solidFill>
              <a:srgbClr val="FF0000"/>
            </a:solidFill>
          </a:ln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5F2603EA-ED17-FF34-450C-DAD951F1C5EC}"/>
              </a:ext>
            </a:extLst>
          </p:cNvPr>
          <p:cNvSpPr txBox="1"/>
          <p:nvPr/>
        </p:nvSpPr>
        <p:spPr>
          <a:xfrm>
            <a:off x="8251251" y="3407097"/>
            <a:ext cx="36858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 err="1">
                <a:latin typeface="Book Antiqua" panose="02040602050305030304" pitchFamily="18" charset="0"/>
              </a:rPr>
              <a:t>Nonzero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if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there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are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unpaired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nucleons</a:t>
            </a:r>
            <a:endParaRPr lang="hu-HU" sz="14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 err="1">
                <a:latin typeface="Book Antiqua" panose="02040602050305030304" pitchFamily="18" charset="0"/>
              </a:rPr>
              <a:t>pair</a:t>
            </a:r>
            <a:r>
              <a:rPr lang="hu-HU" sz="1400" dirty="0">
                <a:latin typeface="Book Antiqua" panose="02040602050305030304" pitchFamily="18" charset="0"/>
              </a:rPr>
              <a:t>: (</a:t>
            </a:r>
            <a:r>
              <a:rPr lang="hu-HU" sz="1400" dirty="0" err="1">
                <a:latin typeface="Book Antiqua" panose="02040602050305030304" pitchFamily="18" charset="0"/>
              </a:rPr>
              <a:t>p,p</a:t>
            </a:r>
            <a:r>
              <a:rPr lang="hu-HU" sz="1400" dirty="0">
                <a:latin typeface="Book Antiqua" panose="02040602050305030304" pitchFamily="18" charset="0"/>
              </a:rPr>
              <a:t>); (</a:t>
            </a:r>
            <a:r>
              <a:rPr lang="hu-HU" sz="1400" dirty="0" err="1">
                <a:latin typeface="Book Antiqua" panose="02040602050305030304" pitchFamily="18" charset="0"/>
              </a:rPr>
              <a:t>n,n</a:t>
            </a:r>
            <a:r>
              <a:rPr lang="hu-HU" sz="1400" dirty="0">
                <a:latin typeface="Book Antiqua" panose="0204060205030503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 err="1">
                <a:latin typeface="Book Antiqua" panose="02040602050305030304" pitchFamily="18" charset="0"/>
              </a:rPr>
              <a:t>For</a:t>
            </a:r>
            <a:r>
              <a:rPr lang="hu-HU" sz="1400" dirty="0">
                <a:latin typeface="Book Antiqua" panose="02040602050305030304" pitchFamily="18" charset="0"/>
              </a:rPr>
              <a:t>  </a:t>
            </a:r>
            <a:r>
              <a:rPr lang="hu-HU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He-4</a:t>
            </a:r>
            <a:r>
              <a:rPr lang="hu-HU" sz="1400" dirty="0">
                <a:latin typeface="Book Antiqua" panose="02040602050305030304" pitchFamily="18" charset="0"/>
              </a:rPr>
              <a:t>: 2 </a:t>
            </a:r>
            <a:r>
              <a:rPr lang="hu-HU" sz="1400" dirty="0" err="1">
                <a:latin typeface="Book Antiqua" panose="02040602050305030304" pitchFamily="18" charset="0"/>
              </a:rPr>
              <a:t>protons</a:t>
            </a:r>
            <a:r>
              <a:rPr lang="hu-HU" sz="1400" dirty="0">
                <a:latin typeface="Book Antiqua" panose="02040602050305030304" pitchFamily="18" charset="0"/>
              </a:rPr>
              <a:t>, 2 </a:t>
            </a:r>
            <a:r>
              <a:rPr lang="hu-HU" sz="1400" dirty="0" err="1">
                <a:latin typeface="Book Antiqua" panose="02040602050305030304" pitchFamily="18" charset="0"/>
              </a:rPr>
              <a:t>neutrons</a:t>
            </a:r>
            <a:r>
              <a:rPr lang="hu-HU" sz="1400" dirty="0">
                <a:latin typeface="Book Antiqua" panose="02040602050305030304" pitchFamily="18" charset="0"/>
              </a:rPr>
              <a:t>        I=0</a:t>
            </a:r>
          </a:p>
        </p:txBody>
      </p: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A3B77181-20BB-0BEC-5EFE-5C598CFF1089}"/>
              </a:ext>
            </a:extLst>
          </p:cNvPr>
          <p:cNvCxnSpPr/>
          <p:nvPr/>
        </p:nvCxnSpPr>
        <p:spPr>
          <a:xfrm>
            <a:off x="11155680" y="3978724"/>
            <a:ext cx="276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5007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064A4-054A-2A98-EFA2-4123A0C6B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5AB2CC-4A2B-9688-F4F5-2E9DBBA0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latin typeface="Book Antiqua" panose="02040602050305030304" pitchFamily="18" charset="0"/>
              </a:rPr>
              <a:t>Nuclear</a:t>
            </a:r>
            <a:r>
              <a:rPr lang="hu-HU" b="1" dirty="0">
                <a:latin typeface="Book Antiqua" panose="02040602050305030304" pitchFamily="18" charset="0"/>
              </a:rPr>
              <a:t> spin </a:t>
            </a:r>
            <a:r>
              <a:rPr lang="hu-HU" dirty="0">
                <a:latin typeface="Book Antiqua" panose="02040602050305030304" pitchFamily="18" charset="0"/>
              </a:rPr>
              <a:t>and </a:t>
            </a:r>
            <a:r>
              <a:rPr lang="hu-HU" dirty="0" err="1">
                <a:latin typeface="Book Antiqua" panose="02040602050305030304" pitchFamily="18" charset="0"/>
              </a:rPr>
              <a:t>magnetic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moment</a:t>
            </a:r>
            <a:endParaRPr lang="hu-HU" dirty="0">
              <a:latin typeface="Book Antiqua" panose="02040602050305030304" pitchFamily="18" charset="0"/>
            </a:endParaRPr>
          </a:p>
        </p:txBody>
      </p:sp>
      <p:grpSp>
        <p:nvGrpSpPr>
          <p:cNvPr id="33" name="Csoportba foglalás 32">
            <a:extLst>
              <a:ext uri="{FF2B5EF4-FFF2-40B4-BE49-F238E27FC236}">
                <a16:creationId xmlns:a16="http://schemas.microsoft.com/office/drawing/2014/main" id="{A4229399-CB1D-2737-29DB-8EBF59448056}"/>
              </a:ext>
            </a:extLst>
          </p:cNvPr>
          <p:cNvGrpSpPr/>
          <p:nvPr/>
        </p:nvGrpSpPr>
        <p:grpSpPr>
          <a:xfrm>
            <a:off x="2559382" y="1871554"/>
            <a:ext cx="5011128" cy="572144"/>
            <a:chOff x="-563743" y="919807"/>
            <a:chExt cx="5011128" cy="572144"/>
          </a:xfrm>
        </p:grpSpPr>
        <p:sp>
          <p:nvSpPr>
            <p:cNvPr id="34" name="Szövegdoboz 33">
              <a:extLst>
                <a:ext uri="{FF2B5EF4-FFF2-40B4-BE49-F238E27FC236}">
                  <a16:creationId xmlns:a16="http://schemas.microsoft.com/office/drawing/2014/main" id="{ECAFFA44-B5B8-EB76-F4D2-E72A972A7B49}"/>
                </a:ext>
              </a:extLst>
            </p:cNvPr>
            <p:cNvSpPr txBox="1"/>
            <p:nvPr/>
          </p:nvSpPr>
          <p:spPr>
            <a:xfrm>
              <a:off x="-563743" y="1040578"/>
              <a:ext cx="2820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Nuclear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-spin </a:t>
              </a:r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eigenstates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:</a:t>
              </a:r>
              <a:endPara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églalap 34">
                  <a:extLst>
                    <a:ext uri="{FF2B5EF4-FFF2-40B4-BE49-F238E27FC236}">
                      <a16:creationId xmlns:a16="http://schemas.microsoft.com/office/drawing/2014/main" id="{EA83B866-617C-C852-C627-677A6ABC9EB1}"/>
                    </a:ext>
                  </a:extLst>
                </p:cNvPr>
                <p:cNvSpPr/>
                <p:nvPr/>
              </p:nvSpPr>
              <p:spPr>
                <a:xfrm>
                  <a:off x="2058911" y="919807"/>
                  <a:ext cx="2388474" cy="5721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  <m:r>
                          <a:rPr lang="hu-H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Sup>
                          <m:sSubSupPr>
                            <m:ctrlPr>
                              <a:rPr lang="hu-H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hu-H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d>
                          <m:dPr>
                            <m:begChr m:val=""/>
                            <m:endChr m:val="⟩"/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hu-H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hu-H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églalap 34">
                  <a:extLst>
                    <a:ext uri="{FF2B5EF4-FFF2-40B4-BE49-F238E27FC236}">
                      <a16:creationId xmlns:a16="http://schemas.microsoft.com/office/drawing/2014/main" id="{EA83B866-617C-C852-C627-677A6ABC9E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8911" y="919807"/>
                  <a:ext cx="2388474" cy="57214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Csoportba foglalás 35">
            <a:extLst>
              <a:ext uri="{FF2B5EF4-FFF2-40B4-BE49-F238E27FC236}">
                <a16:creationId xmlns:a16="http://schemas.microsoft.com/office/drawing/2014/main" id="{42D75397-A24B-543C-4E95-F3AB24676283}"/>
              </a:ext>
            </a:extLst>
          </p:cNvPr>
          <p:cNvGrpSpPr/>
          <p:nvPr/>
        </p:nvGrpSpPr>
        <p:grpSpPr>
          <a:xfrm>
            <a:off x="4286478" y="2372803"/>
            <a:ext cx="7231361" cy="670291"/>
            <a:chOff x="827584" y="1705454"/>
            <a:chExt cx="7299082" cy="670291"/>
          </a:xfrm>
        </p:grpSpPr>
        <p:cxnSp>
          <p:nvCxnSpPr>
            <p:cNvPr id="37" name="Egyenes összekötő nyíllal 36">
              <a:extLst>
                <a:ext uri="{FF2B5EF4-FFF2-40B4-BE49-F238E27FC236}">
                  <a16:creationId xmlns:a16="http://schemas.microsoft.com/office/drawing/2014/main" id="{10ECB702-D64C-91F4-74B4-39444DEE07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3688" y="1705454"/>
              <a:ext cx="236688" cy="2833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gyenes összekötő nyíllal 37">
              <a:extLst>
                <a:ext uri="{FF2B5EF4-FFF2-40B4-BE49-F238E27FC236}">
                  <a16:creationId xmlns:a16="http://schemas.microsoft.com/office/drawing/2014/main" id="{D0D5D409-46D2-550D-E7F6-F992FAE1B1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66020" y="1784480"/>
              <a:ext cx="233496" cy="2833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Szövegdoboz 38">
              <a:extLst>
                <a:ext uri="{FF2B5EF4-FFF2-40B4-BE49-F238E27FC236}">
                  <a16:creationId xmlns:a16="http://schemas.microsoft.com/office/drawing/2014/main" id="{493C452A-A422-9D09-0004-3C1CCCDFFB5D}"/>
                </a:ext>
              </a:extLst>
            </p:cNvPr>
            <p:cNvSpPr txBox="1"/>
            <p:nvPr/>
          </p:nvSpPr>
          <p:spPr>
            <a:xfrm>
              <a:off x="827584" y="1988840"/>
              <a:ext cx="1014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latin typeface="Book Antiqua" panose="02040602050305030304" pitchFamily="18" charset="0"/>
                </a:rPr>
                <a:t>nucleus</a:t>
              </a:r>
              <a:endParaRPr lang="en-US" b="1" dirty="0">
                <a:latin typeface="Book Antiqua" panose="02040602050305030304" pitchFamily="18" charset="0"/>
              </a:endParaRPr>
            </a:p>
          </p:txBody>
        </p:sp>
        <p:sp>
          <p:nvSpPr>
            <p:cNvPr id="40" name="Szövegdoboz 39">
              <a:extLst>
                <a:ext uri="{FF2B5EF4-FFF2-40B4-BE49-F238E27FC236}">
                  <a16:creationId xmlns:a16="http://schemas.microsoft.com/office/drawing/2014/main" id="{DE1AB5D4-1827-0E73-FB45-389A89C005D6}"/>
                </a:ext>
              </a:extLst>
            </p:cNvPr>
            <p:cNvSpPr txBox="1"/>
            <p:nvPr/>
          </p:nvSpPr>
          <p:spPr>
            <a:xfrm>
              <a:off x="2445492" y="2006413"/>
              <a:ext cx="5681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latin typeface="Book Antiqua" panose="02040602050305030304" pitchFamily="18" charset="0"/>
                </a:rPr>
                <a:t>single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latin typeface="Book Antiqua" panose="02040602050305030304" pitchFamily="18" charset="0"/>
                </a:rPr>
                <a:t>nucleon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i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Book Antiqua" panose="02040602050305030304" pitchFamily="18" charset="0"/>
                </a:rPr>
                <a:t>total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latin typeface="Book Antiqua" panose="02040602050305030304" pitchFamily="18" charset="0"/>
                </a:rPr>
                <a:t>angular</a:t>
              </a:r>
              <a:r>
                <a:rPr lang="hu-HU" b="1" dirty="0">
                  <a:latin typeface="Book Antiqua" panose="02040602050305030304" pitchFamily="18" charset="0"/>
                </a:rPr>
                <a:t> momentum </a:t>
              </a:r>
              <a:r>
                <a:rPr lang="hu-HU" b="1" dirty="0" err="1">
                  <a:latin typeface="Book Antiqua" panose="02040602050305030304" pitchFamily="18" charset="0"/>
                </a:rPr>
                <a:t>eigenstates</a:t>
              </a:r>
              <a:endParaRPr lang="en-US" b="1" dirty="0">
                <a:latin typeface="Book Antiqua" panose="02040602050305030304" pitchFamily="18" charset="0"/>
              </a:endParaRPr>
            </a:p>
          </p:txBody>
        </p:sp>
      </p:grpSp>
      <p:sp>
        <p:nvSpPr>
          <p:cNvPr id="45" name="Szövegdoboz 44">
            <a:extLst>
              <a:ext uri="{FF2B5EF4-FFF2-40B4-BE49-F238E27FC236}">
                <a16:creationId xmlns:a16="http://schemas.microsoft.com/office/drawing/2014/main" id="{1B6E6FAD-4FC8-2D69-010D-9FCB2952BE7A}"/>
              </a:ext>
            </a:extLst>
          </p:cNvPr>
          <p:cNvSpPr txBox="1"/>
          <p:nvPr/>
        </p:nvSpPr>
        <p:spPr>
          <a:xfrm>
            <a:off x="150864" y="3609392"/>
            <a:ext cx="5081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Nucleus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=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bound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state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protons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and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neutrons</a:t>
            </a:r>
            <a:endParaRPr lang="en-US" b="1" dirty="0">
              <a:solidFill>
                <a:schemeClr val="accent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grpSp>
        <p:nvGrpSpPr>
          <p:cNvPr id="46" name="Csoportba foglalás 45">
            <a:extLst>
              <a:ext uri="{FF2B5EF4-FFF2-40B4-BE49-F238E27FC236}">
                <a16:creationId xmlns:a16="http://schemas.microsoft.com/office/drawing/2014/main" id="{A0AE50D5-869E-EB8F-6248-60F16E501C9E}"/>
              </a:ext>
            </a:extLst>
          </p:cNvPr>
          <p:cNvGrpSpPr/>
          <p:nvPr/>
        </p:nvGrpSpPr>
        <p:grpSpPr>
          <a:xfrm>
            <a:off x="5230014" y="3320053"/>
            <a:ext cx="2882163" cy="872675"/>
            <a:chOff x="4817472" y="3702350"/>
            <a:chExt cx="2882163" cy="872675"/>
          </a:xfrm>
        </p:grpSpPr>
        <p:sp>
          <p:nvSpPr>
            <p:cNvPr id="47" name="Jobbra nyíl 23">
              <a:extLst>
                <a:ext uri="{FF2B5EF4-FFF2-40B4-BE49-F238E27FC236}">
                  <a16:creationId xmlns:a16="http://schemas.microsoft.com/office/drawing/2014/main" id="{DEF4D2AD-1900-5461-45FC-8FD0D327692A}"/>
                </a:ext>
              </a:extLst>
            </p:cNvPr>
            <p:cNvSpPr/>
            <p:nvPr/>
          </p:nvSpPr>
          <p:spPr>
            <a:xfrm>
              <a:off x="4817472" y="3964566"/>
              <a:ext cx="355672" cy="416478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Szövegdoboz 47">
                  <a:extLst>
                    <a:ext uri="{FF2B5EF4-FFF2-40B4-BE49-F238E27FC236}">
                      <a16:creationId xmlns:a16="http://schemas.microsoft.com/office/drawing/2014/main" id="{A58002BC-A191-D639-2865-2CC9BDF6141C}"/>
                    </a:ext>
                  </a:extLst>
                </p:cNvPr>
                <p:cNvSpPr txBox="1"/>
                <p:nvPr/>
              </p:nvSpPr>
              <p:spPr>
                <a:xfrm>
                  <a:off x="5406764" y="3702350"/>
                  <a:ext cx="2292871" cy="872675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hu-HU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p>
                          <m:e>
                            <m:sSub>
                              <m:sSubPr>
                                <m:ctrl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hu-HU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hu-HU" b="0" i="0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hu-H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p>
                          <m:e>
                            <m:sSub>
                              <m:sSubPr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hu-HU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Szövegdoboz 47">
                  <a:extLst>
                    <a:ext uri="{FF2B5EF4-FFF2-40B4-BE49-F238E27FC236}">
                      <a16:creationId xmlns:a16="http://schemas.microsoft.com/office/drawing/2014/main" id="{A58002BC-A191-D639-2865-2CC9BDF614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6764" y="3702350"/>
                  <a:ext cx="2292871" cy="8726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Csoportba foglalás 48">
            <a:extLst>
              <a:ext uri="{FF2B5EF4-FFF2-40B4-BE49-F238E27FC236}">
                <a16:creationId xmlns:a16="http://schemas.microsoft.com/office/drawing/2014/main" id="{B58D9374-5F23-03CD-1164-E02BF1681D60}"/>
              </a:ext>
            </a:extLst>
          </p:cNvPr>
          <p:cNvGrpSpPr/>
          <p:nvPr/>
        </p:nvGrpSpPr>
        <p:grpSpPr>
          <a:xfrm>
            <a:off x="91605" y="4768162"/>
            <a:ext cx="6660023" cy="409664"/>
            <a:chOff x="-318156" y="4923582"/>
            <a:chExt cx="6660023" cy="409664"/>
          </a:xfrm>
        </p:grpSpPr>
        <p:sp>
          <p:nvSpPr>
            <p:cNvPr id="50" name="Szövegdoboz 49">
              <a:extLst>
                <a:ext uri="{FF2B5EF4-FFF2-40B4-BE49-F238E27FC236}">
                  <a16:creationId xmlns:a16="http://schemas.microsoft.com/office/drawing/2014/main" id="{6CA8A515-5736-8AB8-B336-0AE939985A33}"/>
                </a:ext>
              </a:extLst>
            </p:cNvPr>
            <p:cNvSpPr txBox="1"/>
            <p:nvPr/>
          </p:nvSpPr>
          <p:spPr>
            <a:xfrm>
              <a:off x="-318156" y="4963332"/>
              <a:ext cx="498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Total </a:t>
              </a:r>
              <a:r>
                <a:rPr lang="hu-HU" b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angular</a:t>
              </a:r>
              <a:r>
                <a:rPr lang="hu-HU" b="1" dirty="0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 momentum of a </a:t>
              </a:r>
              <a:r>
                <a:rPr lang="hu-HU" b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single</a:t>
              </a:r>
              <a:r>
                <a:rPr lang="hu-HU" b="1" dirty="0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nucleon</a:t>
              </a:r>
              <a:r>
                <a:rPr lang="hu-HU" b="1" dirty="0">
                  <a:solidFill>
                    <a:schemeClr val="accent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:</a:t>
              </a:r>
              <a:endParaRPr lang="en-US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églalap 50">
                  <a:extLst>
                    <a:ext uri="{FF2B5EF4-FFF2-40B4-BE49-F238E27FC236}">
                      <a16:creationId xmlns:a16="http://schemas.microsoft.com/office/drawing/2014/main" id="{790E3622-CF0D-EEB8-8D57-EB83058B9E9C}"/>
                    </a:ext>
                  </a:extLst>
                </p:cNvPr>
                <p:cNvSpPr/>
                <p:nvPr/>
              </p:nvSpPr>
              <p:spPr>
                <a:xfrm>
                  <a:off x="4506621" y="4923582"/>
                  <a:ext cx="1835246" cy="4096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hu-HU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hu-HU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hu-HU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hu-HU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hu-HU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hu-HU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hu-HU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églalap 50">
                  <a:extLst>
                    <a:ext uri="{FF2B5EF4-FFF2-40B4-BE49-F238E27FC236}">
                      <a16:creationId xmlns:a16="http://schemas.microsoft.com/office/drawing/2014/main" id="{790E3622-CF0D-EEB8-8D57-EB83058B9E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6621" y="4923582"/>
                  <a:ext cx="1835246" cy="409664"/>
                </a:xfrm>
                <a:prstGeom prst="rect">
                  <a:avLst/>
                </a:prstGeom>
                <a:blipFill>
                  <a:blip r:embed="rId4"/>
                  <a:stretch>
                    <a:fillRect t="-1493" r="-5298" b="-4478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Csoportba foglalás 51">
            <a:extLst>
              <a:ext uri="{FF2B5EF4-FFF2-40B4-BE49-F238E27FC236}">
                <a16:creationId xmlns:a16="http://schemas.microsoft.com/office/drawing/2014/main" id="{DC4CC070-868C-1E67-27DA-DC9005A43D32}"/>
              </a:ext>
            </a:extLst>
          </p:cNvPr>
          <p:cNvGrpSpPr/>
          <p:nvPr/>
        </p:nvGrpSpPr>
        <p:grpSpPr>
          <a:xfrm>
            <a:off x="5333521" y="3951601"/>
            <a:ext cx="659133" cy="643774"/>
            <a:chOff x="4920979" y="4333898"/>
            <a:chExt cx="659133" cy="6437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églalap 52">
                  <a:extLst>
                    <a:ext uri="{FF2B5EF4-FFF2-40B4-BE49-F238E27FC236}">
                      <a16:creationId xmlns:a16="http://schemas.microsoft.com/office/drawing/2014/main" id="{05965263-5EC7-521B-2A93-69B0A5392688}"/>
                    </a:ext>
                  </a:extLst>
                </p:cNvPr>
                <p:cNvSpPr/>
                <p:nvPr/>
              </p:nvSpPr>
              <p:spPr>
                <a:xfrm>
                  <a:off x="4920979" y="4427072"/>
                  <a:ext cx="451598" cy="55060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hu-HU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mr>
                          <m:m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églalap 52">
                  <a:extLst>
                    <a:ext uri="{FF2B5EF4-FFF2-40B4-BE49-F238E27FC236}">
                      <a16:creationId xmlns:a16="http://schemas.microsoft.com/office/drawing/2014/main" id="{05965263-5EC7-521B-2A93-69B0A53926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0979" y="4427072"/>
                  <a:ext cx="451598" cy="5506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Egyenes összekötő nyíllal 53">
              <a:extLst>
                <a:ext uri="{FF2B5EF4-FFF2-40B4-BE49-F238E27FC236}">
                  <a16:creationId xmlns:a16="http://schemas.microsoft.com/office/drawing/2014/main" id="{4CED1862-D880-B6FE-1A92-E2BBC444AF7F}"/>
                </a:ext>
              </a:extLst>
            </p:cNvPr>
            <p:cNvCxnSpPr/>
            <p:nvPr/>
          </p:nvCxnSpPr>
          <p:spPr>
            <a:xfrm flipH="1">
              <a:off x="5267690" y="4333898"/>
              <a:ext cx="312422" cy="19956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Csoportba foglalás 64">
            <a:extLst>
              <a:ext uri="{FF2B5EF4-FFF2-40B4-BE49-F238E27FC236}">
                <a16:creationId xmlns:a16="http://schemas.microsoft.com/office/drawing/2014/main" id="{D9E25312-4B74-DFE3-E04D-BE2D3E5A1439}"/>
              </a:ext>
            </a:extLst>
          </p:cNvPr>
          <p:cNvGrpSpPr/>
          <p:nvPr/>
        </p:nvGrpSpPr>
        <p:grpSpPr>
          <a:xfrm>
            <a:off x="7789077" y="5240459"/>
            <a:ext cx="1250983" cy="890746"/>
            <a:chOff x="7376535" y="5622756"/>
            <a:chExt cx="1250983" cy="890746"/>
          </a:xfrm>
        </p:grpSpPr>
        <p:sp>
          <p:nvSpPr>
            <p:cNvPr id="66" name="Lefelé nyíl 47">
              <a:extLst>
                <a:ext uri="{FF2B5EF4-FFF2-40B4-BE49-F238E27FC236}">
                  <a16:creationId xmlns:a16="http://schemas.microsoft.com/office/drawing/2014/main" id="{4FD4E186-B253-9F07-B17E-F2F23FF29061}"/>
                </a:ext>
              </a:extLst>
            </p:cNvPr>
            <p:cNvSpPr/>
            <p:nvPr/>
          </p:nvSpPr>
          <p:spPr>
            <a:xfrm>
              <a:off x="7663589" y="5622756"/>
              <a:ext cx="611832" cy="229373"/>
            </a:xfrm>
            <a:prstGeom prst="down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églalap 66">
                  <a:extLst>
                    <a:ext uri="{FF2B5EF4-FFF2-40B4-BE49-F238E27FC236}">
                      <a16:creationId xmlns:a16="http://schemas.microsoft.com/office/drawing/2014/main" id="{AF5AE507-347F-6F5D-E78E-CE41E4A01B5A}"/>
                    </a:ext>
                  </a:extLst>
                </p:cNvPr>
                <p:cNvSpPr/>
                <p:nvPr/>
              </p:nvSpPr>
              <p:spPr>
                <a:xfrm>
                  <a:off x="7376535" y="5902566"/>
                  <a:ext cx="1250983" cy="610936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hu-H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églalap 66">
                  <a:extLst>
                    <a:ext uri="{FF2B5EF4-FFF2-40B4-BE49-F238E27FC236}">
                      <a16:creationId xmlns:a16="http://schemas.microsoft.com/office/drawing/2014/main" id="{AF5AE507-347F-6F5D-E78E-CE41E4A01B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6535" y="5902566"/>
                  <a:ext cx="1250983" cy="61093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Csoportba foglalás 67">
            <a:extLst>
              <a:ext uri="{FF2B5EF4-FFF2-40B4-BE49-F238E27FC236}">
                <a16:creationId xmlns:a16="http://schemas.microsoft.com/office/drawing/2014/main" id="{7F37825B-FE11-F919-55B2-F8B8E1995DE4}"/>
              </a:ext>
            </a:extLst>
          </p:cNvPr>
          <p:cNvGrpSpPr/>
          <p:nvPr/>
        </p:nvGrpSpPr>
        <p:grpSpPr>
          <a:xfrm>
            <a:off x="6751628" y="4669188"/>
            <a:ext cx="2667672" cy="620234"/>
            <a:chOff x="6339086" y="5051485"/>
            <a:chExt cx="2667672" cy="6202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églalap 68">
                  <a:extLst>
                    <a:ext uri="{FF2B5EF4-FFF2-40B4-BE49-F238E27FC236}">
                      <a16:creationId xmlns:a16="http://schemas.microsoft.com/office/drawing/2014/main" id="{F4F3B2CC-9ED3-CDCE-D6DE-E23ADC9BFD7D}"/>
                    </a:ext>
                  </a:extLst>
                </p:cNvPr>
                <p:cNvSpPr/>
                <p:nvPr/>
              </p:nvSpPr>
              <p:spPr>
                <a:xfrm>
                  <a:off x="6754668" y="5051485"/>
                  <a:ext cx="2252090" cy="6202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hu-HU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hu-H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hu-HU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églalap 68">
                  <a:extLst>
                    <a:ext uri="{FF2B5EF4-FFF2-40B4-BE49-F238E27FC236}">
                      <a16:creationId xmlns:a16="http://schemas.microsoft.com/office/drawing/2014/main" id="{F4F3B2CC-9ED3-CDCE-D6DE-E23ADC9BFD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4668" y="5051485"/>
                  <a:ext cx="2252090" cy="62023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Jobbra nyíl 50">
              <a:extLst>
                <a:ext uri="{FF2B5EF4-FFF2-40B4-BE49-F238E27FC236}">
                  <a16:creationId xmlns:a16="http://schemas.microsoft.com/office/drawing/2014/main" id="{980C4CEE-6310-0BF3-26F4-17948B0D946D}"/>
                </a:ext>
              </a:extLst>
            </p:cNvPr>
            <p:cNvSpPr/>
            <p:nvPr/>
          </p:nvSpPr>
          <p:spPr>
            <a:xfrm>
              <a:off x="6339086" y="5150459"/>
              <a:ext cx="393154" cy="362489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Szövegdoboz 70">
            <a:extLst>
              <a:ext uri="{FF2B5EF4-FFF2-40B4-BE49-F238E27FC236}">
                <a16:creationId xmlns:a16="http://schemas.microsoft.com/office/drawing/2014/main" id="{D8A90867-1EB0-D9D6-4E0E-C3B30EF1CF53}"/>
              </a:ext>
            </a:extLst>
          </p:cNvPr>
          <p:cNvSpPr txBox="1"/>
          <p:nvPr/>
        </p:nvSpPr>
        <p:spPr>
          <a:xfrm>
            <a:off x="67558" y="5519265"/>
            <a:ext cx="35157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latin typeface="Book Antiqua" panose="02040602050305030304" pitchFamily="18" charset="0"/>
              </a:rPr>
              <a:t>angular</a:t>
            </a:r>
            <a:r>
              <a:rPr lang="hu-HU" sz="1600" b="1" dirty="0">
                <a:latin typeface="Book Antiqua" panose="02040602050305030304" pitchFamily="18" charset="0"/>
              </a:rPr>
              <a:t> momentum + </a:t>
            </a:r>
            <a:r>
              <a:rPr lang="hu-HU" sz="1600" b="1" dirty="0" err="1">
                <a:latin typeface="Book Antiqua" panose="02040602050305030304" pitchFamily="18" charset="0"/>
              </a:rPr>
              <a:t>intrinsic</a:t>
            </a:r>
            <a:r>
              <a:rPr lang="hu-HU" sz="1600" b="1" dirty="0">
                <a:latin typeface="Book Antiqua" panose="02040602050305030304" pitchFamily="18" charset="0"/>
              </a:rPr>
              <a:t> spin</a:t>
            </a:r>
          </a:p>
        </p:txBody>
      </p:sp>
      <p:sp>
        <p:nvSpPr>
          <p:cNvPr id="72" name="Jobb oldali kapcsos zárójel 71">
            <a:extLst>
              <a:ext uri="{FF2B5EF4-FFF2-40B4-BE49-F238E27FC236}">
                <a16:creationId xmlns:a16="http://schemas.microsoft.com/office/drawing/2014/main" id="{C01312ED-F0D0-8E9E-313D-D5FAEAD21DCA}"/>
              </a:ext>
            </a:extLst>
          </p:cNvPr>
          <p:cNvSpPr/>
          <p:nvPr/>
        </p:nvSpPr>
        <p:spPr>
          <a:xfrm rot="5400000">
            <a:off x="645093" y="4709844"/>
            <a:ext cx="407535" cy="1208845"/>
          </a:xfrm>
          <a:prstGeom prst="rightBrace">
            <a:avLst>
              <a:gd name="adj1" fmla="val 76277"/>
              <a:gd name="adj2" fmla="val 52949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44BE6532-9663-FFAC-7526-2112B87CA1ED}"/>
              </a:ext>
            </a:extLst>
          </p:cNvPr>
          <p:cNvSpPr txBox="1"/>
          <p:nvPr/>
        </p:nvSpPr>
        <p:spPr>
          <a:xfrm>
            <a:off x="636797" y="5947241"/>
            <a:ext cx="7164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Nuclear</a:t>
            </a:r>
            <a:r>
              <a:rPr lang="hu-HU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spin </a:t>
            </a:r>
            <a:r>
              <a:rPr lang="hu-HU" sz="1400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I</a:t>
            </a:r>
            <a:r>
              <a:rPr lang="hu-HU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is a </a:t>
            </a:r>
            <a:r>
              <a:rPr lang="hu-HU" sz="1400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constant of </a:t>
            </a:r>
            <a:r>
              <a:rPr lang="hu-HU" sz="1400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motion</a:t>
            </a:r>
            <a:r>
              <a:rPr lang="hu-HU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; </a:t>
            </a:r>
            <a:r>
              <a:rPr lang="hu-HU" sz="14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it</a:t>
            </a:r>
            <a:r>
              <a:rPr lang="hu-HU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is a fixed, </a:t>
            </a:r>
            <a:r>
              <a:rPr lang="hu-HU" sz="14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measurable</a:t>
            </a:r>
            <a:r>
              <a:rPr lang="hu-HU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quantity</a:t>
            </a:r>
            <a:r>
              <a:rPr lang="hu-HU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for</a:t>
            </a:r>
            <a:r>
              <a:rPr lang="hu-HU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a </a:t>
            </a:r>
            <a:r>
              <a:rPr lang="hu-HU" sz="14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nucleus</a:t>
            </a:r>
            <a:r>
              <a:rPr lang="hu-HU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!</a:t>
            </a:r>
            <a:endParaRPr lang="en-US" sz="1400" b="1" dirty="0">
              <a:solidFill>
                <a:schemeClr val="accent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ABD4A67-C57E-70B2-B25D-9E0D56621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45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9BD3E8D-8C04-211C-5B1D-B7ADCD88C136}"/>
              </a:ext>
            </a:extLst>
          </p:cNvPr>
          <p:cNvSpPr txBox="1"/>
          <p:nvPr/>
        </p:nvSpPr>
        <p:spPr>
          <a:xfrm>
            <a:off x="8264129" y="3407097"/>
            <a:ext cx="36858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 err="1">
                <a:latin typeface="Book Antiqua" panose="02040602050305030304" pitchFamily="18" charset="0"/>
              </a:rPr>
              <a:t>Nonzero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if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there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are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unpaired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nucleons</a:t>
            </a:r>
            <a:endParaRPr lang="hu-HU" sz="14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 err="1">
                <a:latin typeface="Book Antiqua" panose="02040602050305030304" pitchFamily="18" charset="0"/>
              </a:rPr>
              <a:t>pair</a:t>
            </a:r>
            <a:r>
              <a:rPr lang="hu-HU" sz="1400" dirty="0">
                <a:latin typeface="Book Antiqua" panose="02040602050305030304" pitchFamily="18" charset="0"/>
              </a:rPr>
              <a:t>: (</a:t>
            </a:r>
            <a:r>
              <a:rPr lang="hu-HU" sz="1400" dirty="0" err="1">
                <a:latin typeface="Book Antiqua" panose="02040602050305030304" pitchFamily="18" charset="0"/>
              </a:rPr>
              <a:t>p,p</a:t>
            </a:r>
            <a:r>
              <a:rPr lang="hu-HU" sz="1400" dirty="0">
                <a:latin typeface="Book Antiqua" panose="02040602050305030304" pitchFamily="18" charset="0"/>
              </a:rPr>
              <a:t>); (</a:t>
            </a:r>
            <a:r>
              <a:rPr lang="hu-HU" sz="1400" dirty="0" err="1">
                <a:latin typeface="Book Antiqua" panose="02040602050305030304" pitchFamily="18" charset="0"/>
              </a:rPr>
              <a:t>n,n</a:t>
            </a:r>
            <a:r>
              <a:rPr lang="hu-HU" sz="1400" dirty="0">
                <a:latin typeface="Book Antiqua" panose="0204060205030503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 err="1">
                <a:latin typeface="Book Antiqua" panose="02040602050305030304" pitchFamily="18" charset="0"/>
              </a:rPr>
              <a:t>For</a:t>
            </a:r>
            <a:r>
              <a:rPr lang="hu-HU" sz="1400" dirty="0">
                <a:latin typeface="Book Antiqua" panose="02040602050305030304" pitchFamily="18" charset="0"/>
              </a:rPr>
              <a:t>  </a:t>
            </a:r>
            <a:r>
              <a:rPr lang="hu-HU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He-4</a:t>
            </a:r>
            <a:r>
              <a:rPr lang="hu-HU" sz="1400" dirty="0">
                <a:latin typeface="Book Antiqua" panose="02040602050305030304" pitchFamily="18" charset="0"/>
              </a:rPr>
              <a:t>: 2 </a:t>
            </a:r>
            <a:r>
              <a:rPr lang="hu-HU" sz="1400" dirty="0" err="1">
                <a:latin typeface="Book Antiqua" panose="02040602050305030304" pitchFamily="18" charset="0"/>
              </a:rPr>
              <a:t>protons</a:t>
            </a:r>
            <a:r>
              <a:rPr lang="hu-HU" sz="1400" dirty="0">
                <a:latin typeface="Book Antiqua" panose="02040602050305030304" pitchFamily="18" charset="0"/>
              </a:rPr>
              <a:t>, 2 </a:t>
            </a:r>
            <a:r>
              <a:rPr lang="hu-HU" sz="1400" dirty="0" err="1">
                <a:latin typeface="Book Antiqua" panose="02040602050305030304" pitchFamily="18" charset="0"/>
              </a:rPr>
              <a:t>neutrons</a:t>
            </a:r>
            <a:r>
              <a:rPr lang="hu-HU" sz="1400" dirty="0">
                <a:latin typeface="Book Antiqua" panose="02040602050305030304" pitchFamily="18" charset="0"/>
              </a:rPr>
              <a:t>        I=0</a:t>
            </a:r>
          </a:p>
        </p:txBody>
      </p:sp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D7AC0A9F-3C37-F2CB-14E9-8CF1F3703173}"/>
              </a:ext>
            </a:extLst>
          </p:cNvPr>
          <p:cNvCxnSpPr/>
          <p:nvPr/>
        </p:nvCxnSpPr>
        <p:spPr>
          <a:xfrm>
            <a:off x="11155680" y="3978724"/>
            <a:ext cx="276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3187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71022-B5AF-B63F-9CAF-0C6A546E8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1C3939-349A-B747-EE77-BA72EE06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latin typeface="Book Antiqua" panose="02040602050305030304" pitchFamily="18" charset="0"/>
              </a:rPr>
              <a:t>Nuclear</a:t>
            </a:r>
            <a:r>
              <a:rPr lang="hu-HU" b="1" dirty="0">
                <a:latin typeface="Book Antiqua" panose="02040602050305030304" pitchFamily="18" charset="0"/>
              </a:rPr>
              <a:t> spin </a:t>
            </a:r>
            <a:r>
              <a:rPr lang="hu-HU" dirty="0">
                <a:latin typeface="Book Antiqua" panose="02040602050305030304" pitchFamily="18" charset="0"/>
              </a:rPr>
              <a:t>and </a:t>
            </a:r>
            <a:r>
              <a:rPr lang="hu-HU" dirty="0" err="1">
                <a:latin typeface="Book Antiqua" panose="02040602050305030304" pitchFamily="18" charset="0"/>
              </a:rPr>
              <a:t>magnetic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moment</a:t>
            </a:r>
            <a:endParaRPr lang="hu-HU" dirty="0">
              <a:latin typeface="Book Antiqua" panose="02040602050305030304" pitchFamily="18" charset="0"/>
            </a:endParaRPr>
          </a:p>
        </p:txBody>
      </p:sp>
      <p:grpSp>
        <p:nvGrpSpPr>
          <p:cNvPr id="33" name="Csoportba foglalás 32">
            <a:extLst>
              <a:ext uri="{FF2B5EF4-FFF2-40B4-BE49-F238E27FC236}">
                <a16:creationId xmlns:a16="http://schemas.microsoft.com/office/drawing/2014/main" id="{97CEFA3F-7398-FF54-77CE-14193136AA81}"/>
              </a:ext>
            </a:extLst>
          </p:cNvPr>
          <p:cNvGrpSpPr/>
          <p:nvPr/>
        </p:nvGrpSpPr>
        <p:grpSpPr>
          <a:xfrm>
            <a:off x="2559382" y="1871554"/>
            <a:ext cx="5011128" cy="572144"/>
            <a:chOff x="-563743" y="919807"/>
            <a:chExt cx="5011128" cy="572144"/>
          </a:xfrm>
        </p:grpSpPr>
        <p:sp>
          <p:nvSpPr>
            <p:cNvPr id="34" name="Szövegdoboz 33">
              <a:extLst>
                <a:ext uri="{FF2B5EF4-FFF2-40B4-BE49-F238E27FC236}">
                  <a16:creationId xmlns:a16="http://schemas.microsoft.com/office/drawing/2014/main" id="{73B2B90C-C5BB-7FE2-48AD-82D21019A24F}"/>
                </a:ext>
              </a:extLst>
            </p:cNvPr>
            <p:cNvSpPr txBox="1"/>
            <p:nvPr/>
          </p:nvSpPr>
          <p:spPr>
            <a:xfrm>
              <a:off x="-563743" y="1040578"/>
              <a:ext cx="2820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Nuclear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-spin </a:t>
              </a:r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eigenstates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:</a:t>
              </a:r>
              <a:endPara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églalap 34">
                  <a:extLst>
                    <a:ext uri="{FF2B5EF4-FFF2-40B4-BE49-F238E27FC236}">
                      <a16:creationId xmlns:a16="http://schemas.microsoft.com/office/drawing/2014/main" id="{828BDA7A-1CE5-82BC-3DA0-6D2B6C75FACE}"/>
                    </a:ext>
                  </a:extLst>
                </p:cNvPr>
                <p:cNvSpPr/>
                <p:nvPr/>
              </p:nvSpPr>
              <p:spPr>
                <a:xfrm>
                  <a:off x="2058911" y="919807"/>
                  <a:ext cx="2388474" cy="5721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  <m:r>
                          <a:rPr lang="hu-H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Sup>
                          <m:sSubSupPr>
                            <m:ctrlPr>
                              <a:rPr lang="hu-H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hu-H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d>
                          <m:dPr>
                            <m:begChr m:val=""/>
                            <m:endChr m:val="⟩"/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hu-H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hu-H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églalap 34">
                  <a:extLst>
                    <a:ext uri="{FF2B5EF4-FFF2-40B4-BE49-F238E27FC236}">
                      <a16:creationId xmlns:a16="http://schemas.microsoft.com/office/drawing/2014/main" id="{828BDA7A-1CE5-82BC-3DA0-6D2B6C75FA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8911" y="919807"/>
                  <a:ext cx="2388474" cy="57214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Csoportba foglalás 35">
            <a:extLst>
              <a:ext uri="{FF2B5EF4-FFF2-40B4-BE49-F238E27FC236}">
                <a16:creationId xmlns:a16="http://schemas.microsoft.com/office/drawing/2014/main" id="{4098022A-68F2-48CF-C571-DB9BE9338651}"/>
              </a:ext>
            </a:extLst>
          </p:cNvPr>
          <p:cNvGrpSpPr/>
          <p:nvPr/>
        </p:nvGrpSpPr>
        <p:grpSpPr>
          <a:xfrm>
            <a:off x="4286478" y="2372803"/>
            <a:ext cx="7231361" cy="670291"/>
            <a:chOff x="827584" y="1705454"/>
            <a:chExt cx="7299082" cy="670291"/>
          </a:xfrm>
        </p:grpSpPr>
        <p:cxnSp>
          <p:nvCxnSpPr>
            <p:cNvPr id="37" name="Egyenes összekötő nyíllal 36">
              <a:extLst>
                <a:ext uri="{FF2B5EF4-FFF2-40B4-BE49-F238E27FC236}">
                  <a16:creationId xmlns:a16="http://schemas.microsoft.com/office/drawing/2014/main" id="{A6F66D74-816D-EDE5-87A6-6B79896071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3688" y="1705454"/>
              <a:ext cx="236688" cy="2833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gyenes összekötő nyíllal 37">
              <a:extLst>
                <a:ext uri="{FF2B5EF4-FFF2-40B4-BE49-F238E27FC236}">
                  <a16:creationId xmlns:a16="http://schemas.microsoft.com/office/drawing/2014/main" id="{FC1C7653-290F-B607-B61E-EB48EEF813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66020" y="1784480"/>
              <a:ext cx="233496" cy="2833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Szövegdoboz 38">
              <a:extLst>
                <a:ext uri="{FF2B5EF4-FFF2-40B4-BE49-F238E27FC236}">
                  <a16:creationId xmlns:a16="http://schemas.microsoft.com/office/drawing/2014/main" id="{F0405143-B173-B922-E3BE-A91B64458D20}"/>
                </a:ext>
              </a:extLst>
            </p:cNvPr>
            <p:cNvSpPr txBox="1"/>
            <p:nvPr/>
          </p:nvSpPr>
          <p:spPr>
            <a:xfrm>
              <a:off x="827584" y="1988840"/>
              <a:ext cx="1014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latin typeface="Book Antiqua" panose="02040602050305030304" pitchFamily="18" charset="0"/>
                </a:rPr>
                <a:t>nucleus</a:t>
              </a:r>
              <a:endParaRPr lang="en-US" b="1" dirty="0">
                <a:latin typeface="Book Antiqua" panose="02040602050305030304" pitchFamily="18" charset="0"/>
              </a:endParaRPr>
            </a:p>
          </p:txBody>
        </p:sp>
        <p:sp>
          <p:nvSpPr>
            <p:cNvPr id="40" name="Szövegdoboz 39">
              <a:extLst>
                <a:ext uri="{FF2B5EF4-FFF2-40B4-BE49-F238E27FC236}">
                  <a16:creationId xmlns:a16="http://schemas.microsoft.com/office/drawing/2014/main" id="{0742C6D8-EDC2-00F1-7F20-AF590FB812EB}"/>
                </a:ext>
              </a:extLst>
            </p:cNvPr>
            <p:cNvSpPr txBox="1"/>
            <p:nvPr/>
          </p:nvSpPr>
          <p:spPr>
            <a:xfrm>
              <a:off x="2445492" y="2006413"/>
              <a:ext cx="5681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latin typeface="Book Antiqua" panose="02040602050305030304" pitchFamily="18" charset="0"/>
                </a:rPr>
                <a:t>single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latin typeface="Book Antiqua" panose="02040602050305030304" pitchFamily="18" charset="0"/>
                </a:rPr>
                <a:t>nucleon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i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Book Antiqua" panose="02040602050305030304" pitchFamily="18" charset="0"/>
                </a:rPr>
                <a:t>total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latin typeface="Book Antiqua" panose="02040602050305030304" pitchFamily="18" charset="0"/>
                </a:rPr>
                <a:t>angular</a:t>
              </a:r>
              <a:r>
                <a:rPr lang="hu-HU" b="1" dirty="0">
                  <a:latin typeface="Book Antiqua" panose="02040602050305030304" pitchFamily="18" charset="0"/>
                </a:rPr>
                <a:t> momentum </a:t>
              </a:r>
              <a:r>
                <a:rPr lang="hu-HU" b="1" dirty="0" err="1">
                  <a:latin typeface="Book Antiqua" panose="02040602050305030304" pitchFamily="18" charset="0"/>
                </a:rPr>
                <a:t>eigenstates</a:t>
              </a:r>
              <a:endParaRPr lang="en-US" b="1" dirty="0">
                <a:latin typeface="Book Antiqua" panose="0204060205030503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Szövegdoboz 40">
                <a:extLst>
                  <a:ext uri="{FF2B5EF4-FFF2-40B4-BE49-F238E27FC236}">
                    <a16:creationId xmlns:a16="http://schemas.microsoft.com/office/drawing/2014/main" id="{C233048C-E88E-74D9-388E-5C3B3A6EBCCB}"/>
                  </a:ext>
                </a:extLst>
              </p:cNvPr>
              <p:cNvSpPr txBox="1"/>
              <p:nvPr/>
            </p:nvSpPr>
            <p:spPr>
              <a:xfrm>
                <a:off x="1097280" y="3979496"/>
                <a:ext cx="6975499" cy="135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hu-HU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acc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hu-HU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p>
                        <m:e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hu-HU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hu-HU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hu-HU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hu-HU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𝑍</m:t>
                          </m:r>
                        </m:sup>
                        <m:e>
                          <m:sSub>
                            <m:sSub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hu-HU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e>
                              </m:acc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hu-HU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𝑣𝑒𝑛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𝑒𝑣𝑒𝑛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hu-HU" b="1" i="1">
                                            <a:latin typeface="Cambria Math" panose="02040503050406030204" pitchFamily="18" charset="0"/>
                                          </a:rPr>
                                          <m:t>𝑰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𝑒𝑣𝑒𝑛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𝑜𝑑𝑑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hu-HU" b="1" i="1">
                                            <a:latin typeface="Cambria Math" panose="02040503050406030204" pitchFamily="18" charset="0"/>
                                          </a:rPr>
                                          <m:t>𝑰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hu-HU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hu-HU" b="1" i="1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</m:e>
                                          <m:sub>
                                            <m:r>
                                              <a:rPr lang="hu-HU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hu-H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f>
                                  <m:fPr>
                                    <m:ctrlP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𝑜𝑑𝑑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𝑜𝑑𝑑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hu-HU" b="1" i="1">
                                            <a:latin typeface="Cambria Math" panose="02040503050406030204" pitchFamily="18" charset="0"/>
                                          </a:rPr>
                                          <m:t>𝑰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hu-HU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hu-HU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hu-HU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hu-HU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hu-HU" b="0" i="1" smtClean="0">
                                            <a:latin typeface="Cambria Math" panose="02040503050406030204" pitchFamily="18" charset="0"/>
                                          </a:rPr>
                                          <m:t>𝑝𝑖</m:t>
                                        </m:r>
                                      </m:sub>
                                    </m:s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hu-H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hu-HU" b="1" i="1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hu-HU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𝑠𝑢𝑚</m:t>
                                    </m:r>
                                  </m:sub>
                                </m:sSub>
                                <m:r>
                                  <a:rPr lang="hu-H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Szövegdoboz 40">
                <a:extLst>
                  <a:ext uri="{FF2B5EF4-FFF2-40B4-BE49-F238E27FC236}">
                    <a16:creationId xmlns:a16="http://schemas.microsoft.com/office/drawing/2014/main" id="{C233048C-E88E-74D9-388E-5C3B3A6EB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3979496"/>
                <a:ext cx="6975499" cy="1358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Csoportba foglalás 41">
            <a:extLst>
              <a:ext uri="{FF2B5EF4-FFF2-40B4-BE49-F238E27FC236}">
                <a16:creationId xmlns:a16="http://schemas.microsoft.com/office/drawing/2014/main" id="{CAA8FB9C-A4D9-2AD4-CAF6-AE1312432482}"/>
              </a:ext>
            </a:extLst>
          </p:cNvPr>
          <p:cNvGrpSpPr/>
          <p:nvPr/>
        </p:nvGrpSpPr>
        <p:grpSpPr>
          <a:xfrm>
            <a:off x="8275172" y="4004452"/>
            <a:ext cx="1524218" cy="369332"/>
            <a:chOff x="6876256" y="4830850"/>
            <a:chExt cx="1524218" cy="369332"/>
          </a:xfrm>
        </p:grpSpPr>
        <p:sp>
          <p:nvSpPr>
            <p:cNvPr id="43" name="Jobbra nyíl 27">
              <a:extLst>
                <a:ext uri="{FF2B5EF4-FFF2-40B4-BE49-F238E27FC236}">
                  <a16:creationId xmlns:a16="http://schemas.microsoft.com/office/drawing/2014/main" id="{CD0BF556-8BDD-DF91-DEFA-19478EF1F1C8}"/>
                </a:ext>
              </a:extLst>
            </p:cNvPr>
            <p:cNvSpPr/>
            <p:nvPr/>
          </p:nvSpPr>
          <p:spPr>
            <a:xfrm>
              <a:off x="6876256" y="4941168"/>
              <a:ext cx="1008112" cy="216024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Szövegdoboz 43">
              <a:extLst>
                <a:ext uri="{FF2B5EF4-FFF2-40B4-BE49-F238E27FC236}">
                  <a16:creationId xmlns:a16="http://schemas.microsoft.com/office/drawing/2014/main" id="{23B99C02-E499-8E02-F45B-98807E48962A}"/>
                </a:ext>
              </a:extLst>
            </p:cNvPr>
            <p:cNvSpPr txBox="1"/>
            <p:nvPr/>
          </p:nvSpPr>
          <p:spPr>
            <a:xfrm>
              <a:off x="8100392" y="483085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>
                  <a:latin typeface="+mn-lt"/>
                </a:rPr>
                <a:t>0</a:t>
              </a:r>
              <a:endParaRPr lang="en-US" dirty="0">
                <a:latin typeface="+mn-lt"/>
              </a:endParaRPr>
            </a:p>
          </p:txBody>
        </p:sp>
      </p:grpSp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64ECF775-DCC6-EE61-C7D4-207FF44B35B2}"/>
              </a:ext>
            </a:extLst>
          </p:cNvPr>
          <p:cNvGrpSpPr/>
          <p:nvPr/>
        </p:nvGrpSpPr>
        <p:grpSpPr>
          <a:xfrm>
            <a:off x="8491196" y="4489442"/>
            <a:ext cx="2211646" cy="369332"/>
            <a:chOff x="7393916" y="4888890"/>
            <a:chExt cx="2211646" cy="369332"/>
          </a:xfrm>
        </p:grpSpPr>
        <p:sp>
          <p:nvSpPr>
            <p:cNvPr id="46" name="Jobbra nyíl 30">
              <a:extLst>
                <a:ext uri="{FF2B5EF4-FFF2-40B4-BE49-F238E27FC236}">
                  <a16:creationId xmlns:a16="http://schemas.microsoft.com/office/drawing/2014/main" id="{146E905F-CA67-D48F-1965-BCA90419D483}"/>
                </a:ext>
              </a:extLst>
            </p:cNvPr>
            <p:cNvSpPr/>
            <p:nvPr/>
          </p:nvSpPr>
          <p:spPr>
            <a:xfrm>
              <a:off x="7393916" y="4959731"/>
              <a:ext cx="792088" cy="227651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Szövegdoboz 46">
              <a:extLst>
                <a:ext uri="{FF2B5EF4-FFF2-40B4-BE49-F238E27FC236}">
                  <a16:creationId xmlns:a16="http://schemas.microsoft.com/office/drawing/2014/main" id="{8B104D46-C9D3-9D09-13F5-C7F65D8B5342}"/>
                </a:ext>
              </a:extLst>
            </p:cNvPr>
            <p:cNvSpPr txBox="1"/>
            <p:nvPr/>
          </p:nvSpPr>
          <p:spPr>
            <a:xfrm>
              <a:off x="8231468" y="4888890"/>
              <a:ext cx="13740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>
                  <a:latin typeface="Book Antiqua" panose="02040602050305030304" pitchFamily="18" charset="0"/>
                </a:rPr>
                <a:t>half</a:t>
              </a:r>
              <a:r>
                <a:rPr lang="hu-HU" dirty="0">
                  <a:latin typeface="Book Antiqua" panose="02040602050305030304" pitchFamily="18" charset="0"/>
                </a:rPr>
                <a:t>-integer</a:t>
              </a:r>
              <a:endParaRPr lang="en-US" dirty="0">
                <a:latin typeface="Book Antiqua" panose="02040602050305030304" pitchFamily="18" charset="0"/>
              </a:endParaRPr>
            </a:p>
          </p:txBody>
        </p:sp>
      </p:grpSp>
      <p:grpSp>
        <p:nvGrpSpPr>
          <p:cNvPr id="48" name="Csoportba foglalás 47">
            <a:extLst>
              <a:ext uri="{FF2B5EF4-FFF2-40B4-BE49-F238E27FC236}">
                <a16:creationId xmlns:a16="http://schemas.microsoft.com/office/drawing/2014/main" id="{A0E244DF-11A3-13BA-8145-58A6D971F7B4}"/>
              </a:ext>
            </a:extLst>
          </p:cNvPr>
          <p:cNvGrpSpPr/>
          <p:nvPr/>
        </p:nvGrpSpPr>
        <p:grpSpPr>
          <a:xfrm>
            <a:off x="8887240" y="4895166"/>
            <a:ext cx="1351728" cy="369332"/>
            <a:chOff x="7789960" y="5294614"/>
            <a:chExt cx="1351728" cy="369332"/>
          </a:xfrm>
        </p:grpSpPr>
        <p:sp>
          <p:nvSpPr>
            <p:cNvPr id="49" name="Jobbra nyíl 34">
              <a:extLst>
                <a:ext uri="{FF2B5EF4-FFF2-40B4-BE49-F238E27FC236}">
                  <a16:creationId xmlns:a16="http://schemas.microsoft.com/office/drawing/2014/main" id="{101614D7-9375-3867-61B7-1B510D7299B0}"/>
                </a:ext>
              </a:extLst>
            </p:cNvPr>
            <p:cNvSpPr/>
            <p:nvPr/>
          </p:nvSpPr>
          <p:spPr>
            <a:xfrm>
              <a:off x="7789960" y="5386098"/>
              <a:ext cx="396044" cy="216024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Szövegdoboz 49">
              <a:extLst>
                <a:ext uri="{FF2B5EF4-FFF2-40B4-BE49-F238E27FC236}">
                  <a16:creationId xmlns:a16="http://schemas.microsoft.com/office/drawing/2014/main" id="{C3A96E2E-F6DA-9FEB-8A86-A42C3514A7C6}"/>
                </a:ext>
              </a:extLst>
            </p:cNvPr>
            <p:cNvSpPr txBox="1"/>
            <p:nvPr/>
          </p:nvSpPr>
          <p:spPr>
            <a:xfrm>
              <a:off x="8238877" y="5294614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>
                  <a:latin typeface="Book Antiqua" panose="02040602050305030304" pitchFamily="18" charset="0"/>
                </a:rPr>
                <a:t>integer</a:t>
              </a:r>
              <a:endParaRPr lang="en-US" dirty="0">
                <a:latin typeface="Book Antiqua" panose="02040602050305030304" pitchFamily="18" charset="0"/>
              </a:endParaRPr>
            </a:p>
          </p:txBody>
        </p:sp>
      </p:grp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C318E959-8E9D-3A6F-8FB2-33872F5ABAB1}"/>
              </a:ext>
            </a:extLst>
          </p:cNvPr>
          <p:cNvSpPr txBox="1"/>
          <p:nvPr/>
        </p:nvSpPr>
        <p:spPr>
          <a:xfrm>
            <a:off x="1470374" y="5688539"/>
            <a:ext cx="9251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Nuclear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spin 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I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is a 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constant of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motion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;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it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is a fixed,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measurable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quantity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for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a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nucleus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!</a:t>
            </a:r>
            <a:endParaRPr lang="en-US" b="1" dirty="0">
              <a:solidFill>
                <a:schemeClr val="accent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CAF1FA33-756E-FC1D-28DA-CF018BAA9766}"/>
              </a:ext>
            </a:extLst>
          </p:cNvPr>
          <p:cNvSpPr txBox="1"/>
          <p:nvPr/>
        </p:nvSpPr>
        <p:spPr>
          <a:xfrm>
            <a:off x="546085" y="3315632"/>
            <a:ext cx="4902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i="1" dirty="0" err="1">
                <a:latin typeface="Book Antiqua" panose="02040602050305030304" pitchFamily="18" charset="0"/>
              </a:rPr>
              <a:t>Identical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nucleons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organize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into</a:t>
            </a:r>
            <a:r>
              <a:rPr lang="hu-HU" b="1" dirty="0">
                <a:latin typeface="Book Antiqua" panose="02040602050305030304" pitchFamily="18" charset="0"/>
              </a:rPr>
              <a:t> j=0 </a:t>
            </a:r>
            <a:r>
              <a:rPr lang="hu-HU" b="1" dirty="0" err="1">
                <a:latin typeface="Book Antiqua" panose="02040602050305030304" pitchFamily="18" charset="0"/>
              </a:rPr>
              <a:t>pairs</a:t>
            </a:r>
            <a:r>
              <a:rPr lang="hu-HU" b="1" dirty="0">
                <a:latin typeface="Book Antiqua" panose="02040602050305030304" pitchFamily="18" charset="0"/>
              </a:rPr>
              <a:t>!</a:t>
            </a:r>
          </a:p>
        </p:txBody>
      </p:sp>
      <p:cxnSp>
        <p:nvCxnSpPr>
          <p:cNvPr id="54" name="Egyenes összekötő nyíllal 53">
            <a:extLst>
              <a:ext uri="{FF2B5EF4-FFF2-40B4-BE49-F238E27FC236}">
                <a16:creationId xmlns:a16="http://schemas.microsoft.com/office/drawing/2014/main" id="{4E390A8A-C78A-63D0-9240-39945D81F8F9}"/>
              </a:ext>
            </a:extLst>
          </p:cNvPr>
          <p:cNvCxnSpPr/>
          <p:nvPr/>
        </p:nvCxnSpPr>
        <p:spPr>
          <a:xfrm>
            <a:off x="5640947" y="3500298"/>
            <a:ext cx="0" cy="3366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2FF9B5E6-B8F4-F567-73F2-FB629DB2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46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03897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3A22E-361D-6C24-0313-51B61BE6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782C89-7DF1-4A97-372F-45D1CD463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spin and </a:t>
            </a:r>
            <a:r>
              <a:rPr lang="hu-HU" b="1" dirty="0" err="1">
                <a:latin typeface="Book Antiqua" panose="02040602050305030304" pitchFamily="18" charset="0"/>
              </a:rPr>
              <a:t>magnetic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moment</a:t>
            </a:r>
            <a:endParaRPr lang="hu-HU" b="1" dirty="0"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áblázat 2">
                <a:extLst>
                  <a:ext uri="{FF2B5EF4-FFF2-40B4-BE49-F238E27FC236}">
                    <a16:creationId xmlns:a16="http://schemas.microsoft.com/office/drawing/2014/main" id="{E75ACD89-9BE5-7776-D87E-2AEF9330AE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374333"/>
                  </p:ext>
                </p:extLst>
              </p:nvPr>
            </p:nvGraphicFramePr>
            <p:xfrm>
              <a:off x="4514841" y="3729825"/>
              <a:ext cx="2990025" cy="11125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966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66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66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proton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neutron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hu-HU" i="1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hu-HU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hu-HU" i="1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hu-HU" b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2,7793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-1,913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áblázat 2">
                <a:extLst>
                  <a:ext uri="{FF2B5EF4-FFF2-40B4-BE49-F238E27FC236}">
                    <a16:creationId xmlns:a16="http://schemas.microsoft.com/office/drawing/2014/main" id="{E75ACD89-9BE5-7776-D87E-2AEF9330AE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374333"/>
                  </p:ext>
                </p:extLst>
              </p:nvPr>
            </p:nvGraphicFramePr>
            <p:xfrm>
              <a:off x="4514841" y="3729825"/>
              <a:ext cx="2990025" cy="11125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966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66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66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proton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neutron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>
                        <a:blipFill>
                          <a:blip r:embed="rId2"/>
                          <a:stretch>
                            <a:fillRect l="-610" t="-106452" r="-202439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>
                        <a:blipFill>
                          <a:blip r:embed="rId2"/>
                          <a:stretch>
                            <a:fillRect l="-610" t="-209836" r="-20243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2,7793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-1,913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C77A735F-75C9-AE1F-CC11-D00061173D82}"/>
              </a:ext>
            </a:extLst>
          </p:cNvPr>
          <p:cNvGrpSpPr/>
          <p:nvPr/>
        </p:nvGrpSpPr>
        <p:grpSpPr>
          <a:xfrm>
            <a:off x="216607" y="2251445"/>
            <a:ext cx="7144135" cy="854372"/>
            <a:chOff x="574416" y="3199473"/>
            <a:chExt cx="7144135" cy="854372"/>
          </a:xfrm>
        </p:grpSpPr>
        <p:sp>
          <p:nvSpPr>
            <p:cNvPr id="9" name="Szövegdoboz 8">
              <a:extLst>
                <a:ext uri="{FF2B5EF4-FFF2-40B4-BE49-F238E27FC236}">
                  <a16:creationId xmlns:a16="http://schemas.microsoft.com/office/drawing/2014/main" id="{A02558E3-5FCA-12EB-46A1-BFF5B5604F62}"/>
                </a:ext>
              </a:extLst>
            </p:cNvPr>
            <p:cNvSpPr txBox="1"/>
            <p:nvPr/>
          </p:nvSpPr>
          <p:spPr>
            <a:xfrm>
              <a:off x="574416" y="3253626"/>
              <a:ext cx="5065810" cy="8002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>
                  <a:latin typeface="Book Antiqua" panose="02040602050305030304" pitchFamily="18" charset="0"/>
                </a:rPr>
                <a:t>Net </a:t>
              </a:r>
              <a:r>
                <a:rPr lang="hu-HU" dirty="0" err="1">
                  <a:latin typeface="Book Antiqua" panose="02040602050305030304" pitchFamily="18" charset="0"/>
                </a:rPr>
                <a:t>magnetic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dipole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moment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for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b="1" i="1" dirty="0">
                  <a:latin typeface="Book Antiqua" panose="02040602050305030304" pitchFamily="18" charset="0"/>
                </a:rPr>
                <a:t>a </a:t>
              </a:r>
              <a:r>
                <a:rPr lang="hu-HU" b="1" i="1" dirty="0" err="1">
                  <a:latin typeface="Book Antiqua" panose="02040602050305030304" pitchFamily="18" charset="0"/>
                </a:rPr>
                <a:t>nucleon</a:t>
              </a:r>
              <a:r>
                <a:rPr lang="hu-HU" dirty="0">
                  <a:latin typeface="Book Antiqua" panose="02040602050305030304" pitchFamily="18" charset="0"/>
                </a:rPr>
                <a:t>:</a:t>
              </a:r>
            </a:p>
            <a:p>
              <a:endParaRPr lang="hu-HU" sz="1400" dirty="0">
                <a:latin typeface="Book Antiqua" panose="02040602050305030304" pitchFamily="18" charset="0"/>
              </a:endParaRPr>
            </a:p>
            <a:p>
              <a:r>
                <a:rPr lang="hu-HU" sz="1400" dirty="0" err="1">
                  <a:latin typeface="Book Antiqua" panose="02040602050305030304" pitchFamily="18" charset="0"/>
                </a:rPr>
                <a:t>Magnetic</a:t>
              </a:r>
              <a:r>
                <a:rPr lang="hu-HU" sz="1400" dirty="0">
                  <a:latin typeface="Book Antiqua" panose="02040602050305030304" pitchFamily="18" charset="0"/>
                </a:rPr>
                <a:t> </a:t>
              </a:r>
              <a:r>
                <a:rPr lang="hu-HU" sz="1400" dirty="0" err="1">
                  <a:latin typeface="Book Antiqua" panose="02040602050305030304" pitchFamily="18" charset="0"/>
                </a:rPr>
                <a:t>dipole</a:t>
              </a:r>
              <a:r>
                <a:rPr lang="hu-HU" sz="1400" dirty="0">
                  <a:latin typeface="Book Antiqua" panose="02040602050305030304" pitchFamily="18" charset="0"/>
                </a:rPr>
                <a:t> </a:t>
              </a:r>
              <a:r>
                <a:rPr lang="hu-HU" sz="1400" dirty="0" err="1">
                  <a:latin typeface="Book Antiqua" panose="02040602050305030304" pitchFamily="18" charset="0"/>
                </a:rPr>
                <a:t>moment</a:t>
              </a:r>
              <a:r>
                <a:rPr lang="hu-HU" sz="1400" dirty="0">
                  <a:latin typeface="Book Antiqua" panose="02040602050305030304" pitchFamily="18" charset="0"/>
                </a:rPr>
                <a:t> of a </a:t>
              </a:r>
              <a:r>
                <a:rPr lang="hu-HU" sz="1400" dirty="0" err="1">
                  <a:latin typeface="Book Antiqua" panose="02040602050305030304" pitchFamily="18" charset="0"/>
                </a:rPr>
                <a:t>positively</a:t>
              </a:r>
              <a:r>
                <a:rPr lang="hu-HU" sz="1400" dirty="0">
                  <a:latin typeface="Book Antiqua" panose="02040602050305030304" pitchFamily="18" charset="0"/>
                </a:rPr>
                <a:t> </a:t>
              </a:r>
              <a:r>
                <a:rPr lang="hu-HU" sz="1400" dirty="0" err="1">
                  <a:latin typeface="Book Antiqua" panose="02040602050305030304" pitchFamily="18" charset="0"/>
                </a:rPr>
                <a:t>charged</a:t>
              </a:r>
              <a:r>
                <a:rPr lang="hu-HU" sz="1400" dirty="0">
                  <a:latin typeface="Book Antiqua" panose="02040602050305030304" pitchFamily="18" charset="0"/>
                </a:rPr>
                <a:t> </a:t>
              </a:r>
              <a:r>
                <a:rPr lang="hu-HU" sz="1400" dirty="0" err="1">
                  <a:latin typeface="Book Antiqua" panose="02040602050305030304" pitchFamily="18" charset="0"/>
                </a:rPr>
                <a:t>current</a:t>
              </a:r>
              <a:r>
                <a:rPr lang="hu-HU" sz="1400" dirty="0">
                  <a:latin typeface="Book Antiqua" panose="02040602050305030304" pitchFamily="18" charset="0"/>
                </a:rPr>
                <a:t> </a:t>
              </a:r>
              <a:r>
                <a:rPr lang="hu-HU" sz="1400" dirty="0" err="1">
                  <a:latin typeface="Book Antiqua" panose="02040602050305030304" pitchFamily="18" charset="0"/>
                </a:rPr>
                <a:t>loop</a:t>
              </a:r>
              <a:r>
                <a:rPr lang="hu-HU" sz="1400" dirty="0">
                  <a:latin typeface="Book Antiqua" panose="02040602050305030304" pitchFamily="18" charset="0"/>
                </a:rPr>
                <a:t>:</a:t>
              </a:r>
              <a:endParaRPr lang="en-US" sz="1400" dirty="0"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églalap 9">
                  <a:extLst>
                    <a:ext uri="{FF2B5EF4-FFF2-40B4-BE49-F238E27FC236}">
                      <a16:creationId xmlns:a16="http://schemas.microsoft.com/office/drawing/2014/main" id="{50E46983-9494-97E5-7035-430654D96F0A}"/>
                    </a:ext>
                  </a:extLst>
                </p:cNvPr>
                <p:cNvSpPr/>
                <p:nvPr/>
              </p:nvSpPr>
              <p:spPr>
                <a:xfrm>
                  <a:off x="5359700" y="3199473"/>
                  <a:ext cx="2358851" cy="395621"/>
                </a:xfrm>
                <a:prstGeom prst="rect">
                  <a:avLst/>
                </a:prstGeom>
                <a:ln>
                  <a:solidFill>
                    <a:schemeClr val="accent2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hu-HU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hu-H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hu-HU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  <m:r>
                          <a:rPr lang="hu-H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hu-H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" name="Téglalap 9">
                  <a:extLst>
                    <a:ext uri="{FF2B5EF4-FFF2-40B4-BE49-F238E27FC236}">
                      <a16:creationId xmlns:a16="http://schemas.microsoft.com/office/drawing/2014/main" id="{50E46983-9494-97E5-7035-430654D96F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9700" y="3199473"/>
                  <a:ext cx="2358851" cy="395621"/>
                </a:xfrm>
                <a:prstGeom prst="rect">
                  <a:avLst/>
                </a:prstGeom>
                <a:blipFill>
                  <a:blip r:embed="rId3"/>
                  <a:stretch>
                    <a:fillRect b="-7463"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ACCCA180-1EDF-EB8D-F104-BF04862FCED1}"/>
                  </a:ext>
                </a:extLst>
              </p:cNvPr>
              <p:cNvSpPr txBox="1"/>
              <p:nvPr/>
            </p:nvSpPr>
            <p:spPr>
              <a:xfrm>
                <a:off x="8338490" y="2833939"/>
                <a:ext cx="15143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hu-H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ACCCA180-1EDF-EB8D-F104-BF04862FC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490" y="2833939"/>
                <a:ext cx="1514323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zövegdoboz 11">
                <a:extLst>
                  <a:ext uri="{FF2B5EF4-FFF2-40B4-BE49-F238E27FC236}">
                    <a16:creationId xmlns:a16="http://schemas.microsoft.com/office/drawing/2014/main" id="{C6E988B8-4B04-298F-B37B-8BE032AEF682}"/>
                  </a:ext>
                </a:extLst>
              </p:cNvPr>
              <p:cNvSpPr txBox="1"/>
              <p:nvPr/>
            </p:nvSpPr>
            <p:spPr>
              <a:xfrm>
                <a:off x="8263486" y="1889939"/>
                <a:ext cx="13896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hu-H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12" name="Szövegdoboz 11">
                <a:extLst>
                  <a:ext uri="{FF2B5EF4-FFF2-40B4-BE49-F238E27FC236}">
                    <a16:creationId xmlns:a16="http://schemas.microsoft.com/office/drawing/2014/main" id="{C6E988B8-4B04-298F-B37B-8BE032AEF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486" y="1889939"/>
                <a:ext cx="1389611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églalap 17">
                <a:extLst>
                  <a:ext uri="{FF2B5EF4-FFF2-40B4-BE49-F238E27FC236}">
                    <a16:creationId xmlns:a16="http://schemas.microsoft.com/office/drawing/2014/main" id="{DCB02AFF-D123-BF8C-201D-9E41553B5F64}"/>
                  </a:ext>
                </a:extLst>
              </p:cNvPr>
              <p:cNvSpPr/>
              <p:nvPr/>
            </p:nvSpPr>
            <p:spPr>
              <a:xfrm>
                <a:off x="4357343" y="5303777"/>
                <a:ext cx="3305023" cy="618311"/>
              </a:xfrm>
              <a:prstGeom prst="rect">
                <a:avLst/>
              </a:prstGeom>
              <a:solidFill>
                <a:schemeClr val="accent1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𝑀𝑐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=3,152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−14</m:t>
                          </m:r>
                        </m:sup>
                      </m:sSup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𝑀𝑒𝑉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églalap 17">
                <a:extLst>
                  <a:ext uri="{FF2B5EF4-FFF2-40B4-BE49-F238E27FC236}">
                    <a16:creationId xmlns:a16="http://schemas.microsoft.com/office/drawing/2014/main" id="{DCB02AFF-D123-BF8C-201D-9E41553B5F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343" y="5303777"/>
                <a:ext cx="3305023" cy="6183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zövegdoboz 3">
            <a:extLst>
              <a:ext uri="{FF2B5EF4-FFF2-40B4-BE49-F238E27FC236}">
                <a16:creationId xmlns:a16="http://schemas.microsoft.com/office/drawing/2014/main" id="{17BEDDF7-76C2-A914-B174-30DB705E0701}"/>
              </a:ext>
            </a:extLst>
          </p:cNvPr>
          <p:cNvSpPr txBox="1"/>
          <p:nvPr/>
        </p:nvSpPr>
        <p:spPr>
          <a:xfrm>
            <a:off x="9968947" y="1889939"/>
            <a:ext cx="19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Angular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moment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generates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it</a:t>
            </a:r>
            <a:endParaRPr lang="hu-HU" sz="1400" dirty="0">
              <a:latin typeface="Book Antiqua" panose="02040602050305030304" pitchFamily="18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0FDCB49-5F6E-01FC-6AA9-9B4EF15FE4AC}"/>
              </a:ext>
            </a:extLst>
          </p:cNvPr>
          <p:cNvSpPr txBox="1"/>
          <p:nvPr/>
        </p:nvSpPr>
        <p:spPr>
          <a:xfrm>
            <a:off x="9968947" y="2825442"/>
            <a:ext cx="19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Intrinsic</a:t>
            </a:r>
            <a:r>
              <a:rPr lang="hu-HU" sz="1400" dirty="0">
                <a:latin typeface="Book Antiqua" panose="02040602050305030304" pitchFamily="18" charset="0"/>
              </a:rPr>
              <a:t> spin </a:t>
            </a:r>
            <a:r>
              <a:rPr lang="hu-HU" sz="1400" dirty="0" err="1">
                <a:latin typeface="Book Antiqua" panose="02040602050305030304" pitchFamily="18" charset="0"/>
              </a:rPr>
              <a:t>generates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it</a:t>
            </a:r>
            <a:endParaRPr lang="hu-HU" sz="1400" dirty="0">
              <a:latin typeface="Book Antiqua" panose="02040602050305030304" pitchFamily="18" charset="0"/>
            </a:endParaRP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E079D62-1A79-C4C1-3A6F-1625D932C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47</a:t>
            </a:fld>
            <a:endParaRPr lang="hu-HU"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8EA285BD-E784-1E8D-2F63-9D7B9D82F9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4642" y="3183238"/>
            <a:ext cx="1129089" cy="540000"/>
          </a:xfrm>
          <a:prstGeom prst="rect">
            <a:avLst/>
          </a:prstGeom>
        </p:spPr>
      </p:pic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EBAF56C7-2B31-6066-5C36-E9399D68D5DA}"/>
              </a:ext>
            </a:extLst>
          </p:cNvPr>
          <p:cNvCxnSpPr>
            <a:cxnSpLocks/>
          </p:cNvCxnSpPr>
          <p:nvPr/>
        </p:nvCxnSpPr>
        <p:spPr>
          <a:xfrm flipH="1">
            <a:off x="3019865" y="3087052"/>
            <a:ext cx="206293" cy="116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Kép 18">
            <a:extLst>
              <a:ext uri="{FF2B5EF4-FFF2-40B4-BE49-F238E27FC236}">
                <a16:creationId xmlns:a16="http://schemas.microsoft.com/office/drawing/2014/main" id="{E0B30C20-0864-58F4-5807-6823F8A1CE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3636" y="3846572"/>
            <a:ext cx="2043998" cy="504000"/>
          </a:xfrm>
          <a:prstGeom prst="rect">
            <a:avLst/>
          </a:prstGeom>
        </p:spPr>
      </p:pic>
      <p:sp>
        <p:nvSpPr>
          <p:cNvPr id="20" name="Szövegdoboz 19">
            <a:extLst>
              <a:ext uri="{FF2B5EF4-FFF2-40B4-BE49-F238E27FC236}">
                <a16:creationId xmlns:a16="http://schemas.microsoft.com/office/drawing/2014/main" id="{A45C1B4E-0209-C751-4B36-37E2FF493279}"/>
              </a:ext>
            </a:extLst>
          </p:cNvPr>
          <p:cNvSpPr txBox="1"/>
          <p:nvPr/>
        </p:nvSpPr>
        <p:spPr>
          <a:xfrm>
            <a:off x="1207582" y="4366539"/>
            <a:ext cx="1400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Book Antiqua" panose="02040602050305030304" pitchFamily="18" charset="0"/>
              </a:rPr>
              <a:t>Bohr </a:t>
            </a:r>
            <a:r>
              <a:rPr lang="hu-HU" sz="1400" dirty="0" err="1">
                <a:latin typeface="Book Antiqua" panose="02040602050305030304" pitchFamily="18" charset="0"/>
              </a:rPr>
              <a:t>magneton</a:t>
            </a:r>
            <a:endParaRPr lang="hu-HU" sz="1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7426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1D08D-FAA5-C812-1BF1-FE61E85FF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454015-AB42-4CCF-6C84-2A61E1340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spin and </a:t>
            </a:r>
            <a:r>
              <a:rPr lang="hu-HU" b="1" dirty="0" err="1">
                <a:latin typeface="Book Antiqua" panose="02040602050305030304" pitchFamily="18" charset="0"/>
              </a:rPr>
              <a:t>magnetic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moment</a:t>
            </a:r>
            <a:endParaRPr lang="hu-HU" b="1" dirty="0"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áblázat 2">
                <a:extLst>
                  <a:ext uri="{FF2B5EF4-FFF2-40B4-BE49-F238E27FC236}">
                    <a16:creationId xmlns:a16="http://schemas.microsoft.com/office/drawing/2014/main" id="{3E99E0AF-6636-DEFF-628A-88A872451D1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14841" y="3729825"/>
              <a:ext cx="2990025" cy="11125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966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66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66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proton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neutron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hu-HU" i="1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hu-HU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hu-HU" i="1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hu-HU" b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2,7793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-1,913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áblázat 2">
                <a:extLst>
                  <a:ext uri="{FF2B5EF4-FFF2-40B4-BE49-F238E27FC236}">
                    <a16:creationId xmlns:a16="http://schemas.microsoft.com/office/drawing/2014/main" id="{3E99E0AF-6636-DEFF-628A-88A872451D1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14841" y="3729825"/>
              <a:ext cx="2990025" cy="11125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966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66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66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proton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neutron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>
                        <a:blipFill>
                          <a:blip r:embed="rId2"/>
                          <a:stretch>
                            <a:fillRect l="-610" t="-106452" r="-202439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>
                        <a:blipFill>
                          <a:blip r:embed="rId2"/>
                          <a:stretch>
                            <a:fillRect l="-610" t="-209836" r="-20243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2,7793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-1,913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5EB223A6-31D0-0A39-9118-E917BE308011}"/>
              </a:ext>
            </a:extLst>
          </p:cNvPr>
          <p:cNvGrpSpPr/>
          <p:nvPr/>
        </p:nvGrpSpPr>
        <p:grpSpPr>
          <a:xfrm>
            <a:off x="216607" y="2251445"/>
            <a:ext cx="7144135" cy="423485"/>
            <a:chOff x="574416" y="3199473"/>
            <a:chExt cx="7144135" cy="423485"/>
          </a:xfrm>
        </p:grpSpPr>
        <p:sp>
          <p:nvSpPr>
            <p:cNvPr id="9" name="Szövegdoboz 8">
              <a:extLst>
                <a:ext uri="{FF2B5EF4-FFF2-40B4-BE49-F238E27FC236}">
                  <a16:creationId xmlns:a16="http://schemas.microsoft.com/office/drawing/2014/main" id="{43C8DF62-B9CD-571F-6583-AD26E009A3A1}"/>
                </a:ext>
              </a:extLst>
            </p:cNvPr>
            <p:cNvSpPr txBox="1"/>
            <p:nvPr/>
          </p:nvSpPr>
          <p:spPr>
            <a:xfrm>
              <a:off x="574416" y="3253626"/>
              <a:ext cx="4629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>
                  <a:latin typeface="Book Antiqua" panose="02040602050305030304" pitchFamily="18" charset="0"/>
                </a:rPr>
                <a:t>Net </a:t>
              </a:r>
              <a:r>
                <a:rPr lang="hu-HU" dirty="0" err="1">
                  <a:latin typeface="Book Antiqua" panose="02040602050305030304" pitchFamily="18" charset="0"/>
                </a:rPr>
                <a:t>magnetic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dipole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moment</a:t>
              </a:r>
              <a:r>
                <a:rPr lang="hu-HU" dirty="0">
                  <a:latin typeface="Book Antiqua" panose="02040602050305030304" pitchFamily="18" charset="0"/>
                </a:rPr>
                <a:t> for </a:t>
              </a:r>
              <a:r>
                <a:rPr lang="hu-HU" b="1" i="1" dirty="0">
                  <a:latin typeface="Book Antiqua" panose="02040602050305030304" pitchFamily="18" charset="0"/>
                </a:rPr>
                <a:t>a </a:t>
              </a:r>
              <a:r>
                <a:rPr lang="hu-HU" b="1" i="1" dirty="0" err="1">
                  <a:latin typeface="Book Antiqua" panose="02040602050305030304" pitchFamily="18" charset="0"/>
                </a:rPr>
                <a:t>nucleon</a:t>
              </a:r>
              <a:r>
                <a:rPr lang="hu-HU" dirty="0">
                  <a:latin typeface="Book Antiqua" panose="02040602050305030304" pitchFamily="18" charset="0"/>
                </a:rPr>
                <a:t>:</a:t>
              </a:r>
              <a:endParaRPr lang="en-US" dirty="0"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églalap 9">
                  <a:extLst>
                    <a:ext uri="{FF2B5EF4-FFF2-40B4-BE49-F238E27FC236}">
                      <a16:creationId xmlns:a16="http://schemas.microsoft.com/office/drawing/2014/main" id="{65615704-2D81-311B-EC59-2584DA6A2263}"/>
                    </a:ext>
                  </a:extLst>
                </p:cNvPr>
                <p:cNvSpPr/>
                <p:nvPr/>
              </p:nvSpPr>
              <p:spPr>
                <a:xfrm>
                  <a:off x="5359700" y="3199473"/>
                  <a:ext cx="2358851" cy="395621"/>
                </a:xfrm>
                <a:prstGeom prst="rect">
                  <a:avLst/>
                </a:prstGeom>
                <a:ln>
                  <a:solidFill>
                    <a:schemeClr val="accent2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hu-HU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hu-H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hu-HU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  <m:r>
                          <a:rPr lang="hu-H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hu-H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" name="Téglalap 9">
                  <a:extLst>
                    <a:ext uri="{FF2B5EF4-FFF2-40B4-BE49-F238E27FC236}">
                      <a16:creationId xmlns:a16="http://schemas.microsoft.com/office/drawing/2014/main" id="{65615704-2D81-311B-EC59-2584DA6A22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9700" y="3199473"/>
                  <a:ext cx="2358851" cy="395621"/>
                </a:xfrm>
                <a:prstGeom prst="rect">
                  <a:avLst/>
                </a:prstGeom>
                <a:blipFill>
                  <a:blip r:embed="rId3"/>
                  <a:stretch>
                    <a:fillRect b="-7463"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55DEF475-06F2-FEC0-BAC8-4092DBB79AB9}"/>
                  </a:ext>
                </a:extLst>
              </p:cNvPr>
              <p:cNvSpPr txBox="1"/>
              <p:nvPr/>
            </p:nvSpPr>
            <p:spPr>
              <a:xfrm>
                <a:off x="8338490" y="2833939"/>
                <a:ext cx="15143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hu-H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55DEF475-06F2-FEC0-BAC8-4092DBB79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490" y="2833939"/>
                <a:ext cx="1514323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zövegdoboz 11">
                <a:extLst>
                  <a:ext uri="{FF2B5EF4-FFF2-40B4-BE49-F238E27FC236}">
                    <a16:creationId xmlns:a16="http://schemas.microsoft.com/office/drawing/2014/main" id="{6CB407C8-F190-E8AF-390C-A3B646C23D41}"/>
                  </a:ext>
                </a:extLst>
              </p:cNvPr>
              <p:cNvSpPr txBox="1"/>
              <p:nvPr/>
            </p:nvSpPr>
            <p:spPr>
              <a:xfrm>
                <a:off x="8263486" y="1889939"/>
                <a:ext cx="13896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hu-H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12" name="Szövegdoboz 11">
                <a:extLst>
                  <a:ext uri="{FF2B5EF4-FFF2-40B4-BE49-F238E27FC236}">
                    <a16:creationId xmlns:a16="http://schemas.microsoft.com/office/drawing/2014/main" id="{6CB407C8-F190-E8AF-390C-A3B646C23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486" y="1889939"/>
                <a:ext cx="1389611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églalap 17">
                <a:extLst>
                  <a:ext uri="{FF2B5EF4-FFF2-40B4-BE49-F238E27FC236}">
                    <a16:creationId xmlns:a16="http://schemas.microsoft.com/office/drawing/2014/main" id="{BBF97CFC-4BF4-A417-4353-EC63BB7487CB}"/>
                  </a:ext>
                </a:extLst>
              </p:cNvPr>
              <p:cNvSpPr/>
              <p:nvPr/>
            </p:nvSpPr>
            <p:spPr>
              <a:xfrm>
                <a:off x="4357343" y="5303777"/>
                <a:ext cx="3305023" cy="618311"/>
              </a:xfrm>
              <a:prstGeom prst="rect">
                <a:avLst/>
              </a:prstGeom>
              <a:solidFill>
                <a:schemeClr val="accent1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𝑀𝑐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=3,152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−14</m:t>
                          </m:r>
                        </m:sup>
                      </m:sSup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𝑀𝑒𝑉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églalap 17">
                <a:extLst>
                  <a:ext uri="{FF2B5EF4-FFF2-40B4-BE49-F238E27FC236}">
                    <a16:creationId xmlns:a16="http://schemas.microsoft.com/office/drawing/2014/main" id="{BBF97CFC-4BF4-A417-4353-EC63BB7487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343" y="5303777"/>
                <a:ext cx="3305023" cy="6183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zövegdoboz 3">
            <a:extLst>
              <a:ext uri="{FF2B5EF4-FFF2-40B4-BE49-F238E27FC236}">
                <a16:creationId xmlns:a16="http://schemas.microsoft.com/office/drawing/2014/main" id="{B79140A8-85BB-C603-008B-57B9EDD406A6}"/>
              </a:ext>
            </a:extLst>
          </p:cNvPr>
          <p:cNvSpPr txBox="1"/>
          <p:nvPr/>
        </p:nvSpPr>
        <p:spPr>
          <a:xfrm>
            <a:off x="9968947" y="1889939"/>
            <a:ext cx="19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Angular</a:t>
            </a:r>
            <a:r>
              <a:rPr lang="hu-HU" sz="1400" dirty="0">
                <a:latin typeface="Book Antiqua" panose="02040602050305030304" pitchFamily="18" charset="0"/>
              </a:rPr>
              <a:t> momentum </a:t>
            </a:r>
            <a:r>
              <a:rPr lang="hu-HU" sz="1400" dirty="0" err="1">
                <a:latin typeface="Book Antiqua" panose="02040602050305030304" pitchFamily="18" charset="0"/>
              </a:rPr>
              <a:t>generates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it</a:t>
            </a:r>
            <a:endParaRPr lang="hu-HU" sz="1400" dirty="0">
              <a:latin typeface="Book Antiqua" panose="02040602050305030304" pitchFamily="18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2806691-7599-B38A-6D31-0E6C2DDF09D0}"/>
              </a:ext>
            </a:extLst>
          </p:cNvPr>
          <p:cNvSpPr txBox="1"/>
          <p:nvPr/>
        </p:nvSpPr>
        <p:spPr>
          <a:xfrm>
            <a:off x="9968947" y="2825442"/>
            <a:ext cx="19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Intrinsic</a:t>
            </a:r>
            <a:r>
              <a:rPr lang="hu-HU" sz="1400" dirty="0">
                <a:latin typeface="Book Antiqua" panose="02040602050305030304" pitchFamily="18" charset="0"/>
              </a:rPr>
              <a:t> spin </a:t>
            </a:r>
            <a:r>
              <a:rPr lang="hu-HU" sz="1400" dirty="0" err="1">
                <a:latin typeface="Book Antiqua" panose="02040602050305030304" pitchFamily="18" charset="0"/>
              </a:rPr>
              <a:t>generates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it</a:t>
            </a:r>
            <a:endParaRPr lang="hu-HU" sz="1400" dirty="0">
              <a:latin typeface="Book Antiqua" panose="02040602050305030304" pitchFamily="18" charset="0"/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94E35B2D-A221-F56F-5C33-2C344E289CAB}"/>
              </a:ext>
            </a:extLst>
          </p:cNvPr>
          <p:cNvSpPr/>
          <p:nvPr/>
        </p:nvSpPr>
        <p:spPr>
          <a:xfrm>
            <a:off x="5273964" y="4442691"/>
            <a:ext cx="2230902" cy="489527"/>
          </a:xfrm>
          <a:prstGeom prst="ellipse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15AD73D-CBB7-456D-169C-4EF29356ED96}"/>
              </a:ext>
            </a:extLst>
          </p:cNvPr>
          <p:cNvSpPr txBox="1"/>
          <p:nvPr/>
        </p:nvSpPr>
        <p:spPr>
          <a:xfrm>
            <a:off x="7662366" y="4335081"/>
            <a:ext cx="19281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It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was</a:t>
            </a:r>
            <a:r>
              <a:rPr lang="hu-HU" sz="1400" dirty="0">
                <a:latin typeface="Book Antiqua" panose="02040602050305030304" pitchFamily="18" charset="0"/>
              </a:rPr>
              <a:t> a </a:t>
            </a:r>
            <a:r>
              <a:rPr lang="hu-HU" sz="1400" dirty="0" err="1">
                <a:latin typeface="Book Antiqua" panose="02040602050305030304" pitchFamily="18" charset="0"/>
              </a:rPr>
              <a:t>mystery</a:t>
            </a:r>
            <a:r>
              <a:rPr lang="hu-HU" sz="1400" dirty="0">
                <a:latin typeface="Book Antiqua" panose="02040602050305030304" pitchFamily="18" charset="0"/>
              </a:rPr>
              <a:t>!</a:t>
            </a:r>
          </a:p>
          <a:p>
            <a:endParaRPr lang="hu-HU" sz="1400" dirty="0">
              <a:latin typeface="Book Antiqua" panose="02040602050305030304" pitchFamily="18" charset="0"/>
            </a:endParaRPr>
          </a:p>
          <a:p>
            <a:endParaRPr lang="hu-HU" sz="1400" dirty="0">
              <a:latin typeface="Book Antiqua" panose="02040602050305030304" pitchFamily="18" charset="0"/>
            </a:endParaRPr>
          </a:p>
          <a:p>
            <a:r>
              <a:rPr lang="hu-HU" sz="1400" dirty="0" err="1">
                <a:latin typeface="Book Antiqua" panose="02040602050305030304" pitchFamily="18" charset="0"/>
              </a:rPr>
              <a:t>Nucleons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shall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have</a:t>
            </a:r>
            <a:r>
              <a:rPr lang="hu-HU" sz="1400" dirty="0">
                <a:latin typeface="Book Antiqua" panose="02040602050305030304" pitchFamily="18" charset="0"/>
              </a:rPr>
              <a:t> an </a:t>
            </a:r>
            <a:r>
              <a:rPr lang="hu-HU" sz="1400" dirty="0" err="1">
                <a:latin typeface="Book Antiqua" panose="02040602050305030304" pitchFamily="18" charset="0"/>
              </a:rPr>
              <a:t>internal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structure</a:t>
            </a:r>
            <a:r>
              <a:rPr lang="hu-HU" sz="1400" dirty="0">
                <a:latin typeface="Book Antiqua" panose="02040602050305030304" pitchFamily="18" charset="0"/>
              </a:rPr>
              <a:t>!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C27B1B68-040C-4B0F-3B92-B3F2771BC986}"/>
              </a:ext>
            </a:extLst>
          </p:cNvPr>
          <p:cNvSpPr txBox="1"/>
          <p:nvPr/>
        </p:nvSpPr>
        <p:spPr>
          <a:xfrm>
            <a:off x="1350885" y="4075093"/>
            <a:ext cx="25011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Negative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sign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indicates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the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opposite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direction</a:t>
            </a:r>
            <a:r>
              <a:rPr lang="hu-HU" sz="1400" dirty="0">
                <a:latin typeface="Book Antiqua" panose="02040602050305030304" pitchFamily="18" charset="0"/>
              </a:rPr>
              <a:t> of </a:t>
            </a:r>
            <a:r>
              <a:rPr lang="hu-HU" sz="1400" dirty="0" err="1">
                <a:latin typeface="Book Antiqua" panose="02040602050305030304" pitchFamily="18" charset="0"/>
              </a:rPr>
              <a:t>the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magnetic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moment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vector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to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the</a:t>
            </a:r>
            <a:r>
              <a:rPr lang="hu-HU" sz="1400" dirty="0">
                <a:latin typeface="Book Antiqua" panose="02040602050305030304" pitchFamily="18" charset="0"/>
              </a:rPr>
              <a:t> spin!</a:t>
            </a:r>
          </a:p>
        </p:txBody>
      </p: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196E915B-00E4-D654-86E4-20AE8409CC5E}"/>
              </a:ext>
            </a:extLst>
          </p:cNvPr>
          <p:cNvCxnSpPr/>
          <p:nvPr/>
        </p:nvCxnSpPr>
        <p:spPr>
          <a:xfrm>
            <a:off x="8338490" y="4641574"/>
            <a:ext cx="0" cy="387626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ia számának helye 13">
            <a:extLst>
              <a:ext uri="{FF2B5EF4-FFF2-40B4-BE49-F238E27FC236}">
                <a16:creationId xmlns:a16="http://schemas.microsoft.com/office/drawing/2014/main" id="{9C1F9995-8B79-48AD-FE9A-2A87D823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48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70575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4E204-E626-1D29-D403-DB07C170A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0016D6-CBE3-4965-7299-9B483C0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latin typeface="Book Antiqua" panose="02040602050305030304" pitchFamily="18" charset="0"/>
              </a:rPr>
              <a:t>Magnetic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moment</a:t>
            </a:r>
            <a:r>
              <a:rPr lang="hu-HU" b="1" dirty="0"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latin typeface="Book Antiqua" panose="02040602050305030304" pitchFamily="18" charset="0"/>
              </a:rPr>
              <a:t>nucleons</a:t>
            </a:r>
            <a:r>
              <a:rPr lang="hu-HU" b="1" dirty="0">
                <a:latin typeface="Book Antiqua" panose="02040602050305030304" pitchFamily="18" charset="0"/>
              </a:rPr>
              <a:t> and NMR</a:t>
            </a:r>
            <a:r>
              <a:rPr lang="hu-HU" sz="2800" dirty="0">
                <a:latin typeface="Book Antiqua" panose="02040602050305030304" pitchFamily="18" charset="0"/>
              </a:rPr>
              <a:t> (</a:t>
            </a:r>
            <a:r>
              <a:rPr lang="hu-HU" sz="2800" dirty="0" err="1">
                <a:latin typeface="Book Antiqua" panose="02040602050305030304" pitchFamily="18" charset="0"/>
              </a:rPr>
              <a:t>nuclear</a:t>
            </a:r>
            <a:r>
              <a:rPr lang="hu-HU" sz="2800" dirty="0">
                <a:latin typeface="Book Antiqua" panose="02040602050305030304" pitchFamily="18" charset="0"/>
              </a:rPr>
              <a:t> </a:t>
            </a:r>
            <a:r>
              <a:rPr lang="hu-HU" sz="2800" dirty="0" err="1">
                <a:latin typeface="Book Antiqua" panose="02040602050305030304" pitchFamily="18" charset="0"/>
              </a:rPr>
              <a:t>magnetic</a:t>
            </a:r>
            <a:r>
              <a:rPr lang="hu-HU" sz="2800" dirty="0">
                <a:latin typeface="Book Antiqua" panose="02040602050305030304" pitchFamily="18" charset="0"/>
              </a:rPr>
              <a:t> </a:t>
            </a:r>
            <a:r>
              <a:rPr lang="hu-HU" sz="2800" dirty="0" err="1">
                <a:latin typeface="Book Antiqua" panose="02040602050305030304" pitchFamily="18" charset="0"/>
              </a:rPr>
              <a:t>resonance</a:t>
            </a:r>
            <a:r>
              <a:rPr lang="hu-HU" sz="2800" dirty="0">
                <a:latin typeface="Book Antiqua" panose="02040602050305030304" pitchFamily="18" charset="0"/>
              </a:rPr>
              <a:t>)</a:t>
            </a:r>
            <a:endParaRPr lang="hu-HU" b="1" dirty="0">
              <a:latin typeface="Book Antiqua" panose="02040602050305030304" pitchFamily="18" charset="0"/>
            </a:endParaRPr>
          </a:p>
        </p:txBody>
      </p:sp>
      <p:pic>
        <p:nvPicPr>
          <p:cNvPr id="20" name="Kép 19">
            <a:extLst>
              <a:ext uri="{FF2B5EF4-FFF2-40B4-BE49-F238E27FC236}">
                <a16:creationId xmlns:a16="http://schemas.microsoft.com/office/drawing/2014/main" id="{A8BF2070-046F-B3D3-1298-ED2C1CDD5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45" y="2828512"/>
            <a:ext cx="4273169" cy="2160000"/>
          </a:xfrm>
          <a:prstGeom prst="rect">
            <a:avLst/>
          </a:prstGeom>
        </p:spPr>
      </p:pic>
      <p:sp>
        <p:nvSpPr>
          <p:cNvPr id="24" name="Szövegdoboz 23">
            <a:extLst>
              <a:ext uri="{FF2B5EF4-FFF2-40B4-BE49-F238E27FC236}">
                <a16:creationId xmlns:a16="http://schemas.microsoft.com/office/drawing/2014/main" id="{2E5DF50B-B72D-D427-AA04-2E9056528A61}"/>
              </a:ext>
            </a:extLst>
          </p:cNvPr>
          <p:cNvSpPr txBox="1"/>
          <p:nvPr/>
        </p:nvSpPr>
        <p:spPr>
          <a:xfrm>
            <a:off x="104676" y="5357048"/>
            <a:ext cx="5405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latin typeface="Book Antiqua" panose="02040602050305030304" pitchFamily="18" charset="0"/>
              </a:rPr>
              <a:t>energy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level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splitting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according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to</a:t>
            </a:r>
            <a:r>
              <a:rPr lang="hu-HU" b="1" dirty="0">
                <a:latin typeface="Book Antiqua" panose="02040602050305030304" pitchFamily="18" charset="0"/>
              </a:rPr>
              <a:t> spin </a:t>
            </a:r>
            <a:r>
              <a:rPr lang="hu-HU" b="1" dirty="0" err="1">
                <a:latin typeface="Book Antiqua" panose="02040602050305030304" pitchFamily="18" charset="0"/>
              </a:rPr>
              <a:t>due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to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external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magnetic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field</a:t>
            </a:r>
            <a:endParaRPr lang="hu-HU" b="1" dirty="0">
              <a:latin typeface="Book Antiqua" panose="02040602050305030304" pitchFamily="18" charset="0"/>
            </a:endParaRP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3212E247-9C9F-0BAF-FA65-2A4A7416CC8D}"/>
              </a:ext>
            </a:extLst>
          </p:cNvPr>
          <p:cNvSpPr txBox="1"/>
          <p:nvPr/>
        </p:nvSpPr>
        <p:spPr>
          <a:xfrm>
            <a:off x="2360444" y="2082881"/>
            <a:ext cx="48237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Interaction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with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external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magnetic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field</a:t>
            </a:r>
            <a:endParaRPr lang="hu-HU" sz="2000" b="1" dirty="0">
              <a:solidFill>
                <a:schemeClr val="accent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AF3F6A97-6F22-C9E9-510A-2699CBA386FD}"/>
              </a:ext>
            </a:extLst>
          </p:cNvPr>
          <p:cNvSpPr txBox="1"/>
          <p:nvPr/>
        </p:nvSpPr>
        <p:spPr>
          <a:xfrm>
            <a:off x="5022849" y="3821136"/>
            <a:ext cx="33828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chemeClr val="accent1">
                    <a:lumMod val="75000"/>
                    <a:lumOff val="25000"/>
                  </a:schemeClr>
                </a:solidFill>
                <a:latin typeface="Symbol" panose="05050102010706020507" pitchFamily="18" charset="2"/>
              </a:rPr>
              <a:t>D</a:t>
            </a:r>
            <a:r>
              <a:rPr lang="hu-HU" b="1" u="sng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 </a:t>
            </a:r>
            <a:r>
              <a:rPr lang="hu-HU" b="1" u="sng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transition</a:t>
            </a:r>
            <a:r>
              <a:rPr lang="hu-HU" b="1" dirty="0">
                <a:latin typeface="Book Antiqua" panose="02040602050305030304" pitchFamily="18" charset="0"/>
              </a:rPr>
              <a:t>: </a:t>
            </a:r>
            <a:r>
              <a:rPr lang="hu-HU" b="1" dirty="0" err="1">
                <a:latin typeface="Book Antiqua" panose="02040602050305030304" pitchFamily="18" charset="0"/>
              </a:rPr>
              <a:t>absorbing</a:t>
            </a:r>
            <a:r>
              <a:rPr lang="hu-HU" b="1" dirty="0">
                <a:latin typeface="Book Antiqua" panose="02040602050305030304" pitchFamily="18" charset="0"/>
              </a:rPr>
              <a:t> and </a:t>
            </a:r>
            <a:r>
              <a:rPr lang="hu-HU" b="1" dirty="0" err="1">
                <a:latin typeface="Book Antiqua" panose="02040602050305030304" pitchFamily="18" charset="0"/>
              </a:rPr>
              <a:t>emitting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photons</a:t>
            </a:r>
            <a:endParaRPr lang="hu-HU" b="1" dirty="0">
              <a:latin typeface="Book Antiqua" panose="02040602050305030304" pitchFamily="18" charset="0"/>
            </a:endParaRPr>
          </a:p>
          <a:p>
            <a:endParaRPr lang="hu-HU" b="1" dirty="0">
              <a:latin typeface="Book Antiqua" panose="02040602050305030304" pitchFamily="18" charset="0"/>
            </a:endParaRPr>
          </a:p>
          <a:p>
            <a:r>
              <a:rPr lang="hu-HU" b="1" dirty="0" err="1">
                <a:latin typeface="Book Antiqua" panose="02040602050305030304" pitchFamily="18" charset="0"/>
              </a:rPr>
              <a:t>nuclear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magnetic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resonance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imaging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NMR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A6B2C16-2D49-C6D5-A2BB-070D81373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972" y="2127818"/>
            <a:ext cx="1247949" cy="314369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2D1C2D85-1E86-7CA0-2FF2-44230EFB3018}"/>
              </a:ext>
            </a:extLst>
          </p:cNvPr>
          <p:cNvSpPr txBox="1"/>
          <p:nvPr/>
        </p:nvSpPr>
        <p:spPr>
          <a:xfrm>
            <a:off x="3801348" y="2753222"/>
            <a:ext cx="3382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energy</a:t>
            </a:r>
            <a:r>
              <a:rPr lang="hu-H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difference</a:t>
            </a:r>
            <a:r>
              <a:rPr lang="hu-H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between</a:t>
            </a:r>
            <a:r>
              <a:rPr lang="hu-H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possible</a:t>
            </a:r>
            <a:r>
              <a:rPr lang="hu-H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spin </a:t>
            </a:r>
            <a:r>
              <a:rPr lang="hu-H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states</a:t>
            </a:r>
            <a:r>
              <a:rPr lang="hu-H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due</a:t>
            </a:r>
            <a:r>
              <a:rPr lang="hu-H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to</a:t>
            </a:r>
            <a:r>
              <a:rPr lang="hu-H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external</a:t>
            </a:r>
            <a:r>
              <a:rPr lang="hu-H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field</a:t>
            </a:r>
            <a:r>
              <a:rPr lang="hu-H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</a:p>
        </p:txBody>
      </p:sp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33F24EE9-524C-D375-3EB1-114921323983}"/>
              </a:ext>
            </a:extLst>
          </p:cNvPr>
          <p:cNvCxnSpPr/>
          <p:nvPr/>
        </p:nvCxnSpPr>
        <p:spPr>
          <a:xfrm flipH="1">
            <a:off x="3264635" y="3038457"/>
            <a:ext cx="5367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Kép 8">
            <a:extLst>
              <a:ext uri="{FF2B5EF4-FFF2-40B4-BE49-F238E27FC236}">
                <a16:creationId xmlns:a16="http://schemas.microsoft.com/office/drawing/2014/main" id="{9AC9CE52-C2C1-C709-C010-92376A614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2849" y="3495019"/>
            <a:ext cx="1190791" cy="304843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372" y="3799862"/>
            <a:ext cx="3846258" cy="2376000"/>
          </a:xfrm>
          <a:prstGeom prst="rect">
            <a:avLst/>
          </a:prstGeom>
        </p:spPr>
      </p:pic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490B24EE-DAD5-5412-87AF-C96ED7D3689E}"/>
              </a:ext>
            </a:extLst>
          </p:cNvPr>
          <p:cNvCxnSpPr/>
          <p:nvPr/>
        </p:nvCxnSpPr>
        <p:spPr>
          <a:xfrm flipV="1">
            <a:off x="4668592" y="3380704"/>
            <a:ext cx="0" cy="1783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B847ABC-228F-288A-5AE6-76206024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49</a:t>
            </a:fld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AD6C41D1-D508-3F29-5FC0-D2E8A152252A}"/>
              </a:ext>
            </a:extLst>
          </p:cNvPr>
          <p:cNvSpPr txBox="1"/>
          <p:nvPr/>
        </p:nvSpPr>
        <p:spPr>
          <a:xfrm>
            <a:off x="0" y="2968665"/>
            <a:ext cx="1635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b="1" u="sng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proton NMR</a:t>
            </a:r>
          </a:p>
        </p:txBody>
      </p: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A3F5B848-0EF5-0EFD-9B7E-C54BE2468FB0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6582699" y="2830166"/>
            <a:ext cx="1373764" cy="751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447953CD-E9D3-2688-035C-9E15766A06B5}"/>
              </a:ext>
            </a:extLst>
          </p:cNvPr>
          <p:cNvSpPr txBox="1"/>
          <p:nvPr/>
        </p:nvSpPr>
        <p:spPr>
          <a:xfrm>
            <a:off x="7956463" y="2645500"/>
            <a:ext cx="3256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Book Antiqua" panose="02040602050305030304" pitchFamily="18" charset="0"/>
              </a:rPr>
              <a:t>+ an </a:t>
            </a:r>
            <a:r>
              <a:rPr lang="hu-HU" dirty="0" err="1">
                <a:latin typeface="Book Antiqua" panose="02040602050305030304" pitchFamily="18" charset="0"/>
              </a:rPr>
              <a:t>oscillating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magnetic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field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74948272-6A60-C495-7555-558F3D1F0BC8}"/>
              </a:ext>
            </a:extLst>
          </p:cNvPr>
          <p:cNvSpPr txBox="1"/>
          <p:nvPr/>
        </p:nvSpPr>
        <p:spPr>
          <a:xfrm>
            <a:off x="8067972" y="1792271"/>
            <a:ext cx="2531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latin typeface="Book Antiqua" panose="02040602050305030304" pitchFamily="18" charset="0"/>
              </a:rPr>
              <a:t>a constant </a:t>
            </a:r>
            <a:r>
              <a:rPr lang="hu-HU" dirty="0" err="1">
                <a:latin typeface="Book Antiqua" panose="02040602050305030304" pitchFamily="18" charset="0"/>
              </a:rPr>
              <a:t>field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>
                <a:latin typeface="Book Antiqua" panose="02040602050305030304" pitchFamily="18" charset="0"/>
              </a:rPr>
              <a:t>B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80BA7A75-8D0C-17A2-BAEC-C45A22DF18A3}"/>
              </a:ext>
            </a:extLst>
          </p:cNvPr>
          <p:cNvSpPr txBox="1"/>
          <p:nvPr/>
        </p:nvSpPr>
        <p:spPr>
          <a:xfrm>
            <a:off x="9839459" y="3493013"/>
            <a:ext cx="2104171" cy="83099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hu-HU" sz="1200" dirty="0" err="1">
                <a:latin typeface="Book Antiqua" panose="02040602050305030304" pitchFamily="18" charset="0"/>
              </a:rPr>
              <a:t>the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magnetic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field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the</a:t>
            </a:r>
            <a:r>
              <a:rPr lang="hu-HU" sz="1200" dirty="0">
                <a:latin typeface="Book Antiqua" panose="02040602050305030304" pitchFamily="18" charset="0"/>
              </a:rPr>
              <a:t> proton </a:t>
            </a:r>
            <a:r>
              <a:rPr lang="hu-HU" sz="1200" dirty="0" err="1">
                <a:latin typeface="Book Antiqua" panose="02040602050305030304" pitchFamily="18" charset="0"/>
              </a:rPr>
              <a:t>interacts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with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depends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on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the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molecular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enviornment</a:t>
            </a:r>
            <a:endParaRPr lang="hu-HU" sz="12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4267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force</a:t>
            </a:r>
            <a:r>
              <a:rPr lang="hu-HU" dirty="0">
                <a:latin typeface="Book Antiqua" panose="02040602050305030304" pitchFamily="18" charset="0"/>
              </a:rPr>
              <a:t> and </a:t>
            </a:r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models</a:t>
            </a:r>
            <a:endParaRPr lang="en-GB" dirty="0">
              <a:latin typeface="Book Antiqua" panose="02040602050305030304" pitchFamily="18" charset="0"/>
            </a:endParaRPr>
          </a:p>
        </p:txBody>
      </p:sp>
      <p:sp>
        <p:nvSpPr>
          <p:cNvPr id="4" name="Szöveg hely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Binding</a:t>
            </a:r>
            <a:r>
              <a:rPr lang="hu-HU" dirty="0"/>
              <a:t> </a:t>
            </a:r>
            <a:r>
              <a:rPr lang="hu-HU" dirty="0" err="1"/>
              <a:t>energy</a:t>
            </a:r>
            <a:r>
              <a:rPr lang="hu-HU" dirty="0"/>
              <a:t>, </a:t>
            </a:r>
            <a:r>
              <a:rPr lang="hu-HU" dirty="0" err="1"/>
              <a:t>Weiszäcker</a:t>
            </a:r>
            <a:r>
              <a:rPr lang="hu-HU" dirty="0"/>
              <a:t> formula, </a:t>
            </a:r>
            <a:r>
              <a:rPr lang="hu-HU" dirty="0" err="1"/>
              <a:t>Nuclear</a:t>
            </a:r>
            <a:r>
              <a:rPr lang="hu-HU" dirty="0"/>
              <a:t> </a:t>
            </a:r>
            <a:r>
              <a:rPr lang="hu-HU" dirty="0" err="1"/>
              <a:t>stability</a:t>
            </a:r>
            <a:endParaRPr lang="en-GB" dirty="0"/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B6D3981C-5B55-1B26-1CBD-1BC8F4D5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50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381260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31DC9D-29DB-598A-EC89-D5D9A014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binding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energy</a:t>
            </a:r>
            <a:endParaRPr lang="hu-HU" dirty="0"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F50FD98C-E72D-621C-BE66-C995DAEA72CD}"/>
                  </a:ext>
                </a:extLst>
              </p:cNvPr>
              <p:cNvSpPr txBox="1"/>
              <p:nvPr/>
            </p:nvSpPr>
            <p:spPr>
              <a:xfrm>
                <a:off x="6319981" y="2204155"/>
                <a:ext cx="3521477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F50FD98C-E72D-621C-BE66-C995DAEA7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981" y="2204155"/>
                <a:ext cx="3521477" cy="390748"/>
              </a:xfrm>
              <a:prstGeom prst="rect">
                <a:avLst/>
              </a:prstGeom>
              <a:blipFill>
                <a:blip r:embed="rId2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zövegdoboz 14">
            <a:extLst>
              <a:ext uri="{FF2B5EF4-FFF2-40B4-BE49-F238E27FC236}">
                <a16:creationId xmlns:a16="http://schemas.microsoft.com/office/drawing/2014/main" id="{B24C16B0-1033-37C2-DF0B-7955D346DDB7}"/>
              </a:ext>
            </a:extLst>
          </p:cNvPr>
          <p:cNvSpPr txBox="1"/>
          <p:nvPr/>
        </p:nvSpPr>
        <p:spPr>
          <a:xfrm>
            <a:off x="1962916" y="2182522"/>
            <a:ext cx="2627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Mass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nucleus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?</a:t>
            </a:r>
          </a:p>
        </p:txBody>
      </p: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1D404594-9320-2B52-DA90-298555B77637}"/>
              </a:ext>
            </a:extLst>
          </p:cNvPr>
          <p:cNvCxnSpPr/>
          <p:nvPr/>
        </p:nvCxnSpPr>
        <p:spPr>
          <a:xfrm>
            <a:off x="4830417" y="2399529"/>
            <a:ext cx="129606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5B9E590F-4F39-9891-D28C-73645026CC7D}"/>
              </a:ext>
            </a:extLst>
          </p:cNvPr>
          <p:cNvSpPr txBox="1"/>
          <p:nvPr/>
        </p:nvSpPr>
        <p:spPr>
          <a:xfrm>
            <a:off x="4247194" y="2594903"/>
            <a:ext cx="2462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mass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sz="1600" b="1" dirty="0" err="1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its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constituents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?</a:t>
            </a: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D121109E-2541-10DB-296D-F89217A7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51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18318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CF4C4-0F03-1189-F7E7-F10A9852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BC1034-9AA5-90D8-8086-37DA7D9A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binding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energy</a:t>
            </a:r>
            <a:endParaRPr lang="hu-HU" dirty="0"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7EE6F83C-416E-4D11-2DDE-B6D334657760}"/>
                  </a:ext>
                </a:extLst>
              </p:cNvPr>
              <p:cNvSpPr txBox="1"/>
              <p:nvPr/>
            </p:nvSpPr>
            <p:spPr>
              <a:xfrm>
                <a:off x="6319981" y="2204155"/>
                <a:ext cx="3521477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7EE6F83C-416E-4D11-2DDE-B6D334657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981" y="2204155"/>
                <a:ext cx="3521477" cy="390748"/>
              </a:xfrm>
              <a:prstGeom prst="rect">
                <a:avLst/>
              </a:prstGeom>
              <a:blipFill>
                <a:blip r:embed="rId2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zövegdoboz 14">
            <a:extLst>
              <a:ext uri="{FF2B5EF4-FFF2-40B4-BE49-F238E27FC236}">
                <a16:creationId xmlns:a16="http://schemas.microsoft.com/office/drawing/2014/main" id="{D3CAE135-3F12-C29B-7702-5B909C55D00F}"/>
              </a:ext>
            </a:extLst>
          </p:cNvPr>
          <p:cNvSpPr txBox="1"/>
          <p:nvPr/>
        </p:nvSpPr>
        <p:spPr>
          <a:xfrm>
            <a:off x="1962916" y="2182522"/>
            <a:ext cx="2627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Mass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nucleus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?</a:t>
            </a:r>
          </a:p>
        </p:txBody>
      </p: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A075A87C-C1F5-C046-2543-2633D467C2B9}"/>
              </a:ext>
            </a:extLst>
          </p:cNvPr>
          <p:cNvCxnSpPr/>
          <p:nvPr/>
        </p:nvCxnSpPr>
        <p:spPr>
          <a:xfrm>
            <a:off x="4830417" y="2399529"/>
            <a:ext cx="129606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B91A25C5-8915-86E6-92D1-064518FB935F}"/>
              </a:ext>
            </a:extLst>
          </p:cNvPr>
          <p:cNvSpPr txBox="1"/>
          <p:nvPr/>
        </p:nvSpPr>
        <p:spPr>
          <a:xfrm>
            <a:off x="4247194" y="2594903"/>
            <a:ext cx="2462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mass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sz="1600" b="1" dirty="0" err="1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its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constituents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?</a:t>
            </a:r>
          </a:p>
          <a:p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                    </a:t>
            </a:r>
            <a:r>
              <a:rPr lang="hu-HU" sz="1600" b="1" dirty="0">
                <a:solidFill>
                  <a:srgbClr val="FF0000"/>
                </a:solidFill>
                <a:latin typeface="Book Antiqua" panose="02040602050305030304" pitchFamily="18" charset="0"/>
              </a:rPr>
              <a:t>NO</a:t>
            </a:r>
          </a:p>
        </p:txBody>
      </p: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AD179127-3776-46C0-8B30-BB8C861A26FA}"/>
              </a:ext>
            </a:extLst>
          </p:cNvPr>
          <p:cNvCxnSpPr/>
          <p:nvPr/>
        </p:nvCxnSpPr>
        <p:spPr>
          <a:xfrm flipV="1">
            <a:off x="7150071" y="2204155"/>
            <a:ext cx="450963" cy="3693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4">
            <a:extLst>
              <a:ext uri="{FF2B5EF4-FFF2-40B4-BE49-F238E27FC236}">
                <a16:creationId xmlns:a16="http://schemas.microsoft.com/office/drawing/2014/main" id="{F63A7722-A3FD-952C-2D30-207CD89370DD}"/>
              </a:ext>
            </a:extLst>
          </p:cNvPr>
          <p:cNvSpPr txBox="1"/>
          <p:nvPr/>
        </p:nvSpPr>
        <p:spPr>
          <a:xfrm>
            <a:off x="2045470" y="3179678"/>
            <a:ext cx="2111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Experience</a:t>
            </a:r>
            <a:r>
              <a:rPr lang="hu-HU" sz="1600" b="1" dirty="0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suggests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:</a:t>
            </a:r>
            <a:endParaRPr lang="hu-HU" sz="1600" b="1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BC10C229-AC79-B832-EBD9-293884D91517}"/>
              </a:ext>
            </a:extLst>
          </p:cNvPr>
          <p:cNvCxnSpPr/>
          <p:nvPr/>
        </p:nvCxnSpPr>
        <p:spPr>
          <a:xfrm>
            <a:off x="4830417" y="3348955"/>
            <a:ext cx="1296063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zövegdoboz 7">
                <a:extLst>
                  <a:ext uri="{FF2B5EF4-FFF2-40B4-BE49-F238E27FC236}">
                    <a16:creationId xmlns:a16="http://schemas.microsoft.com/office/drawing/2014/main" id="{DE57A6AA-9210-4043-F218-E17E60EF42D9}"/>
                  </a:ext>
                </a:extLst>
              </p:cNvPr>
              <p:cNvSpPr txBox="1"/>
              <p:nvPr/>
            </p:nvSpPr>
            <p:spPr>
              <a:xfrm>
                <a:off x="6319981" y="3153581"/>
                <a:ext cx="3521477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ctrlP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𝒁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accent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Szövegdoboz 7">
                <a:extLst>
                  <a:ext uri="{FF2B5EF4-FFF2-40B4-BE49-F238E27FC236}">
                    <a16:creationId xmlns:a16="http://schemas.microsoft.com/office/drawing/2014/main" id="{DE57A6AA-9210-4043-F218-E17E60EF4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981" y="3153581"/>
                <a:ext cx="3521477" cy="390748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zövegdoboz 8">
            <a:extLst>
              <a:ext uri="{FF2B5EF4-FFF2-40B4-BE49-F238E27FC236}">
                <a16:creationId xmlns:a16="http://schemas.microsoft.com/office/drawing/2014/main" id="{331AC821-90A7-EAEF-0266-6F105ADDD324}"/>
              </a:ext>
            </a:extLst>
          </p:cNvPr>
          <p:cNvSpPr txBox="1"/>
          <p:nvPr/>
        </p:nvSpPr>
        <p:spPr>
          <a:xfrm>
            <a:off x="692746" y="3878025"/>
            <a:ext cx="6617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Where</a:t>
            </a:r>
            <a:r>
              <a:rPr lang="hu-HU" sz="1600" b="1" dirty="0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does</a:t>
            </a:r>
            <a:r>
              <a:rPr lang="hu-HU" sz="1600" b="1" dirty="0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sz="1600" b="1" dirty="0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difference</a:t>
            </a:r>
            <a:r>
              <a:rPr lang="hu-HU" sz="1600" b="1" dirty="0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originate</a:t>
            </a:r>
            <a:r>
              <a:rPr lang="hu-HU" sz="1600" b="1" dirty="0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from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?    </a:t>
            </a:r>
            <a:r>
              <a:rPr lang="hu-HU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 </a:t>
            </a:r>
            <a:r>
              <a:rPr lang="hu-HU" sz="16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strong</a:t>
            </a:r>
            <a:r>
              <a:rPr lang="hu-HU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nuclear</a:t>
            </a:r>
            <a:r>
              <a:rPr lang="hu-HU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force</a:t>
            </a:r>
            <a:r>
              <a:rPr lang="hu-HU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5840DF26-77F5-894C-D2F6-3DEA01894323}"/>
              </a:ext>
            </a:extLst>
          </p:cNvPr>
          <p:cNvSpPr txBox="1"/>
          <p:nvPr/>
        </p:nvSpPr>
        <p:spPr>
          <a:xfrm>
            <a:off x="10034959" y="3182555"/>
            <a:ext cx="19695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Mass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defect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</a:p>
          <a:p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Free </a:t>
            </a:r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nucleons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are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heavier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…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925C1ED-5435-D9A7-E177-9CC51C02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52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79809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8E2FE-9FF1-A94A-3597-BDD89293D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C7E516-BE22-D89A-2B67-B9F75E604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binding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energy</a:t>
            </a:r>
            <a:endParaRPr lang="hu-HU" dirty="0"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20787225-5EA1-D4F2-9510-33D05AF4AEB6}"/>
                  </a:ext>
                </a:extLst>
              </p:cNvPr>
              <p:cNvSpPr txBox="1"/>
              <p:nvPr/>
            </p:nvSpPr>
            <p:spPr>
              <a:xfrm>
                <a:off x="6319981" y="2204155"/>
                <a:ext cx="3521477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20787225-5EA1-D4F2-9510-33D05AF4A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981" y="2204155"/>
                <a:ext cx="3521477" cy="390748"/>
              </a:xfrm>
              <a:prstGeom prst="rect">
                <a:avLst/>
              </a:prstGeom>
              <a:blipFill>
                <a:blip r:embed="rId2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zövegdoboz 14">
            <a:extLst>
              <a:ext uri="{FF2B5EF4-FFF2-40B4-BE49-F238E27FC236}">
                <a16:creationId xmlns:a16="http://schemas.microsoft.com/office/drawing/2014/main" id="{44C6F8E8-6D4E-3B22-F97F-CBC13D5E14A5}"/>
              </a:ext>
            </a:extLst>
          </p:cNvPr>
          <p:cNvSpPr txBox="1"/>
          <p:nvPr/>
        </p:nvSpPr>
        <p:spPr>
          <a:xfrm>
            <a:off x="1962916" y="2182522"/>
            <a:ext cx="2627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Mass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nucleus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?</a:t>
            </a:r>
          </a:p>
        </p:txBody>
      </p: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124550C5-0BE9-8482-09BE-010D80F4AD6C}"/>
              </a:ext>
            </a:extLst>
          </p:cNvPr>
          <p:cNvCxnSpPr/>
          <p:nvPr/>
        </p:nvCxnSpPr>
        <p:spPr>
          <a:xfrm>
            <a:off x="4830417" y="2399529"/>
            <a:ext cx="129606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AF0151DC-9C27-30AA-ED0E-6A74E0C8572B}"/>
              </a:ext>
            </a:extLst>
          </p:cNvPr>
          <p:cNvSpPr txBox="1"/>
          <p:nvPr/>
        </p:nvSpPr>
        <p:spPr>
          <a:xfrm>
            <a:off x="4247194" y="2594903"/>
            <a:ext cx="2462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mass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sz="1600" b="1" dirty="0" err="1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its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constituents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?</a:t>
            </a:r>
          </a:p>
          <a:p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                    </a:t>
            </a:r>
            <a:r>
              <a:rPr lang="hu-HU" sz="1600" b="1" dirty="0">
                <a:solidFill>
                  <a:srgbClr val="FF0000"/>
                </a:solidFill>
                <a:latin typeface="Book Antiqua" panose="02040602050305030304" pitchFamily="18" charset="0"/>
              </a:rPr>
              <a:t>NO</a:t>
            </a:r>
          </a:p>
        </p:txBody>
      </p: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78770639-EBCE-F35B-11D7-1C4A5CF5BC8B}"/>
              </a:ext>
            </a:extLst>
          </p:cNvPr>
          <p:cNvCxnSpPr/>
          <p:nvPr/>
        </p:nvCxnSpPr>
        <p:spPr>
          <a:xfrm flipV="1">
            <a:off x="7150071" y="2204155"/>
            <a:ext cx="450963" cy="3693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4">
            <a:extLst>
              <a:ext uri="{FF2B5EF4-FFF2-40B4-BE49-F238E27FC236}">
                <a16:creationId xmlns:a16="http://schemas.microsoft.com/office/drawing/2014/main" id="{350F5637-D6A6-8E52-0001-AE851FF6A846}"/>
              </a:ext>
            </a:extLst>
          </p:cNvPr>
          <p:cNvSpPr txBox="1"/>
          <p:nvPr/>
        </p:nvSpPr>
        <p:spPr>
          <a:xfrm>
            <a:off x="2045470" y="3179678"/>
            <a:ext cx="2111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Experience</a:t>
            </a:r>
            <a:r>
              <a:rPr lang="hu-HU" sz="1600" b="1" dirty="0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suggests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:</a:t>
            </a:r>
            <a:endParaRPr lang="hu-HU" sz="1600" b="1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BC4B6FC3-9B1A-C73A-783E-31BBB47A1F15}"/>
              </a:ext>
            </a:extLst>
          </p:cNvPr>
          <p:cNvCxnSpPr/>
          <p:nvPr/>
        </p:nvCxnSpPr>
        <p:spPr>
          <a:xfrm>
            <a:off x="4830417" y="3348955"/>
            <a:ext cx="1296063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zövegdoboz 7">
                <a:extLst>
                  <a:ext uri="{FF2B5EF4-FFF2-40B4-BE49-F238E27FC236}">
                    <a16:creationId xmlns:a16="http://schemas.microsoft.com/office/drawing/2014/main" id="{08ADAACC-1A27-2F54-89CD-5C9EC4B081AA}"/>
                  </a:ext>
                </a:extLst>
              </p:cNvPr>
              <p:cNvSpPr txBox="1"/>
              <p:nvPr/>
            </p:nvSpPr>
            <p:spPr>
              <a:xfrm>
                <a:off x="6319981" y="3153581"/>
                <a:ext cx="3521477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ctrlP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𝒁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accent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Szövegdoboz 7">
                <a:extLst>
                  <a:ext uri="{FF2B5EF4-FFF2-40B4-BE49-F238E27FC236}">
                    <a16:creationId xmlns:a16="http://schemas.microsoft.com/office/drawing/2014/main" id="{08ADAACC-1A27-2F54-89CD-5C9EC4B08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981" y="3153581"/>
                <a:ext cx="3521477" cy="390748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zövegdoboz 8">
            <a:extLst>
              <a:ext uri="{FF2B5EF4-FFF2-40B4-BE49-F238E27FC236}">
                <a16:creationId xmlns:a16="http://schemas.microsoft.com/office/drawing/2014/main" id="{6C05479E-6AA0-1BF6-A94A-B66A019D58BA}"/>
              </a:ext>
            </a:extLst>
          </p:cNvPr>
          <p:cNvSpPr txBox="1"/>
          <p:nvPr/>
        </p:nvSpPr>
        <p:spPr>
          <a:xfrm>
            <a:off x="692746" y="3878025"/>
            <a:ext cx="6623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latin typeface="Book Antiqua" panose="02040602050305030304" pitchFamily="18" charset="0"/>
              </a:rPr>
              <a:t>Where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does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the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difference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originate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from</a:t>
            </a:r>
            <a:r>
              <a:rPr lang="hu-HU" sz="1600" b="1" dirty="0">
                <a:latin typeface="Book Antiqua" panose="02040602050305030304" pitchFamily="18" charset="0"/>
              </a:rPr>
              <a:t>?    </a:t>
            </a:r>
            <a:r>
              <a:rPr lang="hu-HU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 </a:t>
            </a:r>
            <a:r>
              <a:rPr lang="hu-HU" sz="16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strong</a:t>
            </a:r>
            <a:r>
              <a:rPr lang="hu-HU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nuclear</a:t>
            </a:r>
            <a:r>
              <a:rPr lang="hu-HU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force</a:t>
            </a:r>
            <a:r>
              <a:rPr lang="hu-HU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  <a:endParaRPr lang="hu-HU" sz="1600" b="1" dirty="0">
              <a:latin typeface="Book Antiqua" panose="02040602050305030304" pitchFamily="18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2D266A9C-6A26-1A41-FC8B-9D9D5BE67E87}"/>
              </a:ext>
            </a:extLst>
          </p:cNvPr>
          <p:cNvSpPr txBox="1"/>
          <p:nvPr/>
        </p:nvSpPr>
        <p:spPr>
          <a:xfrm>
            <a:off x="10034959" y="3182555"/>
            <a:ext cx="19695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Mass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defect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</a:p>
          <a:p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Free </a:t>
            </a:r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nucleons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are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heavier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FBCC51CB-0CCF-5232-E538-C97DF27C1270}"/>
                  </a:ext>
                </a:extLst>
              </p:cNvPr>
              <p:cNvSpPr txBox="1"/>
              <p:nvPr/>
            </p:nvSpPr>
            <p:spPr>
              <a:xfrm>
                <a:off x="2691927" y="4880013"/>
                <a:ext cx="4458144" cy="61087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1" i="1" smtClean="0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hu-H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hu-H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hu-H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hu-H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hu-H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  <m:r>
                            <a:rPr lang="hu-H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hu-H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hu-H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hu-H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hu-H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hu-HU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hu-HU" b="1" i="1" smtClean="0"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ctrlPr>
                            <a:rPr lang="hu-H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hu-HU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hu-HU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num>
                        <m:den>
                          <m:sSup>
                            <m:sSupPr>
                              <m:ctrlPr>
                                <a:rPr lang="hu-HU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hu-HU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hu-HU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hu-HU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>
                  <a:latin typeface="Book Antiqua" panose="02040602050305030304" pitchFamily="18" charset="0"/>
                </a:endParaRPr>
              </a:p>
            </p:txBody>
          </p:sp>
        </mc:Choice>
        <mc:Fallback xmlns="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FBCC51CB-0CCF-5232-E538-C97DF27C1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927" y="4880013"/>
                <a:ext cx="4458144" cy="610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zövegdoboz 12">
            <a:extLst>
              <a:ext uri="{FF2B5EF4-FFF2-40B4-BE49-F238E27FC236}">
                <a16:creationId xmlns:a16="http://schemas.microsoft.com/office/drawing/2014/main" id="{AF0540A4-3AC9-A819-1F4F-6706F6C9DA39}"/>
              </a:ext>
            </a:extLst>
          </p:cNvPr>
          <p:cNvSpPr txBox="1"/>
          <p:nvPr/>
        </p:nvSpPr>
        <p:spPr>
          <a:xfrm>
            <a:off x="2610848" y="4406769"/>
            <a:ext cx="7814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 energy required to separate the</a:t>
            </a:r>
            <a:r>
              <a:rPr lang="hu-HU" sz="1800" b="0" i="0" u="none" strike="noStrike" baseline="0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en-US" sz="1800" b="0" i="0" u="none" strike="noStrike" baseline="0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nucleus into free neutrons and protons.</a:t>
            </a:r>
            <a:endParaRPr lang="hu-HU" dirty="0">
              <a:solidFill>
                <a:schemeClr val="accent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46E784B0-C3F9-41FD-814F-0B2ED8D69257}"/>
              </a:ext>
            </a:extLst>
          </p:cNvPr>
          <p:cNvSpPr txBox="1"/>
          <p:nvPr/>
        </p:nvSpPr>
        <p:spPr>
          <a:xfrm>
            <a:off x="5816808" y="5554776"/>
            <a:ext cx="45833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latin typeface="Book Antiqua" panose="02040602050305030304" pitchFamily="18" charset="0"/>
              </a:rPr>
              <a:t>MeV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scale</a:t>
            </a:r>
            <a:r>
              <a:rPr lang="hu-HU" sz="1600" b="1" dirty="0">
                <a:latin typeface="Book Antiqua" panose="02040602050305030304" pitchFamily="18" charset="0"/>
              </a:rPr>
              <a:t>!</a:t>
            </a:r>
          </a:p>
          <a:p>
            <a:r>
              <a:rPr lang="hu-HU" sz="1600" b="1" dirty="0" err="1">
                <a:latin typeface="Book Antiqua" panose="02040602050305030304" pitchFamily="18" charset="0"/>
              </a:rPr>
              <a:t>Compare</a:t>
            </a:r>
            <a:r>
              <a:rPr lang="hu-HU" sz="1600" b="1" dirty="0">
                <a:latin typeface="Book Antiqua" panose="02040602050305030304" pitchFamily="18" charset="0"/>
              </a:rPr>
              <a:t>: </a:t>
            </a:r>
            <a:r>
              <a:rPr lang="hu-HU" sz="1600" b="1" dirty="0" err="1">
                <a:latin typeface="Book Antiqua" panose="02040602050305030304" pitchFamily="18" charset="0"/>
              </a:rPr>
              <a:t>electron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binding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energy</a:t>
            </a:r>
            <a:r>
              <a:rPr lang="hu-HU" sz="1600" b="1" dirty="0">
                <a:latin typeface="Book Antiqua" panose="02040602050305030304" pitchFamily="18" charset="0"/>
              </a:rPr>
              <a:t> in </a:t>
            </a:r>
            <a:r>
              <a:rPr lang="hu-HU" sz="1600" b="1" dirty="0" err="1">
                <a:latin typeface="Book Antiqua" panose="02040602050305030304" pitchFamily="18" charset="0"/>
              </a:rPr>
              <a:t>hydrogen</a:t>
            </a:r>
            <a:endParaRPr lang="hu-HU" sz="1600" b="1" dirty="0">
              <a:latin typeface="Book Antiqua" panose="02040602050305030304" pitchFamily="18" charset="0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7B523998-ACF3-A588-1462-C97094DB6998}"/>
              </a:ext>
            </a:extLst>
          </p:cNvPr>
          <p:cNvSpPr txBox="1"/>
          <p:nvPr/>
        </p:nvSpPr>
        <p:spPr>
          <a:xfrm>
            <a:off x="339123" y="4314436"/>
            <a:ext cx="2422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Binding</a:t>
            </a:r>
            <a:r>
              <a:rPr lang="hu-H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energy</a:t>
            </a:r>
            <a:r>
              <a:rPr lang="hu-HU" b="1" dirty="0">
                <a:latin typeface="Book Antiqua" panose="02040602050305030304" pitchFamily="18" charset="0"/>
              </a:rPr>
              <a:t>:</a:t>
            </a:r>
            <a:endParaRPr lang="en-US" b="1" dirty="0">
              <a:latin typeface="Book Antiqua" panose="02040602050305030304" pitchFamily="18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653AEBC-02E8-1554-E9B1-A19BA99E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53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54638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C13BD-6C9F-ACC3-646A-F1567098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D1A097-FD92-500D-98BD-7CB54BF0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binding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energy</a:t>
            </a:r>
            <a:endParaRPr lang="hu-HU" dirty="0"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9FC60FE5-1565-77FC-CE52-81580F8735DA}"/>
                  </a:ext>
                </a:extLst>
              </p:cNvPr>
              <p:cNvSpPr txBox="1"/>
              <p:nvPr/>
            </p:nvSpPr>
            <p:spPr>
              <a:xfrm>
                <a:off x="6319981" y="2204155"/>
                <a:ext cx="3521477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9FC60FE5-1565-77FC-CE52-81580F873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981" y="2204155"/>
                <a:ext cx="3521477" cy="390748"/>
              </a:xfrm>
              <a:prstGeom prst="rect">
                <a:avLst/>
              </a:prstGeom>
              <a:blipFill>
                <a:blip r:embed="rId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zövegdoboz 14">
            <a:extLst>
              <a:ext uri="{FF2B5EF4-FFF2-40B4-BE49-F238E27FC236}">
                <a16:creationId xmlns:a16="http://schemas.microsoft.com/office/drawing/2014/main" id="{AB2F477D-15B3-6BC1-D13F-187EF4AE1880}"/>
              </a:ext>
            </a:extLst>
          </p:cNvPr>
          <p:cNvSpPr txBox="1"/>
          <p:nvPr/>
        </p:nvSpPr>
        <p:spPr>
          <a:xfrm>
            <a:off x="1962916" y="2182522"/>
            <a:ext cx="2627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Mass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nucleus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?</a:t>
            </a:r>
          </a:p>
        </p:txBody>
      </p: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77C3F12B-5269-E6AA-E364-DFB5E47B8710}"/>
              </a:ext>
            </a:extLst>
          </p:cNvPr>
          <p:cNvCxnSpPr/>
          <p:nvPr/>
        </p:nvCxnSpPr>
        <p:spPr>
          <a:xfrm>
            <a:off x="4830417" y="2399529"/>
            <a:ext cx="129606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C221089A-B530-21E8-DA0F-1C0FCA293EF3}"/>
              </a:ext>
            </a:extLst>
          </p:cNvPr>
          <p:cNvSpPr txBox="1"/>
          <p:nvPr/>
        </p:nvSpPr>
        <p:spPr>
          <a:xfrm>
            <a:off x="4247194" y="2594903"/>
            <a:ext cx="2462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mass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sz="1600" b="1" dirty="0" err="1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its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constituents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?</a:t>
            </a:r>
          </a:p>
          <a:p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                    </a:t>
            </a:r>
            <a:r>
              <a:rPr lang="hu-HU" sz="1600" b="1" dirty="0">
                <a:solidFill>
                  <a:srgbClr val="FF0000"/>
                </a:solidFill>
                <a:latin typeface="Book Antiqua" panose="02040602050305030304" pitchFamily="18" charset="0"/>
              </a:rPr>
              <a:t>NO</a:t>
            </a:r>
          </a:p>
        </p:txBody>
      </p: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BD105BCC-C2A9-00BA-2546-D30B416B36C0}"/>
              </a:ext>
            </a:extLst>
          </p:cNvPr>
          <p:cNvCxnSpPr/>
          <p:nvPr/>
        </p:nvCxnSpPr>
        <p:spPr>
          <a:xfrm flipV="1">
            <a:off x="7150071" y="2204155"/>
            <a:ext cx="450963" cy="3693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4">
            <a:extLst>
              <a:ext uri="{FF2B5EF4-FFF2-40B4-BE49-F238E27FC236}">
                <a16:creationId xmlns:a16="http://schemas.microsoft.com/office/drawing/2014/main" id="{E9497D53-61A2-1923-92CD-DB21999D9552}"/>
              </a:ext>
            </a:extLst>
          </p:cNvPr>
          <p:cNvSpPr txBox="1"/>
          <p:nvPr/>
        </p:nvSpPr>
        <p:spPr>
          <a:xfrm>
            <a:off x="2045470" y="3179678"/>
            <a:ext cx="2111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Experience</a:t>
            </a:r>
            <a:r>
              <a:rPr lang="hu-HU" sz="1600" b="1" dirty="0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</a:rPr>
              <a:t>suggests</a:t>
            </a:r>
            <a:r>
              <a:rPr lang="hu-HU" sz="16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:</a:t>
            </a:r>
            <a:endParaRPr lang="hu-HU" sz="1600" b="1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D91174E6-E9C8-DF9B-39B6-A1CF3A3AE9D0}"/>
              </a:ext>
            </a:extLst>
          </p:cNvPr>
          <p:cNvCxnSpPr/>
          <p:nvPr/>
        </p:nvCxnSpPr>
        <p:spPr>
          <a:xfrm>
            <a:off x="4830417" y="3348955"/>
            <a:ext cx="1296063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zövegdoboz 7">
                <a:extLst>
                  <a:ext uri="{FF2B5EF4-FFF2-40B4-BE49-F238E27FC236}">
                    <a16:creationId xmlns:a16="http://schemas.microsoft.com/office/drawing/2014/main" id="{DF73C8F9-00FE-D630-51D4-824F7DC88F40}"/>
                  </a:ext>
                </a:extLst>
              </p:cNvPr>
              <p:cNvSpPr txBox="1"/>
              <p:nvPr/>
            </p:nvSpPr>
            <p:spPr>
              <a:xfrm>
                <a:off x="6319981" y="3153581"/>
                <a:ext cx="3521477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ctrlP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𝒁</m:t>
                      </m:r>
                      <m:r>
                        <a:rPr lang="hu-HU" b="1" i="1" smtClean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accent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Szövegdoboz 7">
                <a:extLst>
                  <a:ext uri="{FF2B5EF4-FFF2-40B4-BE49-F238E27FC236}">
                    <a16:creationId xmlns:a16="http://schemas.microsoft.com/office/drawing/2014/main" id="{DF73C8F9-00FE-D630-51D4-824F7DC88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981" y="3153581"/>
                <a:ext cx="3521477" cy="390748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zövegdoboz 8">
            <a:extLst>
              <a:ext uri="{FF2B5EF4-FFF2-40B4-BE49-F238E27FC236}">
                <a16:creationId xmlns:a16="http://schemas.microsoft.com/office/drawing/2014/main" id="{0FF386A8-FE2E-82ED-B23B-0C9F24B63E22}"/>
              </a:ext>
            </a:extLst>
          </p:cNvPr>
          <p:cNvSpPr txBox="1"/>
          <p:nvPr/>
        </p:nvSpPr>
        <p:spPr>
          <a:xfrm>
            <a:off x="692746" y="3878025"/>
            <a:ext cx="6817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latin typeface="Book Antiqua" panose="02040602050305030304" pitchFamily="18" charset="0"/>
              </a:rPr>
              <a:t>Where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does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the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difference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originate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from</a:t>
            </a:r>
            <a:r>
              <a:rPr lang="hu-HU" sz="1600" b="1" dirty="0">
                <a:latin typeface="Book Antiqua" panose="02040602050305030304" pitchFamily="18" charset="0"/>
              </a:rPr>
              <a:t>?    </a:t>
            </a:r>
            <a:r>
              <a:rPr lang="hu-HU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 </a:t>
            </a:r>
            <a:r>
              <a:rPr lang="hu-HU" sz="16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strong</a:t>
            </a:r>
            <a:r>
              <a:rPr lang="hu-HU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nuclear</a:t>
            </a:r>
            <a:r>
              <a:rPr lang="hu-HU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force</a:t>
            </a:r>
            <a:r>
              <a:rPr lang="hu-HU" sz="1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  <a:endParaRPr lang="hu-HU" sz="1600" b="1" dirty="0">
              <a:latin typeface="Book Antiqua" panose="02040602050305030304" pitchFamily="18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2BC4F3F2-A559-5CE6-3FB4-67669D2099AE}"/>
              </a:ext>
            </a:extLst>
          </p:cNvPr>
          <p:cNvSpPr txBox="1"/>
          <p:nvPr/>
        </p:nvSpPr>
        <p:spPr>
          <a:xfrm>
            <a:off x="10034959" y="3182555"/>
            <a:ext cx="19695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Mass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defect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</a:p>
          <a:p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Free </a:t>
            </a:r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nucleons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are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heavier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…</a:t>
            </a:r>
          </a:p>
        </p:txBody>
      </p:sp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89302ED9-114F-E83B-231D-4FA755808466}"/>
              </a:ext>
            </a:extLst>
          </p:cNvPr>
          <p:cNvGrpSpPr/>
          <p:nvPr/>
        </p:nvGrpSpPr>
        <p:grpSpPr>
          <a:xfrm>
            <a:off x="339123" y="4314436"/>
            <a:ext cx="6810948" cy="1176450"/>
            <a:chOff x="-157068" y="703729"/>
            <a:chExt cx="6810948" cy="11764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Szövegdoboz 10">
                  <a:extLst>
                    <a:ext uri="{FF2B5EF4-FFF2-40B4-BE49-F238E27FC236}">
                      <a16:creationId xmlns:a16="http://schemas.microsoft.com/office/drawing/2014/main" id="{C7E2FD0F-3CFC-AD40-454B-7A846FB1AE30}"/>
                    </a:ext>
                  </a:extLst>
                </p:cNvPr>
                <p:cNvSpPr txBox="1"/>
                <p:nvPr/>
              </p:nvSpPr>
              <p:spPr>
                <a:xfrm>
                  <a:off x="2195736" y="1269306"/>
                  <a:ext cx="4458144" cy="610873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u-HU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hu-H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hu-HU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hu-HU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sub>
                        </m:sSub>
                        <m:r>
                          <a:rPr lang="hu-H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hu-HU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hu-HU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hu-HU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𝒁</m:t>
                            </m:r>
                          </m:e>
                        </m:d>
                        <m:r>
                          <a:rPr lang="hu-H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hu-HU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hu-HU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hu-HU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hu-HU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ctrlPr>
                              <a:rPr lang="hu-HU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hu-HU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b="1" i="1" smtClean="0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</m:d>
                        <m:r>
                          <a:rPr lang="hu-HU" b="1" i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hu-HU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</m:num>
                          <m:den>
                            <m:sSup>
                              <m:sSupPr>
                                <m:ctrlPr>
                                  <a:rPr lang="hu-HU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hu-HU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p>
                                <m:r>
                                  <a:rPr lang="hu-HU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  <m:r>
                          <a:rPr lang="hu-HU" b="1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hu-HU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b="1" dirty="0">
                    <a:latin typeface="Book Antiqua" panose="02040602050305030304" pitchFamily="18" charset="0"/>
                  </a:endParaRPr>
                </a:p>
              </p:txBody>
            </p:sp>
          </mc:Choice>
          <mc:Fallback xmlns="">
            <p:sp>
              <p:nvSpPr>
                <p:cNvPr id="11" name="Szövegdoboz 10">
                  <a:extLst>
                    <a:ext uri="{FF2B5EF4-FFF2-40B4-BE49-F238E27FC236}">
                      <a16:creationId xmlns:a16="http://schemas.microsoft.com/office/drawing/2014/main" id="{C7E2FD0F-3CFC-AD40-454B-7A846FB1AE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5736" y="1269306"/>
                  <a:ext cx="4458144" cy="61087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Szövegdoboz 11">
              <a:extLst>
                <a:ext uri="{FF2B5EF4-FFF2-40B4-BE49-F238E27FC236}">
                  <a16:creationId xmlns:a16="http://schemas.microsoft.com/office/drawing/2014/main" id="{AFFA8746-8B1B-E330-9EA7-EFF2DE7C3082}"/>
                </a:ext>
              </a:extLst>
            </p:cNvPr>
            <p:cNvSpPr txBox="1"/>
            <p:nvPr/>
          </p:nvSpPr>
          <p:spPr>
            <a:xfrm>
              <a:off x="-157068" y="703729"/>
              <a:ext cx="24224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24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Binding</a:t>
              </a:r>
              <a:r>
                <a:rPr lang="hu-HU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 </a:t>
              </a:r>
              <a:r>
                <a:rPr lang="hu-HU" sz="24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energy</a:t>
              </a:r>
              <a:r>
                <a:rPr lang="hu-HU" b="1" dirty="0">
                  <a:latin typeface="Book Antiqua" panose="02040602050305030304" pitchFamily="18" charset="0"/>
                </a:rPr>
                <a:t>:</a:t>
              </a:r>
              <a:endParaRPr lang="en-US" b="1" dirty="0">
                <a:latin typeface="Book Antiqua" panose="02040602050305030304" pitchFamily="18" charset="0"/>
              </a:endParaRPr>
            </a:p>
          </p:txBody>
        </p:sp>
      </p:grp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AF36CEE9-1A10-4FD4-0BD3-A4B13ACF72C3}"/>
              </a:ext>
            </a:extLst>
          </p:cNvPr>
          <p:cNvSpPr txBox="1"/>
          <p:nvPr/>
        </p:nvSpPr>
        <p:spPr>
          <a:xfrm>
            <a:off x="2610848" y="4406769"/>
            <a:ext cx="7814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 energy required to 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separate</a:t>
            </a:r>
            <a:r>
              <a:rPr lang="en-US" sz="1800" b="0" i="0" u="none" strike="noStrike" baseline="0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the</a:t>
            </a:r>
            <a:r>
              <a:rPr lang="hu-HU" sz="1800" b="0" i="0" u="none" strike="noStrike" baseline="0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en-US" sz="1800" b="0" i="0" u="none" strike="noStrike" baseline="0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nucleus into free neutrons and protons.</a:t>
            </a:r>
            <a:endParaRPr lang="hu-HU" dirty="0">
              <a:solidFill>
                <a:schemeClr val="accent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3B66740A-A224-D790-18DF-C781526BA928}"/>
              </a:ext>
            </a:extLst>
          </p:cNvPr>
          <p:cNvSpPr txBox="1"/>
          <p:nvPr/>
        </p:nvSpPr>
        <p:spPr>
          <a:xfrm>
            <a:off x="5816808" y="5554776"/>
            <a:ext cx="562205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dirty="0" err="1">
                <a:latin typeface="Book Antiqua" panose="02040602050305030304" pitchFamily="18" charset="0"/>
              </a:rPr>
              <a:t>MeV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scale</a:t>
            </a:r>
            <a:r>
              <a:rPr lang="hu-HU" sz="1600" b="1" dirty="0">
                <a:latin typeface="Book Antiqua" panose="02040602050305030304" pitchFamily="18" charset="0"/>
              </a:rPr>
              <a:t>!</a:t>
            </a:r>
          </a:p>
          <a:p>
            <a:r>
              <a:rPr lang="hu-HU" sz="1600" b="1" dirty="0" err="1">
                <a:latin typeface="Book Antiqua" panose="02040602050305030304" pitchFamily="18" charset="0"/>
              </a:rPr>
              <a:t>Compare</a:t>
            </a:r>
            <a:r>
              <a:rPr lang="hu-HU" sz="1600" b="1" dirty="0">
                <a:latin typeface="Book Antiqua" panose="02040602050305030304" pitchFamily="18" charset="0"/>
              </a:rPr>
              <a:t>: </a:t>
            </a:r>
            <a:r>
              <a:rPr lang="hu-HU" sz="1600" b="1" dirty="0" err="1">
                <a:latin typeface="Book Antiqua" panose="02040602050305030304" pitchFamily="18" charset="0"/>
              </a:rPr>
              <a:t>electron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binding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energy</a:t>
            </a:r>
            <a:r>
              <a:rPr lang="hu-HU" sz="1600" b="1" dirty="0">
                <a:latin typeface="Book Antiqua" panose="02040602050305030304" pitchFamily="18" charset="0"/>
              </a:rPr>
              <a:t> in </a:t>
            </a:r>
            <a:r>
              <a:rPr lang="hu-HU" sz="1600" b="1" dirty="0" err="1">
                <a:latin typeface="Book Antiqua" panose="02040602050305030304" pitchFamily="18" charset="0"/>
              </a:rPr>
              <a:t>hydrogen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b="1" dirty="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</a:rPr>
              <a:t>13,6 eV…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9C1B46C7-BCFA-9B8C-3F57-B7A200B3D1C1}"/>
              </a:ext>
            </a:extLst>
          </p:cNvPr>
          <p:cNvSpPr txBox="1"/>
          <p:nvPr/>
        </p:nvSpPr>
        <p:spPr>
          <a:xfrm>
            <a:off x="1432321" y="5800997"/>
            <a:ext cx="315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For</a:t>
            </a:r>
            <a:r>
              <a:rPr lang="hu-HU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deuteron (</a:t>
            </a:r>
            <a:r>
              <a:rPr lang="hu-HU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p+n</a:t>
            </a:r>
            <a:r>
              <a:rPr lang="hu-HU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): 2,2 </a:t>
            </a:r>
            <a:r>
              <a:rPr lang="hu-HU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MeV</a:t>
            </a:r>
            <a:endParaRPr lang="hu-HU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6" name="Dia számának helye 15">
            <a:extLst>
              <a:ext uri="{FF2B5EF4-FFF2-40B4-BE49-F238E27FC236}">
                <a16:creationId xmlns:a16="http://schemas.microsoft.com/office/drawing/2014/main" id="{456CCA1C-6A22-A778-F2D4-B653B42E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54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95576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8B3E5-D4CC-D2CC-00B1-F273D046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AC7633-6C8B-25C2-EAC4-E8A7EDB1A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binding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energy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C2590461-22B1-2178-1442-77211B032651}"/>
              </a:ext>
            </a:extLst>
          </p:cNvPr>
          <p:cNvSpPr txBox="1"/>
          <p:nvPr/>
        </p:nvSpPr>
        <p:spPr>
          <a:xfrm>
            <a:off x="200979" y="1898811"/>
            <a:ext cx="49423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Indicates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a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new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energy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scale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20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convention</a:t>
            </a:r>
            <a:r>
              <a:rPr lang="hu-HU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:</a:t>
            </a:r>
          </a:p>
        </p:txBody>
      </p:sp>
      <p:pic>
        <p:nvPicPr>
          <p:cNvPr id="20" name="Kép 19">
            <a:extLst>
              <a:ext uri="{FF2B5EF4-FFF2-40B4-BE49-F238E27FC236}">
                <a16:creationId xmlns:a16="http://schemas.microsoft.com/office/drawing/2014/main" id="{311D9D29-51D2-6E90-EDBD-668A4EF17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2278"/>
            <a:ext cx="5878345" cy="3960000"/>
          </a:xfrm>
          <a:prstGeom prst="rect">
            <a:avLst/>
          </a:prstGeom>
        </p:spPr>
      </p:pic>
      <p:sp>
        <p:nvSpPr>
          <p:cNvPr id="22" name="Téglalap 21">
            <a:extLst>
              <a:ext uri="{FF2B5EF4-FFF2-40B4-BE49-F238E27FC236}">
                <a16:creationId xmlns:a16="http://schemas.microsoft.com/office/drawing/2014/main" id="{66913DF0-E94D-FC02-A839-317865AEB147}"/>
              </a:ext>
            </a:extLst>
          </p:cNvPr>
          <p:cNvSpPr/>
          <p:nvPr/>
        </p:nvSpPr>
        <p:spPr>
          <a:xfrm>
            <a:off x="462913" y="2222278"/>
            <a:ext cx="736315" cy="260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04075505-0C29-3F19-67F1-6E48FC0D4C3D}"/>
              </a:ext>
            </a:extLst>
          </p:cNvPr>
          <p:cNvSpPr/>
          <p:nvPr/>
        </p:nvSpPr>
        <p:spPr>
          <a:xfrm>
            <a:off x="3154883" y="2222277"/>
            <a:ext cx="736315" cy="260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A8CB97A0-3C27-1C89-9BDA-298DC739345D}"/>
              </a:ext>
            </a:extLst>
          </p:cNvPr>
          <p:cNvSpPr/>
          <p:nvPr/>
        </p:nvSpPr>
        <p:spPr>
          <a:xfrm>
            <a:off x="5018347" y="3080356"/>
            <a:ext cx="736315" cy="260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Téglalap 24">
            <a:extLst>
              <a:ext uri="{FF2B5EF4-FFF2-40B4-BE49-F238E27FC236}">
                <a16:creationId xmlns:a16="http://schemas.microsoft.com/office/drawing/2014/main" id="{6095DAD7-728F-45F2-B652-D09615B47631}"/>
              </a:ext>
            </a:extLst>
          </p:cNvPr>
          <p:cNvSpPr/>
          <p:nvPr/>
        </p:nvSpPr>
        <p:spPr>
          <a:xfrm>
            <a:off x="2352710" y="5757295"/>
            <a:ext cx="736315" cy="260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Téglalap 25">
            <a:extLst>
              <a:ext uri="{FF2B5EF4-FFF2-40B4-BE49-F238E27FC236}">
                <a16:creationId xmlns:a16="http://schemas.microsoft.com/office/drawing/2014/main" id="{148C631E-479F-EEA8-3C66-6D410222F027}"/>
              </a:ext>
            </a:extLst>
          </p:cNvPr>
          <p:cNvSpPr/>
          <p:nvPr/>
        </p:nvSpPr>
        <p:spPr>
          <a:xfrm>
            <a:off x="3574655" y="4753443"/>
            <a:ext cx="979867" cy="260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Téglalap 26">
            <a:extLst>
              <a:ext uri="{FF2B5EF4-FFF2-40B4-BE49-F238E27FC236}">
                <a16:creationId xmlns:a16="http://schemas.microsoft.com/office/drawing/2014/main" id="{DC2470DF-B7D5-F84B-DF02-9AF458C7A916}"/>
              </a:ext>
            </a:extLst>
          </p:cNvPr>
          <p:cNvSpPr/>
          <p:nvPr/>
        </p:nvSpPr>
        <p:spPr>
          <a:xfrm>
            <a:off x="901053" y="4753443"/>
            <a:ext cx="979867" cy="260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E3E2603C-9296-C58F-DB12-B222E7934246}"/>
              </a:ext>
            </a:extLst>
          </p:cNvPr>
          <p:cNvSpPr/>
          <p:nvPr/>
        </p:nvSpPr>
        <p:spPr>
          <a:xfrm>
            <a:off x="4462551" y="3924407"/>
            <a:ext cx="658502" cy="379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" name="Téglalap 28">
            <a:extLst>
              <a:ext uri="{FF2B5EF4-FFF2-40B4-BE49-F238E27FC236}">
                <a16:creationId xmlns:a16="http://schemas.microsoft.com/office/drawing/2014/main" id="{320CED9C-4619-CE4F-9154-4D3006D33EB1}"/>
              </a:ext>
            </a:extLst>
          </p:cNvPr>
          <p:cNvSpPr/>
          <p:nvPr/>
        </p:nvSpPr>
        <p:spPr>
          <a:xfrm>
            <a:off x="1782300" y="3924408"/>
            <a:ext cx="979866" cy="4633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Binding</a:t>
            </a:r>
            <a:r>
              <a:rPr lang="hu-HU" sz="16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endParaRPr lang="hu-HU" sz="1600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sp>
        <p:nvSpPr>
          <p:cNvPr id="30" name="Téglalap 29">
            <a:extLst>
              <a:ext uri="{FF2B5EF4-FFF2-40B4-BE49-F238E27FC236}">
                <a16:creationId xmlns:a16="http://schemas.microsoft.com/office/drawing/2014/main" id="{460B444B-9694-F0D9-26F2-E552708197AF}"/>
              </a:ext>
            </a:extLst>
          </p:cNvPr>
          <p:cNvSpPr/>
          <p:nvPr/>
        </p:nvSpPr>
        <p:spPr>
          <a:xfrm>
            <a:off x="4462551" y="3924408"/>
            <a:ext cx="979866" cy="4633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Binding</a:t>
            </a:r>
            <a:r>
              <a:rPr lang="hu-HU" sz="16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endParaRPr lang="hu-HU" sz="1600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0CAF89C1-5248-546C-838D-A5EF9EC03B2D}"/>
              </a:ext>
            </a:extLst>
          </p:cNvPr>
          <p:cNvSpPr txBox="1"/>
          <p:nvPr/>
        </p:nvSpPr>
        <p:spPr>
          <a:xfrm>
            <a:off x="2140743" y="5709565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distance</a:t>
            </a:r>
            <a:endParaRPr lang="hu-HU" sz="1400" dirty="0">
              <a:latin typeface="Book Antiqua" panose="02040602050305030304" pitchFamily="18" charset="0"/>
            </a:endParaRP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05C38EDE-56AF-4442-E5A9-CEBC30D56AB4}"/>
              </a:ext>
            </a:extLst>
          </p:cNvPr>
          <p:cNvSpPr txBox="1"/>
          <p:nvPr/>
        </p:nvSpPr>
        <p:spPr>
          <a:xfrm>
            <a:off x="4791802" y="3032626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distance</a:t>
            </a:r>
            <a:endParaRPr lang="hu-HU" sz="1400" dirty="0">
              <a:latin typeface="Book Antiqua" panose="02040602050305030304" pitchFamily="18" charset="0"/>
            </a:endParaRPr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F66C4A70-72EC-7434-A10B-C11D72C6DA48}"/>
              </a:ext>
            </a:extLst>
          </p:cNvPr>
          <p:cNvSpPr txBox="1"/>
          <p:nvPr/>
        </p:nvSpPr>
        <p:spPr>
          <a:xfrm>
            <a:off x="859129" y="2278329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energy</a:t>
            </a:r>
            <a:endParaRPr lang="hu-HU" sz="1400" dirty="0">
              <a:latin typeface="Book Antiqua" panose="02040602050305030304" pitchFamily="18" charset="0"/>
            </a:endParaRPr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D48912B7-4AF6-FF72-F342-4B6BD53A6501}"/>
              </a:ext>
            </a:extLst>
          </p:cNvPr>
          <p:cNvSpPr txBox="1"/>
          <p:nvPr/>
        </p:nvSpPr>
        <p:spPr>
          <a:xfrm>
            <a:off x="3574655" y="2315163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energy</a:t>
            </a:r>
            <a:endParaRPr lang="hu-HU" sz="1400" dirty="0">
              <a:latin typeface="Book Antiqua" panose="02040602050305030304" pitchFamily="18" charset="0"/>
            </a:endParaRPr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B9833275-092D-A469-1EDB-77F7CB19388E}"/>
              </a:ext>
            </a:extLst>
          </p:cNvPr>
          <p:cNvSpPr txBox="1"/>
          <p:nvPr/>
        </p:nvSpPr>
        <p:spPr>
          <a:xfrm>
            <a:off x="831070" y="4740902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Bound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state</a:t>
            </a:r>
            <a:endParaRPr lang="hu-HU" sz="1400" dirty="0">
              <a:latin typeface="Book Antiqua" panose="02040602050305030304" pitchFamily="18" charset="0"/>
            </a:endParaRPr>
          </a:p>
        </p:txBody>
      </p: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68AF03A8-4902-FC15-09D1-206E8E14CF08}"/>
              </a:ext>
            </a:extLst>
          </p:cNvPr>
          <p:cNvSpPr txBox="1"/>
          <p:nvPr/>
        </p:nvSpPr>
        <p:spPr>
          <a:xfrm>
            <a:off x="3484079" y="4729577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Bound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state</a:t>
            </a:r>
            <a:endParaRPr lang="hu-HU" sz="1400" dirty="0">
              <a:latin typeface="Book Antiqua" panose="02040602050305030304" pitchFamily="18" charset="0"/>
            </a:endParaRPr>
          </a:p>
        </p:txBody>
      </p:sp>
      <p:grpSp>
        <p:nvGrpSpPr>
          <p:cNvPr id="37" name="Csoportba foglalás 36">
            <a:extLst>
              <a:ext uri="{FF2B5EF4-FFF2-40B4-BE49-F238E27FC236}">
                <a16:creationId xmlns:a16="http://schemas.microsoft.com/office/drawing/2014/main" id="{AA6E8229-0A01-0A0C-66E8-11C410FE3D6A}"/>
              </a:ext>
            </a:extLst>
          </p:cNvPr>
          <p:cNvGrpSpPr/>
          <p:nvPr/>
        </p:nvGrpSpPr>
        <p:grpSpPr>
          <a:xfrm>
            <a:off x="5991930" y="2708589"/>
            <a:ext cx="2370997" cy="2112777"/>
            <a:chOff x="6146905" y="4352963"/>
            <a:chExt cx="2370997" cy="2112777"/>
          </a:xfrm>
        </p:grpSpPr>
        <p:grpSp>
          <p:nvGrpSpPr>
            <p:cNvPr id="38" name="Csoportba foglalás 37">
              <a:extLst>
                <a:ext uri="{FF2B5EF4-FFF2-40B4-BE49-F238E27FC236}">
                  <a16:creationId xmlns:a16="http://schemas.microsoft.com/office/drawing/2014/main" id="{280DF079-8660-2666-AFE8-90A388FD8341}"/>
                </a:ext>
              </a:extLst>
            </p:cNvPr>
            <p:cNvGrpSpPr/>
            <p:nvPr/>
          </p:nvGrpSpPr>
          <p:grpSpPr>
            <a:xfrm>
              <a:off x="6156176" y="4352963"/>
              <a:ext cx="2119673" cy="660213"/>
              <a:chOff x="6156176" y="4352963"/>
              <a:chExt cx="2119673" cy="660213"/>
            </a:xfrm>
          </p:grpSpPr>
          <p:sp>
            <p:nvSpPr>
              <p:cNvPr id="42" name="Jobb oldali kapcsos zárójel 41">
                <a:extLst>
                  <a:ext uri="{FF2B5EF4-FFF2-40B4-BE49-F238E27FC236}">
                    <a16:creationId xmlns:a16="http://schemas.microsoft.com/office/drawing/2014/main" id="{2953EB7C-5AF6-AD61-E861-2C9514B554FE}"/>
                  </a:ext>
                </a:extLst>
              </p:cNvPr>
              <p:cNvSpPr/>
              <p:nvPr/>
            </p:nvSpPr>
            <p:spPr>
              <a:xfrm>
                <a:off x="6156176" y="4352963"/>
                <a:ext cx="226750" cy="660213"/>
              </a:xfrm>
              <a:prstGeom prst="rightBrac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zövegdoboz 42">
                <a:extLst>
                  <a:ext uri="{FF2B5EF4-FFF2-40B4-BE49-F238E27FC236}">
                    <a16:creationId xmlns:a16="http://schemas.microsoft.com/office/drawing/2014/main" id="{67467C9A-96FF-D3EF-4E1D-169D0D111CEE}"/>
                  </a:ext>
                </a:extLst>
              </p:cNvPr>
              <p:cNvSpPr txBox="1"/>
              <p:nvPr/>
            </p:nvSpPr>
            <p:spPr>
              <a:xfrm>
                <a:off x="6310246" y="4528944"/>
                <a:ext cx="1965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dirty="0">
                    <a:latin typeface="Book Antiqua" panose="02040602050305030304" pitchFamily="18" charset="0"/>
                  </a:rPr>
                  <a:t>Free </a:t>
                </a:r>
                <a:r>
                  <a:rPr lang="hu-HU" dirty="0" err="1">
                    <a:latin typeface="Book Antiqua" panose="02040602050305030304" pitchFamily="18" charset="0"/>
                  </a:rPr>
                  <a:t>system</a:t>
                </a:r>
                <a:r>
                  <a:rPr lang="hu-HU" dirty="0">
                    <a:latin typeface="Book Antiqua" panose="02040602050305030304" pitchFamily="18" charset="0"/>
                  </a:rPr>
                  <a:t> </a:t>
                </a:r>
                <a:r>
                  <a:rPr lang="hu-HU" i="1" dirty="0">
                    <a:latin typeface="Book Antiqua" panose="02040602050305030304" pitchFamily="18" charset="0"/>
                  </a:rPr>
                  <a:t>E</a:t>
                </a:r>
                <a:r>
                  <a:rPr lang="hu-HU" dirty="0">
                    <a:latin typeface="Book Antiqua" panose="02040602050305030304" pitchFamily="18" charset="0"/>
                  </a:rPr>
                  <a:t> &gt; 0</a:t>
                </a:r>
                <a:endParaRPr lang="en-US" dirty="0">
                  <a:latin typeface="Book Antiqua" panose="02040602050305030304" pitchFamily="18" charset="0"/>
                </a:endParaRPr>
              </a:p>
            </p:txBody>
          </p:sp>
        </p:grpSp>
        <p:grpSp>
          <p:nvGrpSpPr>
            <p:cNvPr id="39" name="Csoportba foglalás 38">
              <a:extLst>
                <a:ext uri="{FF2B5EF4-FFF2-40B4-BE49-F238E27FC236}">
                  <a16:creationId xmlns:a16="http://schemas.microsoft.com/office/drawing/2014/main" id="{7125761F-2247-B972-B3B8-E36C38E64813}"/>
                </a:ext>
              </a:extLst>
            </p:cNvPr>
            <p:cNvGrpSpPr/>
            <p:nvPr/>
          </p:nvGrpSpPr>
          <p:grpSpPr>
            <a:xfrm>
              <a:off x="6146905" y="5014983"/>
              <a:ext cx="2370997" cy="1450757"/>
              <a:chOff x="6156176" y="4352962"/>
              <a:chExt cx="2370997" cy="1450757"/>
            </a:xfrm>
          </p:grpSpPr>
          <p:sp>
            <p:nvSpPr>
              <p:cNvPr id="40" name="Jobb oldali kapcsos zárójel 39">
                <a:extLst>
                  <a:ext uri="{FF2B5EF4-FFF2-40B4-BE49-F238E27FC236}">
                    <a16:creationId xmlns:a16="http://schemas.microsoft.com/office/drawing/2014/main" id="{BB788E20-359C-0F97-D2BF-D57592388630}"/>
                  </a:ext>
                </a:extLst>
              </p:cNvPr>
              <p:cNvSpPr/>
              <p:nvPr/>
            </p:nvSpPr>
            <p:spPr>
              <a:xfrm>
                <a:off x="6156176" y="4352962"/>
                <a:ext cx="163342" cy="1450757"/>
              </a:xfrm>
              <a:prstGeom prst="rightBrac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Szövegdoboz 40">
                <a:extLst>
                  <a:ext uri="{FF2B5EF4-FFF2-40B4-BE49-F238E27FC236}">
                    <a16:creationId xmlns:a16="http://schemas.microsoft.com/office/drawing/2014/main" id="{C39082E4-C40C-EA3C-B403-E07A31EB781F}"/>
                  </a:ext>
                </a:extLst>
              </p:cNvPr>
              <p:cNvSpPr txBox="1"/>
              <p:nvPr/>
            </p:nvSpPr>
            <p:spPr>
              <a:xfrm>
                <a:off x="6319517" y="4969444"/>
                <a:ext cx="22076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dirty="0" err="1">
                    <a:latin typeface="Book Antiqua" panose="02040602050305030304" pitchFamily="18" charset="0"/>
                  </a:rPr>
                  <a:t>Bound</a:t>
                </a:r>
                <a:r>
                  <a:rPr lang="hu-HU" dirty="0">
                    <a:latin typeface="Book Antiqua" panose="02040602050305030304" pitchFamily="18" charset="0"/>
                  </a:rPr>
                  <a:t> </a:t>
                </a:r>
                <a:r>
                  <a:rPr lang="hu-HU" dirty="0" err="1">
                    <a:latin typeface="Book Antiqua" panose="02040602050305030304" pitchFamily="18" charset="0"/>
                  </a:rPr>
                  <a:t>system</a:t>
                </a:r>
                <a:r>
                  <a:rPr lang="hu-HU" dirty="0">
                    <a:latin typeface="Book Antiqua" panose="02040602050305030304" pitchFamily="18" charset="0"/>
                  </a:rPr>
                  <a:t> </a:t>
                </a:r>
                <a:r>
                  <a:rPr lang="hu-HU" i="1" dirty="0">
                    <a:latin typeface="Book Antiqua" panose="02040602050305030304" pitchFamily="18" charset="0"/>
                  </a:rPr>
                  <a:t>E</a:t>
                </a:r>
                <a:r>
                  <a:rPr lang="hu-HU" dirty="0">
                    <a:latin typeface="Book Antiqua" panose="02040602050305030304" pitchFamily="18" charset="0"/>
                  </a:rPr>
                  <a:t> &lt; 0</a:t>
                </a:r>
                <a:endParaRPr lang="en-US" dirty="0">
                  <a:latin typeface="Book Antiqua" panose="020406020503050303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Szövegdoboz 44">
                <a:extLst>
                  <a:ext uri="{FF2B5EF4-FFF2-40B4-BE49-F238E27FC236}">
                    <a16:creationId xmlns:a16="http://schemas.microsoft.com/office/drawing/2014/main" id="{FB34AAFF-4D5C-EC2F-FA2B-4ADEA1B710AE}"/>
                  </a:ext>
                </a:extLst>
              </p:cNvPr>
              <p:cNvSpPr txBox="1"/>
              <p:nvPr/>
            </p:nvSpPr>
            <p:spPr>
              <a:xfrm>
                <a:off x="9398539" y="3467554"/>
                <a:ext cx="1505694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𝑬</m:t>
                    </m:r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=−</m:t>
                    </m:r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𝑩</m:t>
                    </m:r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&lt;</m:t>
                    </m:r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hu-HU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</a:p>
            </p:txBody>
          </p:sp>
        </mc:Choice>
        <mc:Fallback xmlns="">
          <p:sp>
            <p:nvSpPr>
              <p:cNvPr id="45" name="Szövegdoboz 44">
                <a:extLst>
                  <a:ext uri="{FF2B5EF4-FFF2-40B4-BE49-F238E27FC236}">
                    <a16:creationId xmlns:a16="http://schemas.microsoft.com/office/drawing/2014/main" id="{FB34AAFF-4D5C-EC2F-FA2B-4ADEA1B71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539" y="3467554"/>
                <a:ext cx="150569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Szövegdoboz 45">
                <a:extLst>
                  <a:ext uri="{FF2B5EF4-FFF2-40B4-BE49-F238E27FC236}">
                    <a16:creationId xmlns:a16="http://schemas.microsoft.com/office/drawing/2014/main" id="{C8B24267-30D2-587C-3604-778D6321EA9E}"/>
                  </a:ext>
                </a:extLst>
              </p:cNvPr>
              <p:cNvSpPr txBox="1"/>
              <p:nvPr/>
            </p:nvSpPr>
            <p:spPr>
              <a:xfrm>
                <a:off x="6275686" y="5287412"/>
                <a:ext cx="4017318" cy="627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hu-H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hu-HU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hu-HU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𝑩</m:t>
                          </m:r>
                        </m:num>
                        <m:den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Szövegdoboz 45">
                <a:extLst>
                  <a:ext uri="{FF2B5EF4-FFF2-40B4-BE49-F238E27FC236}">
                    <a16:creationId xmlns:a16="http://schemas.microsoft.com/office/drawing/2014/main" id="{C8B24267-30D2-587C-3604-778D6321E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686" y="5287412"/>
                <a:ext cx="4017318" cy="6278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Szövegdoboz 46">
            <a:extLst>
              <a:ext uri="{FF2B5EF4-FFF2-40B4-BE49-F238E27FC236}">
                <a16:creationId xmlns:a16="http://schemas.microsoft.com/office/drawing/2014/main" id="{BD14DD3C-8818-BC48-C367-C394978ECF43}"/>
              </a:ext>
            </a:extLst>
          </p:cNvPr>
          <p:cNvSpPr txBox="1"/>
          <p:nvPr/>
        </p:nvSpPr>
        <p:spPr>
          <a:xfrm>
            <a:off x="4414659" y="5870396"/>
            <a:ext cx="777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binding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can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be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determined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by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measuring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mass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nucleus</a:t>
            </a:r>
            <a:endParaRPr lang="hu-HU" dirty="0">
              <a:solidFill>
                <a:schemeClr val="accent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48" name="Szövegdoboz 47">
            <a:extLst>
              <a:ext uri="{FF2B5EF4-FFF2-40B4-BE49-F238E27FC236}">
                <a16:creationId xmlns:a16="http://schemas.microsoft.com/office/drawing/2014/main" id="{36CC55AC-312B-EA6E-66B5-6F3FE0C86FB2}"/>
              </a:ext>
            </a:extLst>
          </p:cNvPr>
          <p:cNvSpPr txBox="1"/>
          <p:nvPr/>
        </p:nvSpPr>
        <p:spPr>
          <a:xfrm>
            <a:off x="10027635" y="2464257"/>
            <a:ext cx="3978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6000" dirty="0">
                <a:solidFill>
                  <a:srgbClr val="FF0000"/>
                </a:solidFill>
                <a:latin typeface="Book Antiqua" panose="02040602050305030304" pitchFamily="18" charset="0"/>
              </a:rPr>
              <a:t>!</a:t>
            </a:r>
          </a:p>
        </p:txBody>
      </p:sp>
      <p:sp>
        <p:nvSpPr>
          <p:cNvPr id="49" name="Szövegdoboz 48">
            <a:extLst>
              <a:ext uri="{FF2B5EF4-FFF2-40B4-BE49-F238E27FC236}">
                <a16:creationId xmlns:a16="http://schemas.microsoft.com/office/drawing/2014/main" id="{20DA502F-B381-9E66-9034-74875F146D6D}"/>
              </a:ext>
            </a:extLst>
          </p:cNvPr>
          <p:cNvSpPr txBox="1"/>
          <p:nvPr/>
        </p:nvSpPr>
        <p:spPr>
          <a:xfrm>
            <a:off x="9492904" y="4038478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total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energy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nucleus</a:t>
            </a:r>
            <a:endParaRPr lang="hu-H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399BBDE1-C577-FED4-C5FF-50E283F69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55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46815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5AE0C-D34F-E615-0475-B20C7B81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EDA1A119-BF30-D7D7-7486-F67EDB9C8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force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FB9C2D75-4702-BA12-51A4-74AEB782104A}"/>
              </a:ext>
            </a:extLst>
          </p:cNvPr>
          <p:cNvSpPr txBox="1"/>
          <p:nvPr/>
        </p:nvSpPr>
        <p:spPr>
          <a:xfrm>
            <a:off x="519634" y="1951429"/>
            <a:ext cx="4544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What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could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account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for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nuclear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force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?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849DE61-2A0D-7615-A65F-237532993186}"/>
              </a:ext>
            </a:extLst>
          </p:cNvPr>
          <p:cNvSpPr txBox="1"/>
          <p:nvPr/>
        </p:nvSpPr>
        <p:spPr>
          <a:xfrm>
            <a:off x="6126196" y="1951429"/>
            <a:ext cx="4455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b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Virtual</a:t>
            </a:r>
            <a:r>
              <a:rPr lang="hu-HU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particle</a:t>
            </a:r>
            <a:r>
              <a:rPr lang="hu-HU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emission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and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absorption</a:t>
            </a:r>
            <a:endParaRPr lang="hu-HU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pPr algn="ctr"/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Realm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of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quantum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field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theory</a:t>
            </a:r>
            <a:endParaRPr lang="hu-HU" i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7FCC5B7E-0D2A-28FC-4BB6-5AF3CF4853F2}"/>
              </a:ext>
            </a:extLst>
          </p:cNvPr>
          <p:cNvSpPr txBox="1"/>
          <p:nvPr/>
        </p:nvSpPr>
        <p:spPr>
          <a:xfrm>
            <a:off x="186252" y="2871100"/>
            <a:ext cx="92752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Nucleons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are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interacting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through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a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third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„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inner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”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particle</a:t>
            </a:r>
            <a:endParaRPr lang="hu-HU" dirty="0">
              <a:solidFill>
                <a:schemeClr val="tx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Inside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nucleus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;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one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nucleon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emits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it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,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other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absorbs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it</a:t>
            </a:r>
            <a:endParaRPr lang="hu-HU" dirty="0">
              <a:solidFill>
                <a:schemeClr val="tx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Cannot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be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detected</a:t>
            </a:r>
            <a:endParaRPr lang="hu-HU" dirty="0">
              <a:solidFill>
                <a:schemeClr val="tx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conservation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is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violated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for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a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anose="05050102010706020507" pitchFamily="18" charset="2"/>
              </a:rPr>
              <a:t>D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amount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time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upon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a 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anose="05050102010706020507" pitchFamily="18" charset="2"/>
              </a:rPr>
              <a:t>D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amount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energy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584BEB45-02DF-8634-5642-8756CD2F0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869" y="4236769"/>
            <a:ext cx="1352000" cy="216000"/>
          </a:xfrm>
          <a:prstGeom prst="rect">
            <a:avLst/>
          </a:prstGeom>
        </p:spPr>
      </p:pic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12155346-66CF-2F0B-CA96-8595CD943BD7}"/>
              </a:ext>
            </a:extLst>
          </p:cNvPr>
          <p:cNvCxnSpPr>
            <a:cxnSpLocks/>
          </p:cNvCxnSpPr>
          <p:nvPr/>
        </p:nvCxnSpPr>
        <p:spPr>
          <a:xfrm flipH="1">
            <a:off x="5312535" y="2320761"/>
            <a:ext cx="951568" cy="533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he Yukawa Particle and the Heisenberg Uncertainty Principle Revisited |  Physics">
            <a:extLst>
              <a:ext uri="{FF2B5EF4-FFF2-40B4-BE49-F238E27FC236}">
                <a16:creationId xmlns:a16="http://schemas.microsoft.com/office/drawing/2014/main" id="{9B7C6D0A-DE6D-4C37-6FF3-91BC67911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8985" y="2772731"/>
            <a:ext cx="1629708" cy="22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9F5215EE-D6F7-3AD3-B86F-431BC3383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115" y="4233394"/>
            <a:ext cx="936000" cy="219375"/>
          </a:xfrm>
          <a:prstGeom prst="rect">
            <a:avLst/>
          </a:prstGeom>
        </p:spPr>
      </p:pic>
      <p:sp>
        <p:nvSpPr>
          <p:cNvPr id="22" name="Szövegdoboz 21">
            <a:extLst>
              <a:ext uri="{FF2B5EF4-FFF2-40B4-BE49-F238E27FC236}">
                <a16:creationId xmlns:a16="http://schemas.microsoft.com/office/drawing/2014/main" id="{83AFB072-0814-4FAF-D46C-82D2D531BB42}"/>
              </a:ext>
            </a:extLst>
          </p:cNvPr>
          <p:cNvSpPr txBox="1"/>
          <p:nvPr/>
        </p:nvSpPr>
        <p:spPr>
          <a:xfrm>
            <a:off x="6420787" y="4221345"/>
            <a:ext cx="2553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i="1" dirty="0">
                <a:latin typeface="Book Antiqua" panose="02040602050305030304" pitchFamily="18" charset="0"/>
              </a:rPr>
              <a:t>m</a:t>
            </a:r>
            <a:r>
              <a:rPr lang="hu-HU" sz="1400" dirty="0">
                <a:latin typeface="Book Antiqua" panose="02040602050305030304" pitchFamily="18" charset="0"/>
              </a:rPr>
              <a:t>: </a:t>
            </a:r>
            <a:r>
              <a:rPr lang="hu-HU" sz="1400" dirty="0" err="1">
                <a:latin typeface="Book Antiqua" panose="02040602050305030304" pitchFamily="18" charset="0"/>
              </a:rPr>
              <a:t>mass</a:t>
            </a:r>
            <a:r>
              <a:rPr lang="hu-HU" sz="1400" dirty="0">
                <a:latin typeface="Book Antiqua" panose="02040602050305030304" pitchFamily="18" charset="0"/>
              </a:rPr>
              <a:t> of </a:t>
            </a:r>
            <a:r>
              <a:rPr lang="hu-HU" sz="1400" dirty="0" err="1">
                <a:latin typeface="Book Antiqua" panose="02040602050305030304" pitchFamily="18" charset="0"/>
              </a:rPr>
              <a:t>the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virtual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particle</a:t>
            </a:r>
            <a:endParaRPr lang="hu-HU" sz="1400" dirty="0">
              <a:latin typeface="Book Antiqua" panose="02040602050305030304" pitchFamily="18" charset="0"/>
            </a:endParaRPr>
          </a:p>
        </p:txBody>
      </p:sp>
      <p:pic>
        <p:nvPicPr>
          <p:cNvPr id="24" name="Kép 23">
            <a:extLst>
              <a:ext uri="{FF2B5EF4-FFF2-40B4-BE49-F238E27FC236}">
                <a16:creationId xmlns:a16="http://schemas.microsoft.com/office/drawing/2014/main" id="{DAD85D3B-8F83-4328-5016-27A333583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0675" y="4834466"/>
            <a:ext cx="1620000" cy="557708"/>
          </a:xfrm>
          <a:prstGeom prst="rect">
            <a:avLst/>
          </a:prstGeom>
        </p:spPr>
      </p:pic>
      <p:pic>
        <p:nvPicPr>
          <p:cNvPr id="26" name="Kép 25">
            <a:extLst>
              <a:ext uri="{FF2B5EF4-FFF2-40B4-BE49-F238E27FC236}">
                <a16:creationId xmlns:a16="http://schemas.microsoft.com/office/drawing/2014/main" id="{4D8F29B4-DB4D-787E-15C0-FE702AE431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599" y="5465555"/>
            <a:ext cx="2614152" cy="576000"/>
          </a:xfrm>
          <a:prstGeom prst="rect">
            <a:avLst/>
          </a:prstGeom>
          <a:ln w="15875">
            <a:solidFill>
              <a:srgbClr val="92D050"/>
            </a:solidFill>
          </a:ln>
        </p:spPr>
      </p:pic>
      <p:sp>
        <p:nvSpPr>
          <p:cNvPr id="27" name="Jobb oldali kapcsos zárójel 26">
            <a:extLst>
              <a:ext uri="{FF2B5EF4-FFF2-40B4-BE49-F238E27FC236}">
                <a16:creationId xmlns:a16="http://schemas.microsoft.com/office/drawing/2014/main" id="{A384C277-C767-D60C-38F6-5A0744695765}"/>
              </a:ext>
            </a:extLst>
          </p:cNvPr>
          <p:cNvSpPr/>
          <p:nvPr/>
        </p:nvSpPr>
        <p:spPr>
          <a:xfrm>
            <a:off x="4106604" y="4826327"/>
            <a:ext cx="289775" cy="1109134"/>
          </a:xfrm>
          <a:prstGeom prst="rightBrace">
            <a:avLst>
              <a:gd name="adj1" fmla="val 95689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E77D0B5F-401C-9BCC-E64E-AC5316ECE762}"/>
              </a:ext>
            </a:extLst>
          </p:cNvPr>
          <p:cNvSpPr txBox="1"/>
          <p:nvPr/>
        </p:nvSpPr>
        <p:spPr>
          <a:xfrm>
            <a:off x="4431940" y="5004731"/>
            <a:ext cx="75196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i="1" dirty="0" err="1">
                <a:latin typeface="Book Antiqua" panose="02040602050305030304" pitchFamily="18" charset="0"/>
              </a:rPr>
              <a:t>d</a:t>
            </a:r>
            <a:r>
              <a:rPr lang="hu-HU" sz="1400" i="1" baseline="-25000" dirty="0" err="1">
                <a:latin typeface="Book Antiqua" panose="02040602050305030304" pitchFamily="18" charset="0"/>
              </a:rPr>
              <a:t>max</a:t>
            </a:r>
            <a:r>
              <a:rPr lang="hu-HU" sz="1400" i="1" dirty="0">
                <a:latin typeface="Book Antiqua" panose="02040602050305030304" pitchFamily="18" charset="0"/>
              </a:rPr>
              <a:t> is </a:t>
            </a:r>
            <a:r>
              <a:rPr lang="hu-HU" sz="1400" i="1" dirty="0" err="1">
                <a:latin typeface="Book Antiqua" panose="02040602050305030304" pitchFamily="18" charset="0"/>
              </a:rPr>
              <a:t>the</a:t>
            </a:r>
            <a:r>
              <a:rPr lang="hu-HU" sz="1400" i="1" dirty="0">
                <a:latin typeface="Book Antiqua" panose="02040602050305030304" pitchFamily="18" charset="0"/>
              </a:rPr>
              <a:t> maximum </a:t>
            </a:r>
            <a:r>
              <a:rPr lang="hu-HU" sz="1400" i="1" dirty="0" err="1">
                <a:latin typeface="Book Antiqua" panose="02040602050305030304" pitchFamily="18" charset="0"/>
              </a:rPr>
              <a:t>range</a:t>
            </a:r>
            <a:r>
              <a:rPr lang="hu-HU" sz="1400" i="1" dirty="0">
                <a:latin typeface="Book Antiqua" panose="02040602050305030304" pitchFamily="18" charset="0"/>
              </a:rPr>
              <a:t> of </a:t>
            </a:r>
            <a:r>
              <a:rPr lang="hu-HU" sz="1400" i="1" dirty="0" err="1">
                <a:latin typeface="Book Antiqua" panose="02040602050305030304" pitchFamily="18" charset="0"/>
              </a:rPr>
              <a:t>the</a:t>
            </a:r>
            <a:r>
              <a:rPr lang="hu-HU" sz="1400" i="1" dirty="0">
                <a:latin typeface="Book Antiqua" panose="02040602050305030304" pitchFamily="18" charset="0"/>
              </a:rPr>
              <a:t> </a:t>
            </a:r>
            <a:r>
              <a:rPr lang="hu-HU" sz="1400" i="1" dirty="0" err="1">
                <a:latin typeface="Book Antiqua" panose="02040602050305030304" pitchFamily="18" charset="0"/>
              </a:rPr>
              <a:t>nuclear</a:t>
            </a:r>
            <a:r>
              <a:rPr lang="hu-HU" sz="1400" i="1" dirty="0">
                <a:latin typeface="Book Antiqua" panose="02040602050305030304" pitchFamily="18" charset="0"/>
              </a:rPr>
              <a:t> </a:t>
            </a:r>
            <a:r>
              <a:rPr lang="hu-HU" sz="1400" i="1" dirty="0" err="1">
                <a:latin typeface="Book Antiqua" panose="02040602050305030304" pitchFamily="18" charset="0"/>
              </a:rPr>
              <a:t>force</a:t>
            </a:r>
            <a:r>
              <a:rPr lang="hu-HU" sz="1400" i="1" dirty="0">
                <a:latin typeface="Book Antiqua" panose="02040602050305030304" pitchFamily="18" charset="0"/>
              </a:rPr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 err="1">
                <a:latin typeface="Book Antiqua" panose="02040602050305030304" pitchFamily="18" charset="0"/>
              </a:rPr>
              <a:t>inversely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proportional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to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the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mass</a:t>
            </a:r>
            <a:r>
              <a:rPr lang="hu-HU" sz="1400" dirty="0">
                <a:latin typeface="Book Antiqua" panose="02040602050305030304" pitchFamily="18" charset="0"/>
              </a:rPr>
              <a:t> of </a:t>
            </a:r>
            <a:r>
              <a:rPr lang="hu-HU" sz="1400" dirty="0" err="1">
                <a:latin typeface="Book Antiqua" panose="02040602050305030304" pitchFamily="18" charset="0"/>
              </a:rPr>
              <a:t>the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exchange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particle</a:t>
            </a:r>
            <a:endParaRPr lang="hu-HU" sz="14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 err="1">
                <a:latin typeface="Book Antiqua" panose="02040602050305030304" pitchFamily="18" charset="0"/>
              </a:rPr>
              <a:t>infinite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range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corresponds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to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zero-mass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force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carrier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particle</a:t>
            </a:r>
            <a:r>
              <a:rPr lang="hu-HU" sz="1400" dirty="0">
                <a:latin typeface="Book Antiqua" panose="02040602050305030304" pitchFamily="18" charset="0"/>
              </a:rPr>
              <a:t> – </a:t>
            </a:r>
            <a:r>
              <a:rPr lang="hu-HU" sz="1400" dirty="0" err="1">
                <a:latin typeface="Book Antiqua" panose="02040602050305030304" pitchFamily="18" charset="0"/>
              </a:rPr>
              <a:t>photon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for</a:t>
            </a:r>
            <a:r>
              <a:rPr lang="hu-HU" sz="1400" dirty="0">
                <a:latin typeface="Book Antiqua" panose="02040602050305030304" pitchFamily="18" charset="0"/>
              </a:rPr>
              <a:t> EM </a:t>
            </a:r>
            <a:r>
              <a:rPr lang="hu-HU" sz="1400" dirty="0" err="1">
                <a:latin typeface="Book Antiqua" panose="02040602050305030304" pitchFamily="18" charset="0"/>
              </a:rPr>
              <a:t>interaction</a:t>
            </a:r>
            <a:r>
              <a:rPr lang="hu-HU" sz="1400" dirty="0">
                <a:latin typeface="Book Antiqua" panose="02040602050305030304" pitchFamily="18" charset="0"/>
              </a:rPr>
              <a:t>!</a:t>
            </a:r>
          </a:p>
        </p:txBody>
      </p:sp>
      <p:cxnSp>
        <p:nvCxnSpPr>
          <p:cNvPr id="32" name="Egyenes összekötő 31">
            <a:extLst>
              <a:ext uri="{FF2B5EF4-FFF2-40B4-BE49-F238E27FC236}">
                <a16:creationId xmlns:a16="http://schemas.microsoft.com/office/drawing/2014/main" id="{B192638B-D75E-5752-3FB2-AE6495C5FDC1}"/>
              </a:ext>
            </a:extLst>
          </p:cNvPr>
          <p:cNvCxnSpPr/>
          <p:nvPr/>
        </p:nvCxnSpPr>
        <p:spPr>
          <a:xfrm>
            <a:off x="4687909" y="4604197"/>
            <a:ext cx="0" cy="1378039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Egyenes összekötő 32">
            <a:extLst>
              <a:ext uri="{FF2B5EF4-FFF2-40B4-BE49-F238E27FC236}">
                <a16:creationId xmlns:a16="http://schemas.microsoft.com/office/drawing/2014/main" id="{9A9EA162-A3F2-39B1-5B3E-1E21D675C24B}"/>
              </a:ext>
            </a:extLst>
          </p:cNvPr>
          <p:cNvCxnSpPr/>
          <p:nvPr/>
        </p:nvCxnSpPr>
        <p:spPr>
          <a:xfrm>
            <a:off x="4763036" y="4604197"/>
            <a:ext cx="0" cy="1378039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185B540B-D8BC-DC29-C6BA-B0734553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56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337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5692558F-382A-3F08-04B2-6FE90D12A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What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do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we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know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about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so</a:t>
            </a:r>
            <a:r>
              <a:rPr lang="hu-HU" dirty="0">
                <a:latin typeface="Book Antiqua" panose="02040602050305030304" pitchFamily="18" charset="0"/>
              </a:rPr>
              <a:t> far?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EF21501-986F-2032-C571-B5F0FFC29315}"/>
              </a:ext>
            </a:extLst>
          </p:cNvPr>
          <p:cNvSpPr txBox="1"/>
          <p:nvPr/>
        </p:nvSpPr>
        <p:spPr>
          <a:xfrm>
            <a:off x="616226" y="2551837"/>
            <a:ext cx="5764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Attractive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nuclear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force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dominating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Coulomb </a:t>
            </a:r>
            <a:r>
              <a:rPr lang="hu-HU" b="1" dirty="0" err="1">
                <a:latin typeface="Book Antiqua" panose="02040602050305030304" pitchFamily="18" charset="0"/>
              </a:rPr>
              <a:t>force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inside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nucleus</a:t>
            </a:r>
            <a:endParaRPr lang="hu-HU" b="1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Short-range</a:t>
            </a:r>
            <a:endParaRPr lang="hu-HU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>
                <a:latin typeface="Book Antiqua" panose="02040602050305030304" pitchFamily="18" charset="0"/>
              </a:rPr>
              <a:t>Independent of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electric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charge</a:t>
            </a:r>
            <a:r>
              <a:rPr lang="hu-HU" b="1" dirty="0">
                <a:latin typeface="Book Antiqua" panose="02040602050305030304" pitchFamily="18" charset="0"/>
              </a:rPr>
              <a:t>; „</a:t>
            </a:r>
            <a:r>
              <a:rPr lang="hu-HU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charge-blind</a:t>
            </a:r>
            <a:r>
              <a:rPr lang="hu-HU" b="1" dirty="0">
                <a:latin typeface="Book Antiqua" panose="02040602050305030304" pitchFamily="18" charset="0"/>
              </a:rPr>
              <a:t>” (</a:t>
            </a:r>
            <a:r>
              <a:rPr lang="hu-HU" b="1" dirty="0" err="1">
                <a:latin typeface="Book Antiqua" panose="02040602050305030304" pitchFamily="18" charset="0"/>
              </a:rPr>
              <a:t>does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not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differentiate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between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protons</a:t>
            </a:r>
            <a:r>
              <a:rPr lang="hu-HU" b="1" dirty="0">
                <a:latin typeface="Book Antiqua" panose="02040602050305030304" pitchFamily="18" charset="0"/>
              </a:rPr>
              <a:t> and </a:t>
            </a:r>
            <a:r>
              <a:rPr lang="hu-HU" b="1" dirty="0" err="1">
                <a:latin typeface="Book Antiqua" panose="02040602050305030304" pitchFamily="18" charset="0"/>
              </a:rPr>
              <a:t>neutrons</a:t>
            </a:r>
            <a:r>
              <a:rPr lang="hu-HU" b="1" dirty="0">
                <a:latin typeface="Book Antiqua" panose="02040602050305030304" pitchFamily="18" charset="0"/>
              </a:rPr>
              <a:t>    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nucleons</a:t>
            </a:r>
            <a:r>
              <a:rPr lang="hu-HU" b="1" dirty="0">
                <a:latin typeface="Book Antiqua" panose="02040602050305030304" pitchFamily="18" charset="0"/>
              </a:rPr>
              <a:t>!)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99A5E6E4-BF3D-8261-C02B-A64DF632378F}"/>
              </a:ext>
            </a:extLst>
          </p:cNvPr>
          <p:cNvSpPr txBox="1"/>
          <p:nvPr/>
        </p:nvSpPr>
        <p:spPr>
          <a:xfrm>
            <a:off x="616226" y="2067339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nuclear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force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50A98F0-5E2A-5053-928C-F31326F3C1F0}"/>
              </a:ext>
            </a:extLst>
          </p:cNvPr>
          <p:cNvSpPr txBox="1"/>
          <p:nvPr/>
        </p:nvSpPr>
        <p:spPr>
          <a:xfrm>
            <a:off x="7258878" y="2067339"/>
            <a:ext cx="3538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Other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properties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nucleus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D9AE4E60-D7D4-270E-C15D-D0FCCF509E34}"/>
              </a:ext>
            </a:extLst>
          </p:cNvPr>
          <p:cNvSpPr txBox="1"/>
          <p:nvPr/>
        </p:nvSpPr>
        <p:spPr>
          <a:xfrm>
            <a:off x="7258879" y="2549317"/>
            <a:ext cx="45189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Density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is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independent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mass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number</a:t>
            </a:r>
            <a:r>
              <a:rPr lang="hu-H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 </a:t>
            </a:r>
            <a:r>
              <a:rPr lang="hu-HU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uncompressable</a:t>
            </a:r>
            <a:r>
              <a:rPr lang="hu-H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nucleus</a:t>
            </a:r>
            <a:endParaRPr lang="hu-HU" b="1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Approximately</a:t>
            </a:r>
            <a:r>
              <a:rPr lang="hu-H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constant </a:t>
            </a:r>
            <a:r>
              <a:rPr lang="hu-HU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density</a:t>
            </a:r>
            <a:r>
              <a:rPr lang="hu-H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inside</a:t>
            </a:r>
            <a:r>
              <a:rPr lang="hu-H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nucleus</a:t>
            </a:r>
            <a:endParaRPr lang="hu-HU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Radius-mass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number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relation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zövegdoboz 7">
                <a:extLst>
                  <a:ext uri="{FF2B5EF4-FFF2-40B4-BE49-F238E27FC236}">
                    <a16:creationId xmlns:a16="http://schemas.microsoft.com/office/drawing/2014/main" id="{DA3FD978-5D3F-87D3-B150-A3B0A6EF9DC1}"/>
                  </a:ext>
                </a:extLst>
              </p:cNvPr>
              <p:cNvSpPr txBox="1"/>
              <p:nvPr/>
            </p:nvSpPr>
            <p:spPr>
              <a:xfrm>
                <a:off x="7693405" y="4026645"/>
                <a:ext cx="1962460" cy="37965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𝑛𝑢𝑐𝑙𝑒𝑢𝑠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Szövegdoboz 7">
                <a:extLst>
                  <a:ext uri="{FF2B5EF4-FFF2-40B4-BE49-F238E27FC236}">
                    <a16:creationId xmlns:a16="http://schemas.microsoft.com/office/drawing/2014/main" id="{DA3FD978-5D3F-87D3-B150-A3B0A6EF9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405" y="4026645"/>
                <a:ext cx="1962460" cy="3796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zövegdoboz 8">
            <a:extLst>
              <a:ext uri="{FF2B5EF4-FFF2-40B4-BE49-F238E27FC236}">
                <a16:creationId xmlns:a16="http://schemas.microsoft.com/office/drawing/2014/main" id="{0235DDC7-AD0F-A34F-024B-9EAB15A092E8}"/>
              </a:ext>
            </a:extLst>
          </p:cNvPr>
          <p:cNvSpPr txBox="1"/>
          <p:nvPr/>
        </p:nvSpPr>
        <p:spPr>
          <a:xfrm>
            <a:off x="2017021" y="4838602"/>
            <a:ext cx="821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Need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models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to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estimate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binding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energies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and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understand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nuclear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force</a:t>
            </a:r>
            <a:endParaRPr lang="hu-HU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FC16AF7A-F2FF-8B65-9149-B3D5B325427A}"/>
              </a:ext>
            </a:extLst>
          </p:cNvPr>
          <p:cNvCxnSpPr/>
          <p:nvPr/>
        </p:nvCxnSpPr>
        <p:spPr>
          <a:xfrm>
            <a:off x="1957589" y="4108361"/>
            <a:ext cx="2318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8C91495-4832-77B7-716E-1FCE5A988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57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47819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1DBAB-9D38-B3FC-17D6-B6953BF88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3B2D240A-F36B-4D2A-7DEF-8A16A9037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ook Antiqua" panose="02040602050305030304" pitchFamily="18" charset="0"/>
              </a:rPr>
              <a:t>The </a:t>
            </a:r>
            <a:r>
              <a:rPr lang="hu-HU" dirty="0" err="1">
                <a:latin typeface="Book Antiqua" panose="02040602050305030304" pitchFamily="18" charset="0"/>
              </a:rPr>
              <a:t>liquid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drop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model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br>
              <a:rPr lang="hu-HU" dirty="0">
                <a:latin typeface="Book Antiqua" panose="02040602050305030304" pitchFamily="18" charset="0"/>
              </a:rPr>
            </a:br>
            <a:r>
              <a:rPr lang="hu-HU" dirty="0">
                <a:latin typeface="Book Antiqua" panose="02040602050305030304" pitchFamily="18" charset="0"/>
              </a:rPr>
              <a:t>(</a:t>
            </a:r>
            <a:r>
              <a:rPr lang="hu-HU" dirty="0" err="1">
                <a:latin typeface="Book Antiqua" panose="02040602050305030304" pitchFamily="18" charset="0"/>
              </a:rPr>
              <a:t>Weiszäcker</a:t>
            </a:r>
            <a:r>
              <a:rPr lang="hu-HU" dirty="0">
                <a:latin typeface="Book Antiqua" panose="02040602050305030304" pitchFamily="18" charset="0"/>
              </a:rPr>
              <a:t> formula)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883BDC9A-5C52-6DCF-1AEC-95D34C88570F}"/>
              </a:ext>
            </a:extLst>
          </p:cNvPr>
          <p:cNvSpPr txBox="1"/>
          <p:nvPr/>
        </p:nvSpPr>
        <p:spPr>
          <a:xfrm>
            <a:off x="4325268" y="1764128"/>
            <a:ext cx="3541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Uncompressable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Short-range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,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attractive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force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5BBA4E6-B6F8-916B-E641-8336B00B5166}"/>
              </a:ext>
            </a:extLst>
          </p:cNvPr>
          <p:cNvSpPr txBox="1"/>
          <p:nvPr/>
        </p:nvSpPr>
        <p:spPr>
          <a:xfrm>
            <a:off x="7636043" y="2530042"/>
            <a:ext cx="4431800" cy="646331"/>
          </a:xfrm>
          <a:prstGeom prst="rect">
            <a:avLst/>
          </a:prstGeom>
          <a:noFill/>
          <a:ln w="158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Liquid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drop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pPr algn="ctr"/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Van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der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Waals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force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between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molecules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48993E71-3364-E200-1FB5-AFBE442E49E1}"/>
              </a:ext>
            </a:extLst>
          </p:cNvPr>
          <p:cNvSpPr txBox="1"/>
          <p:nvPr/>
        </p:nvSpPr>
        <p:spPr>
          <a:xfrm>
            <a:off x="192169" y="2530041"/>
            <a:ext cx="4431800" cy="646331"/>
          </a:xfrm>
          <a:prstGeom prst="rect">
            <a:avLst/>
          </a:prstGeom>
          <a:noFill/>
          <a:ln w="158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Nucleus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pPr algn="ctr"/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Nuclear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force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between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nucleons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7C0330A8-F8A0-B451-D519-0CBA94C5E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58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39325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1C948-8CCB-7401-7414-FE166517C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59B204AE-BA38-4FFD-8522-4A90B2EDF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ook Antiqua" panose="02040602050305030304" pitchFamily="18" charset="0"/>
              </a:rPr>
              <a:t>The </a:t>
            </a:r>
            <a:r>
              <a:rPr lang="hu-HU" dirty="0" err="1">
                <a:latin typeface="Book Antiqua" panose="02040602050305030304" pitchFamily="18" charset="0"/>
              </a:rPr>
              <a:t>liquid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drop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model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br>
              <a:rPr lang="hu-HU" dirty="0">
                <a:latin typeface="Book Antiqua" panose="02040602050305030304" pitchFamily="18" charset="0"/>
              </a:rPr>
            </a:br>
            <a:r>
              <a:rPr lang="hu-HU" dirty="0">
                <a:latin typeface="Book Antiqua" panose="02040602050305030304" pitchFamily="18" charset="0"/>
              </a:rPr>
              <a:t>(</a:t>
            </a:r>
            <a:r>
              <a:rPr lang="hu-HU" dirty="0" err="1">
                <a:latin typeface="Book Antiqua" panose="02040602050305030304" pitchFamily="18" charset="0"/>
              </a:rPr>
              <a:t>Weiszäcker</a:t>
            </a:r>
            <a:r>
              <a:rPr lang="hu-HU" dirty="0">
                <a:latin typeface="Book Antiqua" panose="02040602050305030304" pitchFamily="18" charset="0"/>
              </a:rPr>
              <a:t> formula)</a:t>
            </a:r>
          </a:p>
        </p:txBody>
      </p:sp>
      <p:pic>
        <p:nvPicPr>
          <p:cNvPr id="2050" name="Picture 2" descr="Nuclear models (liquid drop and shell models) | Principles of Physics IV  Class Notes | Fiveable | Fiveable">
            <a:extLst>
              <a:ext uri="{FF2B5EF4-FFF2-40B4-BE49-F238E27FC236}">
                <a16:creationId xmlns:a16="http://schemas.microsoft.com/office/drawing/2014/main" id="{ED32D188-DF82-5CAD-E132-6D476F110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673" y="4231909"/>
            <a:ext cx="7888342" cy="20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1965254D-8AEF-F8D1-72B3-511DF05A4C2B}"/>
              </a:ext>
            </a:extLst>
          </p:cNvPr>
          <p:cNvSpPr txBox="1"/>
          <p:nvPr/>
        </p:nvSpPr>
        <p:spPr>
          <a:xfrm>
            <a:off x="4325268" y="1764128"/>
            <a:ext cx="3541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Uncompressable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Short-range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,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attractive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force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70FB7B38-9483-1001-6C5C-07A7B03822A6}"/>
              </a:ext>
            </a:extLst>
          </p:cNvPr>
          <p:cNvSpPr txBox="1"/>
          <p:nvPr/>
        </p:nvSpPr>
        <p:spPr>
          <a:xfrm>
            <a:off x="7636043" y="2530042"/>
            <a:ext cx="4431800" cy="646331"/>
          </a:xfrm>
          <a:prstGeom prst="rect">
            <a:avLst/>
          </a:prstGeom>
          <a:noFill/>
          <a:ln w="158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Liquid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drop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pPr algn="ctr"/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Van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der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Waals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force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between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molecules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0F676815-2462-9935-E8B1-951C82DE77E6}"/>
              </a:ext>
            </a:extLst>
          </p:cNvPr>
          <p:cNvSpPr txBox="1"/>
          <p:nvPr/>
        </p:nvSpPr>
        <p:spPr>
          <a:xfrm>
            <a:off x="192169" y="2530041"/>
            <a:ext cx="4431800" cy="646331"/>
          </a:xfrm>
          <a:prstGeom prst="rect">
            <a:avLst/>
          </a:prstGeom>
          <a:noFill/>
          <a:ln w="158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Nucleus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pPr algn="ctr"/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Nuclear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force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between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nucleons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</p:txBody>
      </p: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5E255501-3065-6556-1EC0-B6832323FA53}"/>
              </a:ext>
            </a:extLst>
          </p:cNvPr>
          <p:cNvCxnSpPr/>
          <p:nvPr/>
        </p:nvCxnSpPr>
        <p:spPr>
          <a:xfrm>
            <a:off x="4912894" y="2839453"/>
            <a:ext cx="2366211" cy="0"/>
          </a:xfrm>
          <a:prstGeom prst="straightConnector1">
            <a:avLst/>
          </a:prstGeom>
          <a:ln w="317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DFD0EE6A-D4BE-E6E4-9308-19E19FB84B5C}"/>
              </a:ext>
            </a:extLst>
          </p:cNvPr>
          <p:cNvGrpSpPr/>
          <p:nvPr/>
        </p:nvGrpSpPr>
        <p:grpSpPr>
          <a:xfrm>
            <a:off x="2768058" y="3447208"/>
            <a:ext cx="6301479" cy="521839"/>
            <a:chOff x="2768058" y="3447208"/>
            <a:chExt cx="6301479" cy="521839"/>
          </a:xfrm>
        </p:grpSpPr>
        <p:pic>
          <p:nvPicPr>
            <p:cNvPr id="16" name="Kép 15">
              <a:extLst>
                <a:ext uri="{FF2B5EF4-FFF2-40B4-BE49-F238E27FC236}">
                  <a16:creationId xmlns:a16="http://schemas.microsoft.com/office/drawing/2014/main" id="{3D4BC400-EB40-6EDB-C2AB-1DD644719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4181" b="-1552"/>
            <a:stretch/>
          </p:blipFill>
          <p:spPr>
            <a:xfrm>
              <a:off x="2768058" y="3447208"/>
              <a:ext cx="5437479" cy="521839"/>
            </a:xfrm>
            <a:prstGeom prst="rect">
              <a:avLst/>
            </a:prstGeom>
            <a:ln w="12700">
              <a:noFill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Szövegdoboz 16">
                  <a:extLst>
                    <a:ext uri="{FF2B5EF4-FFF2-40B4-BE49-F238E27FC236}">
                      <a16:creationId xmlns:a16="http://schemas.microsoft.com/office/drawing/2014/main" id="{829D7B23-C5E3-A112-B2F7-40435FC33DBC}"/>
                    </a:ext>
                  </a:extLst>
                </p:cNvPr>
                <p:cNvSpPr txBox="1"/>
                <p:nvPr/>
              </p:nvSpPr>
              <p:spPr>
                <a:xfrm>
                  <a:off x="8205537" y="3541863"/>
                  <a:ext cx="864000" cy="3724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u-HU" sz="16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16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hu-HU" sz="16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hu-HU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hu-HU" sz="16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sz="16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hu-HU" sz="16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4/3</m:t>
                            </m:r>
                          </m:sup>
                        </m:sSup>
                      </m:oMath>
                    </m:oMathPara>
                  </a14:m>
                  <a:endParaRPr lang="hu-HU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" name="Szövegdoboz 16">
                  <a:extLst>
                    <a:ext uri="{FF2B5EF4-FFF2-40B4-BE49-F238E27FC236}">
                      <a16:creationId xmlns:a16="http://schemas.microsoft.com/office/drawing/2014/main" id="{829D7B23-C5E3-A112-B2F7-40435FC33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5537" y="3541863"/>
                  <a:ext cx="864000" cy="372410"/>
                </a:xfrm>
                <a:prstGeom prst="rect">
                  <a:avLst/>
                </a:prstGeom>
                <a:blipFill>
                  <a:blip r:embed="rId5"/>
                  <a:stretch>
                    <a:fillRect b="-327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églalap 17">
            <a:extLst>
              <a:ext uri="{FF2B5EF4-FFF2-40B4-BE49-F238E27FC236}">
                <a16:creationId xmlns:a16="http://schemas.microsoft.com/office/drawing/2014/main" id="{AF637AB4-252F-9E9A-520E-280DDB522A71}"/>
              </a:ext>
            </a:extLst>
          </p:cNvPr>
          <p:cNvSpPr/>
          <p:nvPr/>
        </p:nvSpPr>
        <p:spPr>
          <a:xfrm>
            <a:off x="2695074" y="3447208"/>
            <a:ext cx="6456947" cy="5713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0C7F072E-40CA-A704-08F0-105BCB62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59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34848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D0893-0D73-132A-2BF1-2A4E0A37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1DC35CBC-96D0-0CFB-47A4-E56FC30DE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ook Antiqua" panose="02040602050305030304" pitchFamily="18" charset="0"/>
              </a:rPr>
              <a:t>The </a:t>
            </a:r>
            <a:r>
              <a:rPr lang="hu-HU" dirty="0" err="1">
                <a:latin typeface="Book Antiqua" panose="02040602050305030304" pitchFamily="18" charset="0"/>
              </a:rPr>
              <a:t>liquid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drop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model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br>
              <a:rPr lang="hu-HU" dirty="0">
                <a:latin typeface="Book Antiqua" panose="02040602050305030304" pitchFamily="18" charset="0"/>
              </a:rPr>
            </a:br>
            <a:r>
              <a:rPr lang="hu-HU" dirty="0">
                <a:latin typeface="Book Antiqua" panose="02040602050305030304" pitchFamily="18" charset="0"/>
              </a:rPr>
              <a:t>(</a:t>
            </a:r>
            <a:r>
              <a:rPr lang="hu-HU" dirty="0" err="1">
                <a:latin typeface="Book Antiqua" panose="02040602050305030304" pitchFamily="18" charset="0"/>
              </a:rPr>
              <a:t>Weiszäcker</a:t>
            </a:r>
            <a:r>
              <a:rPr lang="hu-HU" dirty="0">
                <a:latin typeface="Book Antiqua" panose="02040602050305030304" pitchFamily="18" charset="0"/>
              </a:rPr>
              <a:t> formula)</a:t>
            </a:r>
          </a:p>
        </p:txBody>
      </p:sp>
      <p:pic>
        <p:nvPicPr>
          <p:cNvPr id="2050" name="Picture 2" descr="Nuclear models (liquid drop and shell models) | Principles of Physics IV  Class Notes | Fiveable | Fiveable">
            <a:extLst>
              <a:ext uri="{FF2B5EF4-FFF2-40B4-BE49-F238E27FC236}">
                <a16:creationId xmlns:a16="http://schemas.microsoft.com/office/drawing/2014/main" id="{B0E41B89-ACDC-9EEF-6A2F-5D6CF7324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673" y="4231909"/>
            <a:ext cx="7888342" cy="20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0BB69953-8E95-0A9C-3764-9E9F7C3BFA36}"/>
              </a:ext>
            </a:extLst>
          </p:cNvPr>
          <p:cNvSpPr/>
          <p:nvPr/>
        </p:nvSpPr>
        <p:spPr>
          <a:xfrm>
            <a:off x="2326105" y="4231909"/>
            <a:ext cx="3120190" cy="2052000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3723CB4C-5050-9420-33C4-ADD3832A4CB2}"/>
              </a:ext>
            </a:extLst>
          </p:cNvPr>
          <p:cNvSpPr txBox="1"/>
          <p:nvPr/>
        </p:nvSpPr>
        <p:spPr>
          <a:xfrm>
            <a:off x="216232" y="5076087"/>
            <a:ext cx="2109873" cy="369332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Proper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liquid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drop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BEDDEC1D-E8F4-905F-4393-AFD68E9E7947}"/>
              </a:ext>
            </a:extLst>
          </p:cNvPr>
          <p:cNvSpPr txBox="1"/>
          <p:nvPr/>
        </p:nvSpPr>
        <p:spPr>
          <a:xfrm>
            <a:off x="4325268" y="1764128"/>
            <a:ext cx="3541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Uncompressable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Short-range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,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attractive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force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0E66BC40-D1D0-063A-539F-BC5F159D2E4C}"/>
              </a:ext>
            </a:extLst>
          </p:cNvPr>
          <p:cNvSpPr txBox="1"/>
          <p:nvPr/>
        </p:nvSpPr>
        <p:spPr>
          <a:xfrm>
            <a:off x="7636043" y="2530042"/>
            <a:ext cx="4431800" cy="646331"/>
          </a:xfrm>
          <a:prstGeom prst="rect">
            <a:avLst/>
          </a:prstGeom>
          <a:noFill/>
          <a:ln w="158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Liquid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drop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pPr algn="ctr"/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Van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der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Waals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force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between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molecules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D4D1CEA3-59C3-D290-4909-7290B80C4A3A}"/>
              </a:ext>
            </a:extLst>
          </p:cNvPr>
          <p:cNvSpPr txBox="1"/>
          <p:nvPr/>
        </p:nvSpPr>
        <p:spPr>
          <a:xfrm>
            <a:off x="192169" y="2530041"/>
            <a:ext cx="4431800" cy="646331"/>
          </a:xfrm>
          <a:prstGeom prst="rect">
            <a:avLst/>
          </a:prstGeom>
          <a:noFill/>
          <a:ln w="15875" cap="flat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Nucleus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pPr algn="ctr"/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Nuclear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force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between</a:t>
            </a:r>
            <a:r>
              <a:rPr lang="hu-H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nucleons</a:t>
            </a:r>
            <a:endParaRPr lang="hu-HU" b="1" dirty="0">
              <a:solidFill>
                <a:schemeClr val="tx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</p:txBody>
      </p:sp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98D5D2EB-DEC8-C53F-C16A-2F79ACB0950A}"/>
              </a:ext>
            </a:extLst>
          </p:cNvPr>
          <p:cNvCxnSpPr/>
          <p:nvPr/>
        </p:nvCxnSpPr>
        <p:spPr>
          <a:xfrm>
            <a:off x="4912894" y="2839453"/>
            <a:ext cx="2366211" cy="0"/>
          </a:xfrm>
          <a:prstGeom prst="straightConnector1">
            <a:avLst/>
          </a:prstGeom>
          <a:ln w="317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883F1413-FB40-0775-7A1D-F22A297B1348}"/>
              </a:ext>
            </a:extLst>
          </p:cNvPr>
          <p:cNvGrpSpPr/>
          <p:nvPr/>
        </p:nvGrpSpPr>
        <p:grpSpPr>
          <a:xfrm>
            <a:off x="2768058" y="3447208"/>
            <a:ext cx="6301479" cy="521839"/>
            <a:chOff x="2768058" y="3447208"/>
            <a:chExt cx="6301479" cy="521839"/>
          </a:xfrm>
        </p:grpSpPr>
        <p:pic>
          <p:nvPicPr>
            <p:cNvPr id="13" name="Kép 12">
              <a:extLst>
                <a:ext uri="{FF2B5EF4-FFF2-40B4-BE49-F238E27FC236}">
                  <a16:creationId xmlns:a16="http://schemas.microsoft.com/office/drawing/2014/main" id="{1D3CAC95-E58C-07FE-6800-4A78E4D41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4181" b="-1552"/>
            <a:stretch/>
          </p:blipFill>
          <p:spPr>
            <a:xfrm>
              <a:off x="2768058" y="3447208"/>
              <a:ext cx="5437479" cy="521839"/>
            </a:xfrm>
            <a:prstGeom prst="rect">
              <a:avLst/>
            </a:prstGeom>
            <a:ln w="12700">
              <a:noFill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Szövegdoboz 14">
                  <a:extLst>
                    <a:ext uri="{FF2B5EF4-FFF2-40B4-BE49-F238E27FC236}">
                      <a16:creationId xmlns:a16="http://schemas.microsoft.com/office/drawing/2014/main" id="{F0E8012B-C12F-1662-B3F1-A968ADCEC8E3}"/>
                    </a:ext>
                  </a:extLst>
                </p:cNvPr>
                <p:cNvSpPr txBox="1"/>
                <p:nvPr/>
              </p:nvSpPr>
              <p:spPr>
                <a:xfrm>
                  <a:off x="8205537" y="3541863"/>
                  <a:ext cx="864000" cy="3724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u-HU" sz="16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16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hu-HU" sz="16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hu-HU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hu-HU" sz="16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sz="16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hu-HU" sz="16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4/3</m:t>
                            </m:r>
                          </m:sup>
                        </m:sSup>
                      </m:oMath>
                    </m:oMathPara>
                  </a14:m>
                  <a:endParaRPr lang="hu-HU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Szövegdoboz 14">
                  <a:extLst>
                    <a:ext uri="{FF2B5EF4-FFF2-40B4-BE49-F238E27FC236}">
                      <a16:creationId xmlns:a16="http://schemas.microsoft.com/office/drawing/2014/main" id="{F0E8012B-C12F-1662-B3F1-A968ADCEC8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5537" y="3541863"/>
                  <a:ext cx="864000" cy="372410"/>
                </a:xfrm>
                <a:prstGeom prst="rect">
                  <a:avLst/>
                </a:prstGeom>
                <a:blipFill>
                  <a:blip r:embed="rId5"/>
                  <a:stretch>
                    <a:fillRect b="-327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Téglalap 16">
            <a:extLst>
              <a:ext uri="{FF2B5EF4-FFF2-40B4-BE49-F238E27FC236}">
                <a16:creationId xmlns:a16="http://schemas.microsoft.com/office/drawing/2014/main" id="{2973F5B4-E6AC-D848-406D-47D8A715FD85}"/>
              </a:ext>
            </a:extLst>
          </p:cNvPr>
          <p:cNvSpPr/>
          <p:nvPr/>
        </p:nvSpPr>
        <p:spPr>
          <a:xfrm>
            <a:off x="2695074" y="3447208"/>
            <a:ext cx="6456947" cy="5713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66DADEBA-B580-0CDE-BA39-99282F5C0291}"/>
              </a:ext>
            </a:extLst>
          </p:cNvPr>
          <p:cNvSpPr txBox="1"/>
          <p:nvPr/>
        </p:nvSpPr>
        <p:spPr>
          <a:xfrm>
            <a:off x="555686" y="3681629"/>
            <a:ext cx="2250873" cy="83099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hu-HU" sz="1600" dirty="0" err="1">
                <a:latin typeface="Book Antiqua" panose="02040602050305030304" pitchFamily="18" charset="0"/>
              </a:rPr>
              <a:t>Negative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terms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strengthen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binding</a:t>
            </a:r>
            <a:r>
              <a:rPr lang="hu-HU" sz="1600" dirty="0">
                <a:latin typeface="Book Antiqua" panose="02040602050305030304" pitchFamily="18" charset="0"/>
              </a:rPr>
              <a:t>!</a:t>
            </a:r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B40E8D2B-0864-592E-CC87-3B8C7E22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60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802210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DAF72-91A5-728A-1BA6-644928CB8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C2574346-8E2E-C296-DBF7-B1BB1DF4F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ook Antiqua" panose="02040602050305030304" pitchFamily="18" charset="0"/>
              </a:rPr>
              <a:t>The </a:t>
            </a:r>
            <a:r>
              <a:rPr lang="hu-HU" dirty="0" err="1">
                <a:latin typeface="Book Antiqua" panose="02040602050305030304" pitchFamily="18" charset="0"/>
              </a:rPr>
              <a:t>liquid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drop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model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br>
              <a:rPr lang="hu-HU" dirty="0">
                <a:latin typeface="Book Antiqua" panose="02040602050305030304" pitchFamily="18" charset="0"/>
              </a:rPr>
            </a:br>
            <a:r>
              <a:rPr lang="hu-HU" dirty="0">
                <a:latin typeface="Book Antiqua" panose="02040602050305030304" pitchFamily="18" charset="0"/>
              </a:rPr>
              <a:t>(</a:t>
            </a:r>
            <a:r>
              <a:rPr lang="hu-HU" dirty="0" err="1">
                <a:latin typeface="Book Antiqua" panose="02040602050305030304" pitchFamily="18" charset="0"/>
              </a:rPr>
              <a:t>Weiszäcker</a:t>
            </a:r>
            <a:r>
              <a:rPr lang="hu-HU" dirty="0">
                <a:latin typeface="Book Antiqua" panose="02040602050305030304" pitchFamily="18" charset="0"/>
              </a:rPr>
              <a:t> formula)</a:t>
            </a:r>
          </a:p>
        </p:txBody>
      </p:sp>
      <p:pic>
        <p:nvPicPr>
          <p:cNvPr id="2050" name="Picture 2" descr="Nuclear models (liquid drop and shell models) | Principles of Physics IV  Class Notes | Fiveable | Fiveable">
            <a:extLst>
              <a:ext uri="{FF2B5EF4-FFF2-40B4-BE49-F238E27FC236}">
                <a16:creationId xmlns:a16="http://schemas.microsoft.com/office/drawing/2014/main" id="{4C12B894-A482-5446-CF94-B7118D915A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40"/>
          <a:stretch/>
        </p:blipFill>
        <p:spPr bwMode="auto">
          <a:xfrm>
            <a:off x="3742914" y="1737360"/>
            <a:ext cx="4706171" cy="20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2F0B23CD-7DF0-583B-A6F1-A25F217E3A9B}"/>
                  </a:ext>
                </a:extLst>
              </p:cNvPr>
              <p:cNvSpPr txBox="1"/>
              <p:nvPr/>
            </p:nvSpPr>
            <p:spPr>
              <a:xfrm>
                <a:off x="1103325" y="3979065"/>
                <a:ext cx="3224857" cy="69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hu-H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2F0B23CD-7DF0-583B-A6F1-A25F217E3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325" y="3979065"/>
                <a:ext cx="3224857" cy="6951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Kép 6">
            <a:extLst>
              <a:ext uri="{FF2B5EF4-FFF2-40B4-BE49-F238E27FC236}">
                <a16:creationId xmlns:a16="http://schemas.microsoft.com/office/drawing/2014/main" id="{75239894-E44D-1879-C8F5-FF4EC7995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830" y="3658186"/>
            <a:ext cx="2451436" cy="2340000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09B7CE3D-8D66-6EF0-CA44-5D907199AAC8}"/>
              </a:ext>
            </a:extLst>
          </p:cNvPr>
          <p:cNvSpPr txBox="1"/>
          <p:nvPr/>
        </p:nvSpPr>
        <p:spPr>
          <a:xfrm>
            <a:off x="4323347" y="5934018"/>
            <a:ext cx="4187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For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identical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fermions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Pauli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principle</a:t>
            </a:r>
            <a:r>
              <a:rPr lang="hu-HU" dirty="0">
                <a:latin typeface="Book Antiqua" panose="02040602050305030304" pitchFamily="18" charset="0"/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églalap 9">
                <a:extLst>
                  <a:ext uri="{FF2B5EF4-FFF2-40B4-BE49-F238E27FC236}">
                    <a16:creationId xmlns:a16="http://schemas.microsoft.com/office/drawing/2014/main" id="{1DE81F53-B934-7475-3745-8C69177554D4}"/>
                  </a:ext>
                </a:extLst>
              </p:cNvPr>
              <p:cNvSpPr/>
              <p:nvPr/>
            </p:nvSpPr>
            <p:spPr>
              <a:xfrm>
                <a:off x="9839917" y="3658186"/>
                <a:ext cx="2266005" cy="9766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𝑜𝑑𝑑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𝑜𝑑𝑑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𝑒𝑣𝑒𝑛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𝑜𝑑𝑑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𝑒𝑣𝑒𝑛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𝑒𝑣𝑒𝑛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églalap 9">
                <a:extLst>
                  <a:ext uri="{FF2B5EF4-FFF2-40B4-BE49-F238E27FC236}">
                    <a16:creationId xmlns:a16="http://schemas.microsoft.com/office/drawing/2014/main" id="{1DE81F53-B934-7475-3745-8C69177554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917" y="3658186"/>
                <a:ext cx="2266005" cy="9766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B30029FF-FDCE-9AB1-395B-C39F98A40A0F}"/>
                  </a:ext>
                </a:extLst>
              </p:cNvPr>
              <p:cNvSpPr txBox="1"/>
              <p:nvPr/>
            </p:nvSpPr>
            <p:spPr>
              <a:xfrm>
                <a:off x="8080182" y="3957153"/>
                <a:ext cx="1581779" cy="407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4/3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B30029FF-FDCE-9AB1-395B-C39F98A40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182" y="3957153"/>
                <a:ext cx="1581779" cy="407419"/>
              </a:xfrm>
              <a:prstGeom prst="rect">
                <a:avLst/>
              </a:prstGeom>
              <a:blipFill>
                <a:blip r:embed="rId7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zövegdoboz 11">
            <a:extLst>
              <a:ext uri="{FF2B5EF4-FFF2-40B4-BE49-F238E27FC236}">
                <a16:creationId xmlns:a16="http://schemas.microsoft.com/office/drawing/2014/main" id="{451B24DE-67A5-0BFC-46D1-4E57FC4E9B31}"/>
              </a:ext>
            </a:extLst>
          </p:cNvPr>
          <p:cNvSpPr txBox="1"/>
          <p:nvPr/>
        </p:nvSpPr>
        <p:spPr>
          <a:xfrm>
            <a:off x="258827" y="2293346"/>
            <a:ext cx="33046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Book Antiqua" panose="02040602050305030304" pitchFamily="18" charset="0"/>
              </a:rPr>
              <a:t>Coulomb </a:t>
            </a:r>
            <a:r>
              <a:rPr lang="hu-HU" dirty="0" err="1">
                <a:latin typeface="Book Antiqua" panose="02040602050305030304" pitchFamily="18" charset="0"/>
              </a:rPr>
              <a:t>energy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 (</a:t>
            </a:r>
            <a:r>
              <a:rPr lang="hu-HU" dirty="0" err="1">
                <a:latin typeface="Book Antiqua" panose="02040602050305030304" pitchFamily="18" charset="0"/>
              </a:rPr>
              <a:t>homogeneous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distribution</a:t>
            </a:r>
            <a:r>
              <a:rPr lang="hu-HU" dirty="0">
                <a:latin typeface="Book Antiqua" panose="02040602050305030304" pitchFamily="18" charset="0"/>
              </a:rPr>
              <a:t>; </a:t>
            </a:r>
            <a:r>
              <a:rPr lang="hu-HU" dirty="0" err="1">
                <a:latin typeface="Book Antiqua" panose="02040602050305030304" pitchFamily="18" charset="0"/>
              </a:rPr>
              <a:t>every</a:t>
            </a:r>
            <a:r>
              <a:rPr lang="hu-HU" dirty="0">
                <a:latin typeface="Book Antiqua" panose="02040602050305030304" pitchFamily="18" charset="0"/>
              </a:rPr>
              <a:t> proton </a:t>
            </a:r>
            <a:r>
              <a:rPr lang="hu-HU" dirty="0" err="1">
                <a:latin typeface="Book Antiqua" panose="02040602050305030304" pitchFamily="18" charset="0"/>
              </a:rPr>
              <a:t>experiences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repulsive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force</a:t>
            </a:r>
            <a:r>
              <a:rPr lang="hu-HU" dirty="0">
                <a:latin typeface="Book Antiqua" panose="02040602050305030304" pitchFamily="18" charset="0"/>
              </a:rPr>
              <a:t> of (Z-1) </a:t>
            </a:r>
            <a:r>
              <a:rPr lang="hu-HU" dirty="0" err="1">
                <a:latin typeface="Book Antiqua" panose="02040602050305030304" pitchFamily="18" charset="0"/>
              </a:rPr>
              <a:t>protons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56E4C4D2-8E60-3844-C76E-785CC5818953}"/>
              </a:ext>
            </a:extLst>
          </p:cNvPr>
          <p:cNvSpPr txBox="1"/>
          <p:nvPr/>
        </p:nvSpPr>
        <p:spPr>
          <a:xfrm>
            <a:off x="8713016" y="2634337"/>
            <a:ext cx="3304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Empirical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result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identical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nucleons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organize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into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pairs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D67D2E35-DBDD-3325-74FC-7310F0AD4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61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23689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91A9-2267-C1CF-10E2-48B8401E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E963116B-BB41-A2FD-3516-57E5228F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ook Antiqua" panose="02040602050305030304" pitchFamily="18" charset="0"/>
              </a:rPr>
              <a:t>The </a:t>
            </a:r>
            <a:r>
              <a:rPr lang="hu-HU" dirty="0" err="1">
                <a:latin typeface="Book Antiqua" panose="02040602050305030304" pitchFamily="18" charset="0"/>
              </a:rPr>
              <a:t>liquid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drop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model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br>
              <a:rPr lang="hu-HU" dirty="0">
                <a:latin typeface="Book Antiqua" panose="02040602050305030304" pitchFamily="18" charset="0"/>
              </a:rPr>
            </a:br>
            <a:r>
              <a:rPr lang="hu-HU" dirty="0">
                <a:latin typeface="Book Antiqua" panose="02040602050305030304" pitchFamily="18" charset="0"/>
              </a:rPr>
              <a:t>(</a:t>
            </a:r>
            <a:r>
              <a:rPr lang="hu-HU" dirty="0" err="1">
                <a:latin typeface="Book Antiqua" panose="02040602050305030304" pitchFamily="18" charset="0"/>
              </a:rPr>
              <a:t>Weiszäcker</a:t>
            </a:r>
            <a:r>
              <a:rPr lang="hu-HU" dirty="0">
                <a:latin typeface="Book Antiqua" panose="02040602050305030304" pitchFamily="18" charset="0"/>
              </a:rPr>
              <a:t> formula)</a:t>
            </a:r>
          </a:p>
        </p:txBody>
      </p:sp>
      <p:pic>
        <p:nvPicPr>
          <p:cNvPr id="2050" name="Picture 2" descr="Nuclear models (liquid drop and shell models) | Principles of Physics IV  Class Notes | Fiveable | Fiveable">
            <a:extLst>
              <a:ext uri="{FF2B5EF4-FFF2-40B4-BE49-F238E27FC236}">
                <a16:creationId xmlns:a16="http://schemas.microsoft.com/office/drawing/2014/main" id="{269CA8E4-960D-E6A1-6BB5-B522BFABEF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40"/>
          <a:stretch/>
        </p:blipFill>
        <p:spPr bwMode="auto">
          <a:xfrm>
            <a:off x="3742914" y="1737360"/>
            <a:ext cx="4706171" cy="20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6D7BE2DB-6B28-AF3A-37E9-9D17582A34BF}"/>
                  </a:ext>
                </a:extLst>
              </p:cNvPr>
              <p:cNvSpPr txBox="1"/>
              <p:nvPr/>
            </p:nvSpPr>
            <p:spPr>
              <a:xfrm>
                <a:off x="1103325" y="3979065"/>
                <a:ext cx="3224857" cy="69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hu-H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6D7BE2DB-6B28-AF3A-37E9-9D17582A3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325" y="3979065"/>
                <a:ext cx="3224857" cy="6951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Kép 6">
            <a:extLst>
              <a:ext uri="{FF2B5EF4-FFF2-40B4-BE49-F238E27FC236}">
                <a16:creationId xmlns:a16="http://schemas.microsoft.com/office/drawing/2014/main" id="{D3B7D53C-2BF0-83B6-D42F-5BD1DE3D7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830" y="3658186"/>
            <a:ext cx="2451436" cy="2340000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C69D65AE-6E4B-F6E5-FEA5-D72E11A49AF5}"/>
              </a:ext>
            </a:extLst>
          </p:cNvPr>
          <p:cNvSpPr txBox="1"/>
          <p:nvPr/>
        </p:nvSpPr>
        <p:spPr>
          <a:xfrm>
            <a:off x="4323347" y="5934018"/>
            <a:ext cx="4187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For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identical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fermions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Pauli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principle</a:t>
            </a:r>
            <a:r>
              <a:rPr lang="hu-HU" dirty="0">
                <a:latin typeface="Book Antiqua" panose="02040602050305030304" pitchFamily="18" charset="0"/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églalap 9">
                <a:extLst>
                  <a:ext uri="{FF2B5EF4-FFF2-40B4-BE49-F238E27FC236}">
                    <a16:creationId xmlns:a16="http://schemas.microsoft.com/office/drawing/2014/main" id="{A91B9AE1-F00B-6022-9E72-F518EA5C0185}"/>
                  </a:ext>
                </a:extLst>
              </p:cNvPr>
              <p:cNvSpPr/>
              <p:nvPr/>
            </p:nvSpPr>
            <p:spPr>
              <a:xfrm>
                <a:off x="9839917" y="3658186"/>
                <a:ext cx="2266005" cy="9766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𝑜𝑑𝑑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𝑜𝑑𝑑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𝑒𝑣𝑒𝑛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𝑜𝑑𝑑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𝑒𝑣𝑒𝑛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𝑒𝑣𝑒𝑛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églalap 9">
                <a:extLst>
                  <a:ext uri="{FF2B5EF4-FFF2-40B4-BE49-F238E27FC236}">
                    <a16:creationId xmlns:a16="http://schemas.microsoft.com/office/drawing/2014/main" id="{A91B9AE1-F00B-6022-9E72-F518EA5C01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917" y="3658186"/>
                <a:ext cx="2266005" cy="9766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E23BBDC8-75F7-BE9E-70E6-64F87F6A8067}"/>
                  </a:ext>
                </a:extLst>
              </p:cNvPr>
              <p:cNvSpPr txBox="1"/>
              <p:nvPr/>
            </p:nvSpPr>
            <p:spPr>
              <a:xfrm>
                <a:off x="8080182" y="3957153"/>
                <a:ext cx="1581779" cy="407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4/3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E23BBDC8-75F7-BE9E-70E6-64F87F6A8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182" y="3957153"/>
                <a:ext cx="1581779" cy="407419"/>
              </a:xfrm>
              <a:prstGeom prst="rect">
                <a:avLst/>
              </a:prstGeom>
              <a:blipFill>
                <a:blip r:embed="rId7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zövegdoboz 11">
            <a:extLst>
              <a:ext uri="{FF2B5EF4-FFF2-40B4-BE49-F238E27FC236}">
                <a16:creationId xmlns:a16="http://schemas.microsoft.com/office/drawing/2014/main" id="{7D2087E5-DCDB-4020-C61A-D9DF438953E0}"/>
              </a:ext>
            </a:extLst>
          </p:cNvPr>
          <p:cNvSpPr txBox="1"/>
          <p:nvPr/>
        </p:nvSpPr>
        <p:spPr>
          <a:xfrm>
            <a:off x="258827" y="2293346"/>
            <a:ext cx="33046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Book Antiqua" panose="02040602050305030304" pitchFamily="18" charset="0"/>
              </a:rPr>
              <a:t>Coulomb </a:t>
            </a:r>
            <a:r>
              <a:rPr lang="hu-HU" dirty="0" err="1">
                <a:latin typeface="Book Antiqua" panose="02040602050305030304" pitchFamily="18" charset="0"/>
              </a:rPr>
              <a:t>energy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 (</a:t>
            </a:r>
            <a:r>
              <a:rPr lang="hu-HU" dirty="0" err="1">
                <a:latin typeface="Book Antiqua" panose="02040602050305030304" pitchFamily="18" charset="0"/>
              </a:rPr>
              <a:t>homogeneous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distribution</a:t>
            </a:r>
            <a:r>
              <a:rPr lang="hu-HU" dirty="0">
                <a:latin typeface="Book Antiqua" panose="02040602050305030304" pitchFamily="18" charset="0"/>
              </a:rPr>
              <a:t>; </a:t>
            </a:r>
            <a:r>
              <a:rPr lang="hu-HU" dirty="0" err="1">
                <a:latin typeface="Book Antiqua" panose="02040602050305030304" pitchFamily="18" charset="0"/>
              </a:rPr>
              <a:t>every</a:t>
            </a:r>
            <a:r>
              <a:rPr lang="hu-HU" dirty="0">
                <a:latin typeface="Book Antiqua" panose="02040602050305030304" pitchFamily="18" charset="0"/>
              </a:rPr>
              <a:t> proton </a:t>
            </a:r>
            <a:r>
              <a:rPr lang="hu-HU" dirty="0" err="1">
                <a:latin typeface="Book Antiqua" panose="02040602050305030304" pitchFamily="18" charset="0"/>
              </a:rPr>
              <a:t>experiences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repulsive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force</a:t>
            </a:r>
            <a:r>
              <a:rPr lang="hu-HU" dirty="0">
                <a:latin typeface="Book Antiqua" panose="02040602050305030304" pitchFamily="18" charset="0"/>
              </a:rPr>
              <a:t> of (Z-1) </a:t>
            </a:r>
            <a:r>
              <a:rPr lang="hu-HU" dirty="0" err="1">
                <a:latin typeface="Book Antiqua" panose="02040602050305030304" pitchFamily="18" charset="0"/>
              </a:rPr>
              <a:t>protons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5DB4890A-31D8-30B0-C82E-D956951E7EF3}"/>
              </a:ext>
            </a:extLst>
          </p:cNvPr>
          <p:cNvSpPr txBox="1"/>
          <p:nvPr/>
        </p:nvSpPr>
        <p:spPr>
          <a:xfrm>
            <a:off x="8713016" y="2634337"/>
            <a:ext cx="3304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Empirical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result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identical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nucleons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organize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into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pairs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2" name="Jobb oldali kapcsos zárójel 1">
            <a:extLst>
              <a:ext uri="{FF2B5EF4-FFF2-40B4-BE49-F238E27FC236}">
                <a16:creationId xmlns:a16="http://schemas.microsoft.com/office/drawing/2014/main" id="{8C750294-CD84-FE74-9577-636119D0206B}"/>
              </a:ext>
            </a:extLst>
          </p:cNvPr>
          <p:cNvSpPr/>
          <p:nvPr/>
        </p:nvSpPr>
        <p:spPr>
          <a:xfrm rot="16829932">
            <a:off x="7060959" y="288541"/>
            <a:ext cx="539459" cy="2995164"/>
          </a:xfrm>
          <a:prstGeom prst="rightBrace">
            <a:avLst>
              <a:gd name="adj1" fmla="val 137475"/>
              <a:gd name="adj2" fmla="val 50345"/>
            </a:avLst>
          </a:prstGeom>
          <a:ln w="508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4ABAA2CF-DE4B-22EA-38FD-0A74A6A9C47A}"/>
              </a:ext>
            </a:extLst>
          </p:cNvPr>
          <p:cNvSpPr txBox="1"/>
          <p:nvPr/>
        </p:nvSpPr>
        <p:spPr>
          <a:xfrm>
            <a:off x="7677802" y="1325954"/>
            <a:ext cx="2687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Quantum</a:t>
            </a:r>
            <a:r>
              <a:rPr lang="hu-H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mechanics</a:t>
            </a:r>
            <a:r>
              <a:rPr lang="hu-H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0808FAE-977D-C44D-3C18-DA8312F65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62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94486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DCBE8-2DA7-8BDC-1107-2EE98637F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0BC73F10-8325-3954-5AA4-EA21FD3E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ook Antiqua" panose="02040602050305030304" pitchFamily="18" charset="0"/>
              </a:rPr>
              <a:t>The </a:t>
            </a:r>
            <a:r>
              <a:rPr lang="hu-HU" dirty="0" err="1">
                <a:latin typeface="Book Antiqua" panose="02040602050305030304" pitchFamily="18" charset="0"/>
              </a:rPr>
              <a:t>liquid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drop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model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br>
              <a:rPr lang="hu-HU" dirty="0">
                <a:latin typeface="Book Antiqua" panose="02040602050305030304" pitchFamily="18" charset="0"/>
              </a:rPr>
            </a:br>
            <a:r>
              <a:rPr lang="hu-HU" dirty="0">
                <a:latin typeface="Book Antiqua" panose="02040602050305030304" pitchFamily="18" charset="0"/>
              </a:rPr>
              <a:t>(</a:t>
            </a:r>
            <a:r>
              <a:rPr lang="hu-HU" dirty="0" err="1">
                <a:latin typeface="Book Antiqua" panose="02040602050305030304" pitchFamily="18" charset="0"/>
              </a:rPr>
              <a:t>Weiszäcker</a:t>
            </a:r>
            <a:r>
              <a:rPr lang="hu-HU" dirty="0">
                <a:latin typeface="Book Antiqua" panose="02040602050305030304" pitchFamily="18" charset="0"/>
              </a:rPr>
              <a:t> formula)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2E5ADD8A-7863-8874-A357-BBA05286AB3F}"/>
                  </a:ext>
                </a:extLst>
              </p:cNvPr>
              <p:cNvSpPr txBox="1"/>
              <p:nvPr/>
            </p:nvSpPr>
            <p:spPr>
              <a:xfrm>
                <a:off x="2804257" y="1995006"/>
                <a:ext cx="6015942" cy="64985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p>
                        <m:sSup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hu-H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</m:sup>
                          </m:sSup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hu-H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sSup>
                        <m:sSupPr>
                          <m:ctrl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4/3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2E5ADD8A-7863-8874-A357-BBA05286A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257" y="1995006"/>
                <a:ext cx="6015942" cy="6498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EECB2096-5B44-72FA-9C64-9A18174691C2}"/>
              </a:ext>
            </a:extLst>
          </p:cNvPr>
          <p:cNvGrpSpPr/>
          <p:nvPr/>
        </p:nvGrpSpPr>
        <p:grpSpPr>
          <a:xfrm>
            <a:off x="4145174" y="2902510"/>
            <a:ext cx="3733180" cy="2009539"/>
            <a:chOff x="4193300" y="3287784"/>
            <a:chExt cx="3733180" cy="2009539"/>
          </a:xfrm>
        </p:grpSpPr>
        <p:pic>
          <p:nvPicPr>
            <p:cNvPr id="6" name="Kép 5">
              <a:extLst>
                <a:ext uri="{FF2B5EF4-FFF2-40B4-BE49-F238E27FC236}">
                  <a16:creationId xmlns:a16="http://schemas.microsoft.com/office/drawing/2014/main" id="{4103DB1D-62A3-04D1-1837-0B30C26D9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3300" y="3287784"/>
              <a:ext cx="3708882" cy="1548000"/>
            </a:xfrm>
            <a:prstGeom prst="rect">
              <a:avLst/>
            </a:prstGeom>
          </p:spPr>
        </p:pic>
        <p:pic>
          <p:nvPicPr>
            <p:cNvPr id="7" name="Kép 6">
              <a:extLst>
                <a:ext uri="{FF2B5EF4-FFF2-40B4-BE49-F238E27FC236}">
                  <a16:creationId xmlns:a16="http://schemas.microsoft.com/office/drawing/2014/main" id="{002BBE6D-74C4-DE09-FDDE-7D492E4BE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26480" y="4835784"/>
              <a:ext cx="3600000" cy="461539"/>
            </a:xfrm>
            <a:prstGeom prst="rect">
              <a:avLst/>
            </a:prstGeom>
          </p:spPr>
        </p:pic>
      </p:grpSp>
      <p:sp>
        <p:nvSpPr>
          <p:cNvPr id="8" name="Szövegdoboz 7">
            <a:extLst>
              <a:ext uri="{FF2B5EF4-FFF2-40B4-BE49-F238E27FC236}">
                <a16:creationId xmlns:a16="http://schemas.microsoft.com/office/drawing/2014/main" id="{9F1A308A-9100-4AB6-A12D-43E119945529}"/>
              </a:ext>
            </a:extLst>
          </p:cNvPr>
          <p:cNvSpPr txBox="1"/>
          <p:nvPr/>
        </p:nvSpPr>
        <p:spPr>
          <a:xfrm>
            <a:off x="2537733" y="5055827"/>
            <a:ext cx="77773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constanst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are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determined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by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fitting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on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empirical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data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simplest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model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nucleus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,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although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binding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energies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of almost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all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2000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nuclei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are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estimated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by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this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with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1-2%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precision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Higher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mass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number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isotopes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are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estimated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more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precisely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zövegdoboz 9">
                <a:extLst>
                  <a:ext uri="{FF2B5EF4-FFF2-40B4-BE49-F238E27FC236}">
                    <a16:creationId xmlns:a16="http://schemas.microsoft.com/office/drawing/2014/main" id="{99B0BDCD-FD10-3B4D-03F9-488D3771E80C}"/>
                  </a:ext>
                </a:extLst>
              </p:cNvPr>
              <p:cNvSpPr txBox="1"/>
              <p:nvPr/>
            </p:nvSpPr>
            <p:spPr>
              <a:xfrm>
                <a:off x="575273" y="3144329"/>
                <a:ext cx="1962460" cy="37965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𝑛𝑢𝑐𝑙𝑒𝑢𝑠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Szövegdoboz 9">
                <a:extLst>
                  <a:ext uri="{FF2B5EF4-FFF2-40B4-BE49-F238E27FC236}">
                    <a16:creationId xmlns:a16="http://schemas.microsoft.com/office/drawing/2014/main" id="{99B0BDCD-FD10-3B4D-03F9-488D3771E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73" y="3144329"/>
                <a:ext cx="1962460" cy="379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9ABDE57D-C64E-3F8C-2978-9697C0B07BBF}"/>
                  </a:ext>
                </a:extLst>
              </p:cNvPr>
              <p:cNvSpPr txBox="1"/>
              <p:nvPr/>
            </p:nvSpPr>
            <p:spPr>
              <a:xfrm>
                <a:off x="683340" y="3682629"/>
                <a:ext cx="1505694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𝑬</m:t>
                    </m:r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=−</m:t>
                    </m:r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𝑩</m:t>
                    </m:r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&lt;</m:t>
                    </m:r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hu-HU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</a:p>
            </p:txBody>
          </p:sp>
        </mc:Choice>
        <mc:Fallback xmlns="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9ABDE57D-C64E-3F8C-2978-9697C0B07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40" y="3682629"/>
                <a:ext cx="15056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églalap 11">
            <a:extLst>
              <a:ext uri="{FF2B5EF4-FFF2-40B4-BE49-F238E27FC236}">
                <a16:creationId xmlns:a16="http://schemas.microsoft.com/office/drawing/2014/main" id="{2D78A0B2-E713-0B29-A64A-01632992AB08}"/>
              </a:ext>
            </a:extLst>
          </p:cNvPr>
          <p:cNvSpPr/>
          <p:nvPr/>
        </p:nvSpPr>
        <p:spPr>
          <a:xfrm>
            <a:off x="473242" y="3007895"/>
            <a:ext cx="2064491" cy="13234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C75BB4A9-63E4-2EE6-20A7-8B2F4D5E1432}"/>
              </a:ext>
            </a:extLst>
          </p:cNvPr>
          <p:cNvSpPr txBox="1"/>
          <p:nvPr/>
        </p:nvSpPr>
        <p:spPr>
          <a:xfrm>
            <a:off x="408712" y="2700118"/>
            <a:ext cx="1096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Remember</a:t>
            </a:r>
            <a:r>
              <a:rPr lang="hu-HU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</a:t>
            </a:r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92752F13-E834-D9AF-95BA-8E8F6E82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63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75886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0452F-7B8F-10DA-026D-66CA3E881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95378BD1-E38D-1078-E37A-452B70FC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Single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models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introduction</a:t>
            </a:r>
            <a:endParaRPr lang="hu-HU" dirty="0">
              <a:latin typeface="Book Antiqua" panose="02040602050305030304" pitchFamily="18" charset="0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945170DE-D457-FA3A-8C06-E0778AB40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174" y="2523868"/>
            <a:ext cx="3079661" cy="2916000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D7514FDF-3184-8845-F1E4-60D54F30BD91}"/>
              </a:ext>
            </a:extLst>
          </p:cNvPr>
          <p:cNvSpPr txBox="1"/>
          <p:nvPr/>
        </p:nvSpPr>
        <p:spPr>
          <a:xfrm>
            <a:off x="452559" y="2462312"/>
            <a:ext cx="80726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i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Liquid</a:t>
            </a:r>
            <a:r>
              <a:rPr lang="hu-HU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drop</a:t>
            </a:r>
            <a:r>
              <a:rPr lang="hu-HU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model</a:t>
            </a:r>
            <a:r>
              <a:rPr lang="hu-HU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captures</a:t>
            </a:r>
            <a:r>
              <a:rPr lang="hu-HU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general</a:t>
            </a:r>
            <a:r>
              <a:rPr lang="hu-HU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trends</a:t>
            </a:r>
            <a:r>
              <a:rPr lang="hu-HU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i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nuclei</a:t>
            </a:r>
            <a:endParaRPr lang="hu-HU" i="1" dirty="0">
              <a:solidFill>
                <a:schemeClr val="accent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There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are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strange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nuclei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which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do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not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obey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those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trends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…. </a:t>
            </a:r>
          </a:p>
          <a:p>
            <a:pPr lvl="1"/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    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MAGIC NUCLEI: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unusually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stable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nuclei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(</a:t>
            </a:r>
            <a:r>
              <a:rPr lang="hu-HU" sz="1400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sz="1400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noble</a:t>
            </a:r>
            <a:r>
              <a:rPr lang="hu-HU" sz="1400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gases</a:t>
            </a:r>
            <a:r>
              <a:rPr lang="hu-HU" sz="1400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sz="1400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nuclei</a:t>
            </a:r>
            <a:r>
              <a:rPr lang="hu-HU" sz="1400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)</a:t>
            </a:r>
          </a:p>
          <a:p>
            <a:pPr lvl="1"/>
            <a:endParaRPr lang="hu-HU" b="1" dirty="0">
              <a:solidFill>
                <a:schemeClr val="accent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  <a:p>
            <a:pPr lvl="1"/>
            <a:endParaRPr lang="hu-HU" b="1" dirty="0">
              <a:solidFill>
                <a:schemeClr val="accent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Introduce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shell</a:t>
            </a:r>
            <a:r>
              <a:rPr lang="hu-HU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model</a:t>
            </a:r>
            <a:r>
              <a:rPr lang="hu-HU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picture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: </a:t>
            </a:r>
            <a:r>
              <a:rPr lang="hu-HU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Goeppert</a:t>
            </a:r>
            <a:r>
              <a:rPr lang="hu-HU" i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-Mayer and Jensen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every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nucleon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exists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in a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quantized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energy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state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–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in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moves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in a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well-defined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orbital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in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average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field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of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other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nucleons</a:t>
            </a:r>
            <a:endParaRPr lang="hu-HU" dirty="0">
              <a:solidFill>
                <a:schemeClr val="accent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analogy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to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atomic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shells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,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only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force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is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different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;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different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even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between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different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kind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nucleons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(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attractive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part + Coulomb)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Allowable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states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are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filled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according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to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Pauli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principle</a:t>
            </a:r>
            <a:endParaRPr lang="hu-HU" dirty="0">
              <a:solidFill>
                <a:schemeClr val="accent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Successfully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predicts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magic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numbers</a:t>
            </a:r>
            <a:r>
              <a:rPr lang="hu-HU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: </a:t>
            </a:r>
            <a:r>
              <a:rPr lang="hu-HU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2, 8, 20, 28, 50, 82, 126</a:t>
            </a:r>
          </a:p>
        </p:txBody>
      </p: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B05D0F0D-904C-641A-5EC9-122508044984}"/>
              </a:ext>
            </a:extLst>
          </p:cNvPr>
          <p:cNvCxnSpPr/>
          <p:nvPr/>
        </p:nvCxnSpPr>
        <p:spPr>
          <a:xfrm>
            <a:off x="3200249" y="3429000"/>
            <a:ext cx="0" cy="3684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1BC45395-2E64-BF68-35F5-755B15EC1925}"/>
              </a:ext>
            </a:extLst>
          </p:cNvPr>
          <p:cNvCxnSpPr>
            <a:cxnSpLocks/>
          </p:cNvCxnSpPr>
          <p:nvPr/>
        </p:nvCxnSpPr>
        <p:spPr>
          <a:xfrm>
            <a:off x="7892566" y="5120641"/>
            <a:ext cx="55360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zis 14">
            <a:extLst>
              <a:ext uri="{FF2B5EF4-FFF2-40B4-BE49-F238E27FC236}">
                <a16:creationId xmlns:a16="http://schemas.microsoft.com/office/drawing/2014/main" id="{F2CE0851-696E-1E42-BAA0-4C1D646F6E51}"/>
              </a:ext>
            </a:extLst>
          </p:cNvPr>
          <p:cNvSpPr/>
          <p:nvPr/>
        </p:nvSpPr>
        <p:spPr>
          <a:xfrm>
            <a:off x="10572154" y="2382093"/>
            <a:ext cx="664143" cy="81012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3ECB5876-897D-DE62-EA14-DC550A0CF6E1}"/>
              </a:ext>
            </a:extLst>
          </p:cNvPr>
          <p:cNvSpPr txBox="1"/>
          <p:nvPr/>
        </p:nvSpPr>
        <p:spPr>
          <a:xfrm>
            <a:off x="11195663" y="2191371"/>
            <a:ext cx="1032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b="1" dirty="0">
                <a:latin typeface="Book Antiqua" panose="02040602050305030304" pitchFamily="18" charset="0"/>
              </a:rPr>
              <a:t>Coulomb </a:t>
            </a:r>
            <a:r>
              <a:rPr lang="hu-HU" sz="1400" b="1" dirty="0" err="1">
                <a:latin typeface="Book Antiqua" panose="02040602050305030304" pitchFamily="18" charset="0"/>
              </a:rPr>
              <a:t>barrier</a:t>
            </a:r>
            <a:endParaRPr lang="hu-HU" sz="1400" b="1" dirty="0">
              <a:latin typeface="Book Antiqua" panose="02040602050305030304" pitchFamily="18" charset="0"/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5966691" y="5836755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closed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shells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7E811E8-861D-C1DF-5A76-E250AE6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64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02966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1EE40889-6DFC-9179-7799-4B81A2AF2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65</a:t>
            </a:fld>
            <a:endParaRPr lang="hu-HU"/>
          </a:p>
        </p:txBody>
      </p:sp>
      <p:pic>
        <p:nvPicPr>
          <p:cNvPr id="1026" name="Picture 2" descr="Doubly magic tin | Nature">
            <a:extLst>
              <a:ext uri="{FF2B5EF4-FFF2-40B4-BE49-F238E27FC236}">
                <a16:creationId xmlns:a16="http://schemas.microsoft.com/office/drawing/2014/main" id="{263CBA38-C01B-3AAC-EBEB-B4B893DA9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688" y="1104900"/>
            <a:ext cx="6524625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3861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0452F-7B8F-10DA-026D-66CA3E881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95378BD1-E38D-1078-E37A-452B70FC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ook Antiqua" panose="02040602050305030304" pitchFamily="18" charset="0"/>
              </a:rPr>
              <a:t>Independent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shell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model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fundamentals</a:t>
            </a:r>
            <a:endParaRPr lang="hu-HU" dirty="0">
              <a:latin typeface="Book Antiqua" panose="02040602050305030304" pitchFamily="18" charset="0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43" y="2523868"/>
            <a:ext cx="3808800" cy="828000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130" y="2631868"/>
            <a:ext cx="3611662" cy="612000"/>
          </a:xfrm>
          <a:prstGeom prst="rect">
            <a:avLst/>
          </a:prstGeom>
        </p:spPr>
      </p:pic>
      <p:cxnSp>
        <p:nvCxnSpPr>
          <p:cNvPr id="7" name="Egyenes összekötő nyíllal 6"/>
          <p:cNvCxnSpPr/>
          <p:nvPr/>
        </p:nvCxnSpPr>
        <p:spPr>
          <a:xfrm flipH="1">
            <a:off x="7786255" y="3111722"/>
            <a:ext cx="73892" cy="480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/>
          <p:cNvSpPr txBox="1"/>
          <p:nvPr/>
        </p:nvSpPr>
        <p:spPr>
          <a:xfrm>
            <a:off x="6957875" y="3702535"/>
            <a:ext cx="5234125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Mean-field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potential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one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nucleon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moves</a:t>
            </a:r>
            <a:r>
              <a:rPr lang="hu-HU" dirty="0">
                <a:latin typeface="Book Antiqua" panose="02040602050305030304" pitchFamily="18" charset="0"/>
              </a:rPr>
              <a:t> in </a:t>
            </a:r>
            <a:r>
              <a:rPr lang="hu-HU" dirty="0" err="1">
                <a:latin typeface="Book Antiqua" panose="02040602050305030304" pitchFamily="18" charset="0"/>
              </a:rPr>
              <a:t>this</a:t>
            </a:r>
            <a:r>
              <a:rPr lang="hu-HU" dirty="0">
                <a:latin typeface="Book Antiqua" panose="02040602050305030304" pitchFamily="18" charset="0"/>
              </a:rPr>
              <a:t> „fixed” </a:t>
            </a:r>
            <a:r>
              <a:rPr lang="hu-HU" dirty="0" err="1">
                <a:latin typeface="Book Antiqua" panose="02040602050305030304" pitchFamily="18" charset="0"/>
              </a:rPr>
              <a:t>potential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independently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other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nucleons</a:t>
            </a:r>
            <a:r>
              <a:rPr lang="hu-HU" dirty="0">
                <a:latin typeface="Book Antiqua" panose="02040602050305030304" pitchFamily="18" charset="0"/>
              </a:rPr>
              <a:t>; </a:t>
            </a:r>
            <a:r>
              <a:rPr lang="hu-HU" dirty="0" err="1">
                <a:latin typeface="Book Antiqua" panose="02040602050305030304" pitchFamily="18" charset="0"/>
              </a:rPr>
              <a:t>this</a:t>
            </a:r>
            <a:r>
              <a:rPr lang="hu-HU" dirty="0">
                <a:latin typeface="Book Antiqua" panose="02040602050305030304" pitchFamily="18" charset="0"/>
              </a:rPr>
              <a:t> is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average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field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nucleons</a:t>
            </a: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harmonic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oscillator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Woods-Saxon</a:t>
            </a:r>
            <a:r>
              <a:rPr lang="hu-HU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potential</a:t>
            </a:r>
            <a:endParaRPr lang="hu-HU" b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sz="16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nuclear</a:t>
            </a:r>
            <a:r>
              <a:rPr lang="hu-HU" sz="16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potential</a:t>
            </a:r>
            <a:r>
              <a:rPr lang="hu-HU" sz="16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 is a </a:t>
            </a:r>
            <a:r>
              <a:rPr lang="hu-HU" sz="16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complicated</a:t>
            </a:r>
            <a:r>
              <a:rPr lang="hu-HU" sz="16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result</a:t>
            </a:r>
            <a:r>
              <a:rPr lang="hu-HU" sz="16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sz="16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inter-nucleon</a:t>
            </a:r>
            <a:r>
              <a:rPr lang="hu-HU" sz="16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interactions</a:t>
            </a:r>
            <a:endParaRPr lang="en-GB" sz="1600" dirty="0">
              <a:solidFill>
                <a:schemeClr val="bg1">
                  <a:lumMod val="65000"/>
                </a:schemeClr>
              </a:solidFill>
              <a:latin typeface="Book Antiqua" panose="02040602050305030304" pitchFamily="18" charset="0"/>
            </a:endParaRPr>
          </a:p>
        </p:txBody>
      </p:sp>
      <p:pic>
        <p:nvPicPr>
          <p:cNvPr id="14" name="Kép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1896" y="3709466"/>
            <a:ext cx="3521132" cy="2484000"/>
          </a:xfrm>
          <a:prstGeom prst="rect">
            <a:avLst/>
          </a:prstGeom>
        </p:spPr>
      </p:pic>
      <p:cxnSp>
        <p:nvCxnSpPr>
          <p:cNvPr id="19" name="Egyenes összekötő nyíllal 18"/>
          <p:cNvCxnSpPr/>
          <p:nvPr/>
        </p:nvCxnSpPr>
        <p:spPr>
          <a:xfrm flipV="1">
            <a:off x="8737600" y="2105891"/>
            <a:ext cx="402521" cy="628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19"/>
          <p:cNvSpPr txBox="1"/>
          <p:nvPr/>
        </p:nvSpPr>
        <p:spPr>
          <a:xfrm>
            <a:off x="9140121" y="1817240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Book Antiqua" panose="02040602050305030304" pitchFamily="18" charset="0"/>
              </a:rPr>
              <a:t>j=l+1/2</a:t>
            </a:r>
            <a:endParaRPr lang="en-GB" dirty="0">
              <a:latin typeface="Book Antiqua" panose="02040602050305030304" pitchFamily="18" charset="0"/>
            </a:endParaRPr>
          </a:p>
        </p:txBody>
      </p:sp>
      <p:sp>
        <p:nvSpPr>
          <p:cNvPr id="21" name="Szövegdoboz 20"/>
          <p:cNvSpPr txBox="1"/>
          <p:nvPr/>
        </p:nvSpPr>
        <p:spPr>
          <a:xfrm>
            <a:off x="9171381" y="2182656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Book Antiqua" panose="02040602050305030304" pitchFamily="18" charset="0"/>
              </a:rPr>
              <a:t>j=l-1/2</a:t>
            </a:r>
            <a:endParaRPr lang="en-GB" dirty="0">
              <a:latin typeface="Book Antiqua" panose="02040602050305030304" pitchFamily="18" charset="0"/>
            </a:endParaRPr>
          </a:p>
        </p:txBody>
      </p:sp>
      <p:cxnSp>
        <p:nvCxnSpPr>
          <p:cNvPr id="23" name="Egyenes összekötő nyíllal 22"/>
          <p:cNvCxnSpPr/>
          <p:nvPr/>
        </p:nvCxnSpPr>
        <p:spPr>
          <a:xfrm flipV="1">
            <a:off x="8737600" y="2386807"/>
            <a:ext cx="433782" cy="352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zövegdoboz 24"/>
          <p:cNvSpPr txBox="1"/>
          <p:nvPr/>
        </p:nvSpPr>
        <p:spPr>
          <a:xfrm>
            <a:off x="103860" y="2154536"/>
            <a:ext cx="7338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Solve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Schrödinger </a:t>
            </a:r>
            <a:r>
              <a:rPr lang="hu-HU" dirty="0" err="1">
                <a:latin typeface="Book Antiqua" panose="02040602050305030304" pitchFamily="18" charset="0"/>
              </a:rPr>
              <a:t>equation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with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central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potential</a:t>
            </a:r>
            <a:r>
              <a:rPr lang="hu-HU" dirty="0">
                <a:latin typeface="Book Antiqua" panose="02040602050305030304" pitchFamily="18" charset="0"/>
              </a:rPr>
              <a:t> in 3D </a:t>
            </a:r>
            <a:r>
              <a:rPr lang="hu-HU" sz="1200" dirty="0">
                <a:latin typeface="Book Antiqua" panose="02040602050305030304" pitchFamily="18" charset="0"/>
              </a:rPr>
              <a:t>(</a:t>
            </a:r>
            <a:r>
              <a:rPr lang="hu-HU" sz="1200" dirty="0" err="1">
                <a:latin typeface="Book Antiqua" panose="02040602050305030304" pitchFamily="18" charset="0"/>
              </a:rPr>
              <a:t>next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semester</a:t>
            </a:r>
            <a:r>
              <a:rPr lang="hu-HU" sz="1200" dirty="0">
                <a:latin typeface="Book Antiqua" panose="02040602050305030304" pitchFamily="18" charset="0"/>
              </a:rPr>
              <a:t>)</a:t>
            </a:r>
            <a:endParaRPr lang="en-GB" sz="1200" dirty="0">
              <a:latin typeface="Book Antiqua" panose="02040602050305030304" pitchFamily="18" charset="0"/>
            </a:endParaRPr>
          </a:p>
        </p:txBody>
      </p:sp>
      <p:cxnSp>
        <p:nvCxnSpPr>
          <p:cNvPr id="27" name="Egyenes összekötő nyíllal 26"/>
          <p:cNvCxnSpPr/>
          <p:nvPr/>
        </p:nvCxnSpPr>
        <p:spPr>
          <a:xfrm flipH="1">
            <a:off x="1402080" y="2937868"/>
            <a:ext cx="1230284" cy="1254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nyíllal 27"/>
          <p:cNvCxnSpPr/>
          <p:nvPr/>
        </p:nvCxnSpPr>
        <p:spPr>
          <a:xfrm flipH="1">
            <a:off x="1402080" y="3090267"/>
            <a:ext cx="2156254" cy="1101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nyíllal 28"/>
          <p:cNvCxnSpPr/>
          <p:nvPr/>
        </p:nvCxnSpPr>
        <p:spPr>
          <a:xfrm flipH="1">
            <a:off x="1402080" y="2937868"/>
            <a:ext cx="2156254" cy="1254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zövegdoboz 32"/>
          <p:cNvSpPr txBox="1"/>
          <p:nvPr/>
        </p:nvSpPr>
        <p:spPr>
          <a:xfrm>
            <a:off x="122333" y="4192001"/>
            <a:ext cx="303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quantum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numbers</a:t>
            </a:r>
            <a:endParaRPr lang="en-GB" dirty="0">
              <a:latin typeface="Book Antiqua" panose="02040602050305030304" pitchFamily="18" charset="0"/>
            </a:endParaRPr>
          </a:p>
        </p:txBody>
      </p:sp>
      <p:pic>
        <p:nvPicPr>
          <p:cNvPr id="34" name="Kép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394" y="5401466"/>
            <a:ext cx="2419656" cy="79200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5" name="Szövegdoboz 34"/>
          <p:cNvSpPr txBox="1"/>
          <p:nvPr/>
        </p:nvSpPr>
        <p:spPr>
          <a:xfrm>
            <a:off x="876185" y="5670886"/>
            <a:ext cx="198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GB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zövegdoboz 35"/>
          <p:cNvSpPr txBox="1"/>
          <p:nvPr/>
        </p:nvSpPr>
        <p:spPr>
          <a:xfrm>
            <a:off x="159935" y="557855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WS:</a:t>
            </a:r>
            <a:endParaRPr lang="en-GB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E7AA06E6-A102-35A3-BAD1-ACB9FD4A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66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32264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33DA-8DE7-FCF7-3A25-522608A74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C2CE5BBB-FC39-74A4-87B3-E96380367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density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radius</a:t>
            </a:r>
            <a:endParaRPr lang="hu-HU" dirty="0"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31C391B1-05CD-5EDB-CA42-ED81A40FDC7F}"/>
                  </a:ext>
                </a:extLst>
              </p:cNvPr>
              <p:cNvSpPr txBox="1"/>
              <p:nvPr/>
            </p:nvSpPr>
            <p:spPr>
              <a:xfrm>
                <a:off x="4709746" y="1855394"/>
                <a:ext cx="2772507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hu-H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hu-H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hu-HU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hu-HU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31C391B1-05CD-5EDB-CA42-ED81A40FD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746" y="1855394"/>
                <a:ext cx="2772507" cy="6182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zövegdoboz 15">
            <a:extLst>
              <a:ext uri="{FF2B5EF4-FFF2-40B4-BE49-F238E27FC236}">
                <a16:creationId xmlns:a16="http://schemas.microsoft.com/office/drawing/2014/main" id="{E74EB268-0D48-01C0-0800-10DC1B1B9394}"/>
              </a:ext>
            </a:extLst>
          </p:cNvPr>
          <p:cNvSpPr txBox="1"/>
          <p:nvPr/>
        </p:nvSpPr>
        <p:spPr>
          <a:xfrm>
            <a:off x="978408" y="2672099"/>
            <a:ext cx="1054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Relativistic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electron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scattering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on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Coulomb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potential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Mott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scattering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(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quantum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electrodynamics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)</a:t>
            </a:r>
            <a:endParaRPr lang="hu-HU" b="1" dirty="0">
              <a:solidFill>
                <a:schemeClr val="accent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zövegdoboz 9">
                <a:extLst>
                  <a:ext uri="{FF2B5EF4-FFF2-40B4-BE49-F238E27FC236}">
                    <a16:creationId xmlns:a16="http://schemas.microsoft.com/office/drawing/2014/main" id="{5386D263-A2F1-4D26-1EDD-DFF407014996}"/>
                  </a:ext>
                </a:extLst>
              </p:cNvPr>
              <p:cNvSpPr txBox="1"/>
              <p:nvPr/>
            </p:nvSpPr>
            <p:spPr>
              <a:xfrm>
                <a:off x="4863193" y="3429000"/>
                <a:ext cx="2465611" cy="61824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hu-H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Szövegdoboz 9">
                <a:extLst>
                  <a:ext uri="{FF2B5EF4-FFF2-40B4-BE49-F238E27FC236}">
                    <a16:creationId xmlns:a16="http://schemas.microsoft.com/office/drawing/2014/main" id="{5386D263-A2F1-4D26-1EDD-DFF407014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193" y="3429000"/>
                <a:ext cx="2465611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églalap 12">
                <a:extLst>
                  <a:ext uri="{FF2B5EF4-FFF2-40B4-BE49-F238E27FC236}">
                    <a16:creationId xmlns:a16="http://schemas.microsoft.com/office/drawing/2014/main" id="{BAB6D12E-2ACA-85E8-80A3-51553B635778}"/>
                  </a:ext>
                </a:extLst>
              </p:cNvPr>
              <p:cNvSpPr/>
              <p:nvPr/>
            </p:nvSpPr>
            <p:spPr>
              <a:xfrm>
                <a:off x="4877267" y="4299392"/>
                <a:ext cx="2437462" cy="8188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hu-H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𝒒𝒓</m:t>
                              </m:r>
                            </m:sup>
                          </m:sSup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églalap 12">
                <a:extLst>
                  <a:ext uri="{FF2B5EF4-FFF2-40B4-BE49-F238E27FC236}">
                    <a16:creationId xmlns:a16="http://schemas.microsoft.com/office/drawing/2014/main" id="{BAB6D12E-2ACA-85E8-80A3-51553B6357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267" y="4299392"/>
                <a:ext cx="2437462" cy="818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140D7565-5626-067A-D45F-7D861B040209}"/>
              </a:ext>
            </a:extLst>
          </p:cNvPr>
          <p:cNvGrpSpPr/>
          <p:nvPr/>
        </p:nvGrpSpPr>
        <p:grpSpPr>
          <a:xfrm>
            <a:off x="1932362" y="5315051"/>
            <a:ext cx="2500754" cy="618246"/>
            <a:chOff x="714035" y="5819316"/>
            <a:chExt cx="1350783" cy="618246"/>
          </a:xfrm>
        </p:grpSpPr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43CE8746-7E6C-E55C-4356-F61EEBBA564A}"/>
                </a:ext>
              </a:extLst>
            </p:cNvPr>
            <p:cNvSpPr txBox="1"/>
            <p:nvPr/>
          </p:nvSpPr>
          <p:spPr>
            <a:xfrm>
              <a:off x="714035" y="5877272"/>
              <a:ext cx="11674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Method</a:t>
              </a:r>
              <a:r>
                <a:rPr lang="hu-HU" dirty="0">
                  <a:latin typeface="Book Antiqua" panose="02040602050305030304" pitchFamily="18" charset="0"/>
                </a:rPr>
                <a:t>: </a:t>
              </a:r>
              <a:r>
                <a:rPr lang="hu-HU" dirty="0" err="1">
                  <a:latin typeface="Book Antiqua" panose="02040602050305030304" pitchFamily="18" charset="0"/>
                </a:rPr>
                <a:t>measure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endParaRPr lang="en-US" dirty="0"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églalap 16">
                  <a:extLst>
                    <a:ext uri="{FF2B5EF4-FFF2-40B4-BE49-F238E27FC236}">
                      <a16:creationId xmlns:a16="http://schemas.microsoft.com/office/drawing/2014/main" id="{1C5A5AC0-7046-E942-8AA0-252ACB7EB5CD}"/>
                    </a:ext>
                  </a:extLst>
                </p:cNvPr>
                <p:cNvSpPr/>
                <p:nvPr/>
              </p:nvSpPr>
              <p:spPr>
                <a:xfrm>
                  <a:off x="1777961" y="5819316"/>
                  <a:ext cx="286857" cy="61824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églalap 16">
                  <a:extLst>
                    <a:ext uri="{FF2B5EF4-FFF2-40B4-BE49-F238E27FC236}">
                      <a16:creationId xmlns:a16="http://schemas.microsoft.com/office/drawing/2014/main" id="{1C5A5AC0-7046-E942-8AA0-252ACB7EB5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7961" y="5819316"/>
                  <a:ext cx="286857" cy="61824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4494594F-6822-3B2B-2468-6237D439FA89}"/>
              </a:ext>
            </a:extLst>
          </p:cNvPr>
          <p:cNvGrpSpPr/>
          <p:nvPr/>
        </p:nvGrpSpPr>
        <p:grpSpPr>
          <a:xfrm>
            <a:off x="4532655" y="5373007"/>
            <a:ext cx="1744319" cy="369332"/>
            <a:chOff x="2593132" y="5877272"/>
            <a:chExt cx="1247568" cy="369332"/>
          </a:xfrm>
        </p:grpSpPr>
        <p:sp>
          <p:nvSpPr>
            <p:cNvPr id="19" name="Jobbra nyíl 26">
              <a:extLst>
                <a:ext uri="{FF2B5EF4-FFF2-40B4-BE49-F238E27FC236}">
                  <a16:creationId xmlns:a16="http://schemas.microsoft.com/office/drawing/2014/main" id="{71C3E816-2C05-4C9F-AE01-EC3D5F2260DF}"/>
                </a:ext>
              </a:extLst>
            </p:cNvPr>
            <p:cNvSpPr/>
            <p:nvPr/>
          </p:nvSpPr>
          <p:spPr>
            <a:xfrm>
              <a:off x="2593132" y="5999106"/>
              <a:ext cx="531068" cy="184666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églalap 19">
                  <a:extLst>
                    <a:ext uri="{FF2B5EF4-FFF2-40B4-BE49-F238E27FC236}">
                      <a16:creationId xmlns:a16="http://schemas.microsoft.com/office/drawing/2014/main" id="{CE8BD338-26C9-2400-777C-E0F245415A86}"/>
                    </a:ext>
                  </a:extLst>
                </p:cNvPr>
                <p:cNvSpPr/>
                <p:nvPr/>
              </p:nvSpPr>
              <p:spPr>
                <a:xfrm>
                  <a:off x="3400086" y="5877272"/>
                  <a:ext cx="440614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u-HU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églalap 19">
                  <a:extLst>
                    <a:ext uri="{FF2B5EF4-FFF2-40B4-BE49-F238E27FC236}">
                      <a16:creationId xmlns:a16="http://schemas.microsoft.com/office/drawing/2014/main" id="{CE8BD338-26C9-2400-777C-E0F245415A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0086" y="5877272"/>
                  <a:ext cx="440614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Csoportba foglalás 20">
            <a:extLst>
              <a:ext uri="{FF2B5EF4-FFF2-40B4-BE49-F238E27FC236}">
                <a16:creationId xmlns:a16="http://schemas.microsoft.com/office/drawing/2014/main" id="{CA8F4AE7-2296-D940-D7AF-952894337E96}"/>
              </a:ext>
            </a:extLst>
          </p:cNvPr>
          <p:cNvGrpSpPr/>
          <p:nvPr/>
        </p:nvGrpSpPr>
        <p:grpSpPr>
          <a:xfrm>
            <a:off x="6590919" y="5286966"/>
            <a:ext cx="3317083" cy="646331"/>
            <a:chOff x="5268760" y="5768273"/>
            <a:chExt cx="2848923" cy="646331"/>
          </a:xfrm>
        </p:grpSpPr>
        <p:sp>
          <p:nvSpPr>
            <p:cNvPr id="22" name="Jobbra nyíl 28">
              <a:extLst>
                <a:ext uri="{FF2B5EF4-FFF2-40B4-BE49-F238E27FC236}">
                  <a16:creationId xmlns:a16="http://schemas.microsoft.com/office/drawing/2014/main" id="{5B3786A7-BB36-C30D-BD33-6699D36B4A27}"/>
                </a:ext>
              </a:extLst>
            </p:cNvPr>
            <p:cNvSpPr/>
            <p:nvPr/>
          </p:nvSpPr>
          <p:spPr>
            <a:xfrm>
              <a:off x="5268760" y="6001557"/>
              <a:ext cx="531068" cy="184666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DCB77D84-D49B-71D7-A0B9-E75532890BB5}"/>
                </a:ext>
              </a:extLst>
            </p:cNvPr>
            <p:cNvSpPr txBox="1"/>
            <p:nvPr/>
          </p:nvSpPr>
          <p:spPr>
            <a:xfrm>
              <a:off x="5863315" y="5768273"/>
              <a:ext cx="15532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>
                  <a:latin typeface="Book Antiqua" panose="02040602050305030304" pitchFamily="18" charset="0"/>
                </a:rPr>
                <a:t>Inverse</a:t>
              </a:r>
              <a:r>
                <a:rPr lang="hu-HU" dirty="0">
                  <a:latin typeface="Book Antiqua" panose="02040602050305030304" pitchFamily="18" charset="0"/>
                </a:rPr>
                <a:t> Fourier </a:t>
              </a:r>
            </a:p>
            <a:p>
              <a:r>
                <a:rPr lang="hu-HU" dirty="0" err="1">
                  <a:latin typeface="Book Antiqua" panose="02040602050305030304" pitchFamily="18" charset="0"/>
                </a:rPr>
                <a:t>transformation</a:t>
              </a:r>
              <a:r>
                <a:rPr lang="hu-HU" dirty="0">
                  <a:latin typeface="Book Antiqua" panose="02040602050305030304" pitchFamily="18" charset="0"/>
                </a:rPr>
                <a:t>:</a:t>
              </a:r>
              <a:endParaRPr lang="en-US" dirty="0"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églalap 23">
                  <a:extLst>
                    <a:ext uri="{FF2B5EF4-FFF2-40B4-BE49-F238E27FC236}">
                      <a16:creationId xmlns:a16="http://schemas.microsoft.com/office/drawing/2014/main" id="{94B009B8-7480-9429-0D82-59EFFCC63A66}"/>
                    </a:ext>
                  </a:extLst>
                </p:cNvPr>
                <p:cNvSpPr/>
                <p:nvPr/>
              </p:nvSpPr>
              <p:spPr>
                <a:xfrm>
                  <a:off x="7430572" y="5906772"/>
                  <a:ext cx="68711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u-H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églalap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0572" y="5906772"/>
                  <a:ext cx="687111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Szövegdoboz 1">
            <a:extLst>
              <a:ext uri="{FF2B5EF4-FFF2-40B4-BE49-F238E27FC236}">
                <a16:creationId xmlns:a16="http://schemas.microsoft.com/office/drawing/2014/main" id="{CDDB83F6-9350-8382-AD71-D4255732393D}"/>
              </a:ext>
            </a:extLst>
          </p:cNvPr>
          <p:cNvSpPr txBox="1"/>
          <p:nvPr/>
        </p:nvSpPr>
        <p:spPr>
          <a:xfrm>
            <a:off x="2135647" y="3320656"/>
            <a:ext cx="21613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Scattering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amplitude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for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pointlike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scatterer</a:t>
            </a:r>
            <a:r>
              <a:rPr lang="hu-HU" sz="1400" dirty="0">
                <a:latin typeface="Book Antiqua" panose="02040602050305030304" pitchFamily="18" charset="0"/>
              </a:rPr>
              <a:t>: </a:t>
            </a:r>
            <a:r>
              <a:rPr lang="hu-HU" sz="1400" dirty="0" err="1">
                <a:latin typeface="Book Antiqua" panose="02040602050305030304" pitchFamily="18" charset="0"/>
              </a:rPr>
              <a:t>can</a:t>
            </a:r>
            <a:r>
              <a:rPr lang="hu-HU" sz="1400" dirty="0">
                <a:latin typeface="Book Antiqua" panose="02040602050305030304" pitchFamily="18" charset="0"/>
              </a:rPr>
              <a:t> be </a:t>
            </a:r>
            <a:r>
              <a:rPr lang="hu-HU" sz="1400" dirty="0" err="1">
                <a:latin typeface="Book Antiqua" panose="02040602050305030304" pitchFamily="18" charset="0"/>
              </a:rPr>
              <a:t>calculated</a:t>
            </a:r>
            <a:endParaRPr lang="hu-HU" sz="1400" dirty="0">
              <a:latin typeface="Book Antiqua" panose="02040602050305030304" pitchFamily="18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0B10144F-0537-7D57-AFDF-B6EC055AF033}"/>
              </a:ext>
            </a:extLst>
          </p:cNvPr>
          <p:cNvSpPr txBox="1"/>
          <p:nvPr/>
        </p:nvSpPr>
        <p:spPr>
          <a:xfrm>
            <a:off x="8220042" y="4447221"/>
            <a:ext cx="3013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 </a:t>
            </a:r>
            <a:r>
              <a:rPr lang="hu-HU" sz="14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form</a:t>
            </a:r>
            <a:r>
              <a:rPr lang="hu-HU" sz="1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4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factor</a:t>
            </a:r>
            <a:r>
              <a:rPr lang="hu-HU" sz="1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 Fourier </a:t>
            </a:r>
            <a:r>
              <a:rPr lang="hu-HU" sz="14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transform</a:t>
            </a:r>
            <a:r>
              <a:rPr lang="hu-HU" sz="1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</a:t>
            </a:r>
            <a:r>
              <a:rPr lang="hu-HU" sz="14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sz="1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4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charge</a:t>
            </a:r>
            <a:r>
              <a:rPr lang="hu-HU" sz="1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4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density</a:t>
            </a:r>
            <a:r>
              <a:rPr lang="hu-HU" sz="1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</a:p>
        </p:txBody>
      </p:sp>
      <p:cxnSp>
        <p:nvCxnSpPr>
          <p:cNvPr id="7" name="Összekötő: görbe 6">
            <a:extLst>
              <a:ext uri="{FF2B5EF4-FFF2-40B4-BE49-F238E27FC236}">
                <a16:creationId xmlns:a16="http://schemas.microsoft.com/office/drawing/2014/main" id="{05529BE8-8403-052B-2A79-8CE93592AD57}"/>
              </a:ext>
            </a:extLst>
          </p:cNvPr>
          <p:cNvCxnSpPr>
            <a:cxnSpLocks/>
          </p:cNvCxnSpPr>
          <p:nvPr/>
        </p:nvCxnSpPr>
        <p:spPr>
          <a:xfrm flipV="1">
            <a:off x="3638553" y="3615999"/>
            <a:ext cx="2149418" cy="25269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Összekötő: görbe 33">
            <a:extLst>
              <a:ext uri="{FF2B5EF4-FFF2-40B4-BE49-F238E27FC236}">
                <a16:creationId xmlns:a16="http://schemas.microsoft.com/office/drawing/2014/main" id="{897AE5BB-DACF-2EF5-3E22-E5296FB5BCF2}"/>
              </a:ext>
            </a:extLst>
          </p:cNvPr>
          <p:cNvCxnSpPr>
            <a:cxnSpLocks/>
          </p:cNvCxnSpPr>
          <p:nvPr/>
        </p:nvCxnSpPr>
        <p:spPr>
          <a:xfrm rot="16200000" flipV="1">
            <a:off x="7648025" y="3231211"/>
            <a:ext cx="698373" cy="182281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églalap: lekerekített 37">
            <a:extLst>
              <a:ext uri="{FF2B5EF4-FFF2-40B4-BE49-F238E27FC236}">
                <a16:creationId xmlns:a16="http://schemas.microsoft.com/office/drawing/2014/main" id="{A5BD4E24-E8F4-94D0-92AA-48F1276BA37F}"/>
              </a:ext>
            </a:extLst>
          </p:cNvPr>
          <p:cNvSpPr/>
          <p:nvPr/>
        </p:nvSpPr>
        <p:spPr>
          <a:xfrm>
            <a:off x="1839858" y="5274479"/>
            <a:ext cx="8258175" cy="69334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724225B7-0F72-03AC-8075-394FEFA75235}"/>
              </a:ext>
            </a:extLst>
          </p:cNvPr>
          <p:cNvSpPr txBox="1"/>
          <p:nvPr/>
        </p:nvSpPr>
        <p:spPr>
          <a:xfrm>
            <a:off x="8461296" y="3537144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For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finite-size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nucleus</a:t>
            </a:r>
            <a:endParaRPr lang="hu-HU" b="1" dirty="0">
              <a:solidFill>
                <a:schemeClr val="accent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cxnSp>
        <p:nvCxnSpPr>
          <p:cNvPr id="8" name="Összekötő: görbe 7">
            <a:extLst>
              <a:ext uri="{FF2B5EF4-FFF2-40B4-BE49-F238E27FC236}">
                <a16:creationId xmlns:a16="http://schemas.microsoft.com/office/drawing/2014/main" id="{AA9DC7C8-03EC-886A-BA14-8E601BDAB7A4}"/>
              </a:ext>
            </a:extLst>
          </p:cNvPr>
          <p:cNvCxnSpPr>
            <a:cxnSpLocks/>
          </p:cNvCxnSpPr>
          <p:nvPr/>
        </p:nvCxnSpPr>
        <p:spPr>
          <a:xfrm rot="10800000">
            <a:off x="3593207" y="4491805"/>
            <a:ext cx="1681975" cy="419466"/>
          </a:xfrm>
          <a:prstGeom prst="curvedConnector3">
            <a:avLst>
              <a:gd name="adj1" fmla="val 940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Szövegdoboz 29">
                <a:extLst>
                  <a:ext uri="{FF2B5EF4-FFF2-40B4-BE49-F238E27FC236}">
                    <a16:creationId xmlns:a16="http://schemas.microsoft.com/office/drawing/2014/main" id="{70EB8C65-310B-9AB4-B1D0-2C791CDAF311}"/>
                  </a:ext>
                </a:extLst>
              </p:cNvPr>
              <p:cNvSpPr txBox="1"/>
              <p:nvPr/>
            </p:nvSpPr>
            <p:spPr>
              <a:xfrm>
                <a:off x="1375736" y="4338545"/>
                <a:ext cx="23902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ok Antiqua" panose="02040602050305030304" pitchFamily="18" charset="0"/>
                  </a:rPr>
                  <a:t>Momentum </a:t>
                </a:r>
                <a:r>
                  <a:rPr lang="hu-HU" sz="1200" dirty="0" err="1">
                    <a:latin typeface="Book Antiqua" panose="02040602050305030304" pitchFamily="18" charset="0"/>
                  </a:rPr>
                  <a:t>transfer</a:t>
                </a:r>
                <a:r>
                  <a:rPr lang="hu-HU" sz="1200" dirty="0">
                    <a:latin typeface="Book Antiqua" panose="02040602050305030304" pitchFamily="18" charset="0"/>
                  </a:rPr>
                  <a:t>: </a:t>
                </a:r>
                <a:r>
                  <a:rPr lang="hu-HU" sz="1200" b="1" dirty="0">
                    <a:latin typeface="Book Antiqua" panose="02040602050305030304" pitchFamily="18" charset="0"/>
                  </a:rPr>
                  <a:t>q</a:t>
                </a:r>
                <a:r>
                  <a:rPr lang="hu-HU" sz="1200" dirty="0">
                    <a:latin typeface="Book Antiqua" panose="02040602050305030304" pitchFamily="18" charset="0"/>
                  </a:rPr>
                  <a:t>= </a:t>
                </a:r>
                <a:r>
                  <a:rPr lang="hu-HU" sz="1200" b="1" dirty="0">
                    <a:latin typeface="Book Antiqua" panose="02040602050305030304" pitchFamily="18" charset="0"/>
                  </a:rPr>
                  <a:t>p</a:t>
                </a:r>
                <a:r>
                  <a:rPr lang="hu-HU" sz="1200" dirty="0">
                    <a:latin typeface="Book Antiqua" panose="02040602050305030304" pitchFamily="18" charset="0"/>
                  </a:rPr>
                  <a:t>-</a:t>
                </a:r>
                <a:r>
                  <a:rPr lang="hu-HU" sz="1200" b="1" dirty="0">
                    <a:latin typeface="Book Antiqua" panose="02040602050305030304" pitchFamily="18" charset="0"/>
                  </a:rPr>
                  <a:t>p</a:t>
                </a:r>
                <a:r>
                  <a:rPr lang="hu-HU" sz="1200" dirty="0">
                    <a:latin typeface="Book Antiqua" panose="02040602050305030304" pitchFamily="18" charset="0"/>
                  </a:rPr>
                  <a:t>’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hu-HU" sz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h</a:t>
                </a:r>
                <a:r>
                  <a:rPr lang="hu-HU" sz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igh</a:t>
                </a:r>
                <a:r>
                  <a:rPr lang="hu-HU" sz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 </a:t>
                </a:r>
                <a:r>
                  <a:rPr lang="hu-HU" sz="1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q</a:t>
                </a:r>
                <a:r>
                  <a:rPr lang="hu-HU" sz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 </a:t>
                </a:r>
                <a:r>
                  <a:rPr lang="hu-HU" sz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means</a:t>
                </a:r>
                <a:r>
                  <a:rPr lang="hu-HU" sz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 </a:t>
                </a:r>
                <a:r>
                  <a:rPr lang="hu-HU" sz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ok Antiqua" panose="02040602050305030304" pitchFamily="18" charset="0"/>
                  </a:rPr>
                  <a:t>large</a:t>
                </a:r>
                <a:r>
                  <a:rPr lang="el-GR" sz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120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hu-HU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endParaRPr>
              </a:p>
            </p:txBody>
          </p:sp>
        </mc:Choice>
        <mc:Fallback xmlns="">
          <p:sp>
            <p:nvSpPr>
              <p:cNvPr id="30" name="Szövegdoboz 29">
                <a:extLst>
                  <a:ext uri="{FF2B5EF4-FFF2-40B4-BE49-F238E27FC236}">
                    <a16:creationId xmlns:a16="http://schemas.microsoft.com/office/drawing/2014/main" id="{70EB8C65-310B-9AB4-B1D0-2C791CDAF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736" y="4338545"/>
                <a:ext cx="2390225" cy="461665"/>
              </a:xfrm>
              <a:prstGeom prst="rect">
                <a:avLst/>
              </a:prstGeom>
              <a:blipFill>
                <a:blip r:embed="rId10"/>
                <a:stretch>
                  <a:fillRect t="-1333" b="-1466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92316DE-1ED2-1E84-12A9-8B45D29A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67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92981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B798-A010-720A-549F-DA50C95F9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DA561395-58B4-3232-0DBF-2FD8712B9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density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charge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radius</a:t>
            </a:r>
            <a:endParaRPr lang="hu-HU" dirty="0"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CFD16390-815C-C2F8-81EF-995F8ABD667B}"/>
                  </a:ext>
                </a:extLst>
              </p:cNvPr>
              <p:cNvSpPr txBox="1"/>
              <p:nvPr/>
            </p:nvSpPr>
            <p:spPr>
              <a:xfrm>
                <a:off x="4709746" y="1855394"/>
                <a:ext cx="2772507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hu-H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hu-H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hu-HU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hu-HU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CFD16390-815C-C2F8-81EF-995F8ABD6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746" y="1855394"/>
                <a:ext cx="2772507" cy="6182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zövegdoboz 9">
                <a:extLst>
                  <a:ext uri="{FF2B5EF4-FFF2-40B4-BE49-F238E27FC236}">
                    <a16:creationId xmlns:a16="http://schemas.microsoft.com/office/drawing/2014/main" id="{77BD95FC-7415-BAD2-643C-5AFE90E298BA}"/>
                  </a:ext>
                </a:extLst>
              </p:cNvPr>
              <p:cNvSpPr txBox="1"/>
              <p:nvPr/>
            </p:nvSpPr>
            <p:spPr>
              <a:xfrm>
                <a:off x="4863193" y="3429000"/>
                <a:ext cx="2465611" cy="61824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hu-H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Szövegdoboz 9">
                <a:extLst>
                  <a:ext uri="{FF2B5EF4-FFF2-40B4-BE49-F238E27FC236}">
                    <a16:creationId xmlns:a16="http://schemas.microsoft.com/office/drawing/2014/main" id="{77BD95FC-7415-BAD2-643C-5AFE90E29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193" y="3429000"/>
                <a:ext cx="2465611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églalap 12">
                <a:extLst>
                  <a:ext uri="{FF2B5EF4-FFF2-40B4-BE49-F238E27FC236}">
                    <a16:creationId xmlns:a16="http://schemas.microsoft.com/office/drawing/2014/main" id="{D422AFF2-E474-8C82-C5A0-394ED5BF8F1C}"/>
                  </a:ext>
                </a:extLst>
              </p:cNvPr>
              <p:cNvSpPr/>
              <p:nvPr/>
            </p:nvSpPr>
            <p:spPr>
              <a:xfrm>
                <a:off x="4877267" y="4299392"/>
                <a:ext cx="2437462" cy="8188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hu-H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𝒒𝒓</m:t>
                              </m:r>
                            </m:sup>
                          </m:sSup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églalap 12">
                <a:extLst>
                  <a:ext uri="{FF2B5EF4-FFF2-40B4-BE49-F238E27FC236}">
                    <a16:creationId xmlns:a16="http://schemas.microsoft.com/office/drawing/2014/main" id="{D422AFF2-E474-8C82-C5A0-394ED5BF8F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267" y="4299392"/>
                <a:ext cx="2437462" cy="818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02C43201-469F-F168-DAAC-5E68860BB427}"/>
              </a:ext>
            </a:extLst>
          </p:cNvPr>
          <p:cNvGrpSpPr/>
          <p:nvPr/>
        </p:nvGrpSpPr>
        <p:grpSpPr>
          <a:xfrm>
            <a:off x="1932362" y="5315051"/>
            <a:ext cx="2500754" cy="618246"/>
            <a:chOff x="714035" y="5819316"/>
            <a:chExt cx="1350783" cy="618246"/>
          </a:xfrm>
        </p:grpSpPr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6FDEF207-816B-5A59-A4F5-3373B210CE1A}"/>
                </a:ext>
              </a:extLst>
            </p:cNvPr>
            <p:cNvSpPr txBox="1"/>
            <p:nvPr/>
          </p:nvSpPr>
          <p:spPr>
            <a:xfrm>
              <a:off x="714035" y="5877272"/>
              <a:ext cx="11674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Method</a:t>
              </a:r>
              <a:r>
                <a:rPr lang="hu-HU" dirty="0">
                  <a:latin typeface="Book Antiqua" panose="02040602050305030304" pitchFamily="18" charset="0"/>
                </a:rPr>
                <a:t>: </a:t>
              </a:r>
              <a:r>
                <a:rPr lang="hu-HU" dirty="0" err="1">
                  <a:latin typeface="Book Antiqua" panose="02040602050305030304" pitchFamily="18" charset="0"/>
                </a:rPr>
                <a:t>measure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endParaRPr lang="en-US" dirty="0"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églalap 16">
                  <a:extLst>
                    <a:ext uri="{FF2B5EF4-FFF2-40B4-BE49-F238E27FC236}">
                      <a16:creationId xmlns:a16="http://schemas.microsoft.com/office/drawing/2014/main" id="{25EE20DB-E443-FAF6-C2A7-417913DAB5F8}"/>
                    </a:ext>
                  </a:extLst>
                </p:cNvPr>
                <p:cNvSpPr/>
                <p:nvPr/>
              </p:nvSpPr>
              <p:spPr>
                <a:xfrm>
                  <a:off x="1777961" y="5819316"/>
                  <a:ext cx="286857" cy="61824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églalap 16">
                  <a:extLst>
                    <a:ext uri="{FF2B5EF4-FFF2-40B4-BE49-F238E27FC236}">
                      <a16:creationId xmlns:a16="http://schemas.microsoft.com/office/drawing/2014/main" id="{25EE20DB-E443-FAF6-C2A7-417913DAB5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7961" y="5819316"/>
                  <a:ext cx="286857" cy="61824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BBE92CAD-A831-787C-A3A9-9EA51BDE46B0}"/>
              </a:ext>
            </a:extLst>
          </p:cNvPr>
          <p:cNvGrpSpPr/>
          <p:nvPr/>
        </p:nvGrpSpPr>
        <p:grpSpPr>
          <a:xfrm>
            <a:off x="4532655" y="5373007"/>
            <a:ext cx="1744319" cy="369332"/>
            <a:chOff x="2593132" y="5877272"/>
            <a:chExt cx="1247568" cy="369332"/>
          </a:xfrm>
        </p:grpSpPr>
        <p:sp>
          <p:nvSpPr>
            <p:cNvPr id="19" name="Jobbra nyíl 26">
              <a:extLst>
                <a:ext uri="{FF2B5EF4-FFF2-40B4-BE49-F238E27FC236}">
                  <a16:creationId xmlns:a16="http://schemas.microsoft.com/office/drawing/2014/main" id="{FC0E45AF-83E6-D172-3B6E-266F4E040B5F}"/>
                </a:ext>
              </a:extLst>
            </p:cNvPr>
            <p:cNvSpPr/>
            <p:nvPr/>
          </p:nvSpPr>
          <p:spPr>
            <a:xfrm>
              <a:off x="2593132" y="5999106"/>
              <a:ext cx="531068" cy="184666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églalap 19">
                  <a:extLst>
                    <a:ext uri="{FF2B5EF4-FFF2-40B4-BE49-F238E27FC236}">
                      <a16:creationId xmlns:a16="http://schemas.microsoft.com/office/drawing/2014/main" id="{86E3C734-8BF5-29F8-4B55-F5777FCBB132}"/>
                    </a:ext>
                  </a:extLst>
                </p:cNvPr>
                <p:cNvSpPr/>
                <p:nvPr/>
              </p:nvSpPr>
              <p:spPr>
                <a:xfrm>
                  <a:off x="3400086" y="5877272"/>
                  <a:ext cx="440614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u-HU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églalap 19">
                  <a:extLst>
                    <a:ext uri="{FF2B5EF4-FFF2-40B4-BE49-F238E27FC236}">
                      <a16:creationId xmlns:a16="http://schemas.microsoft.com/office/drawing/2014/main" id="{86E3C734-8BF5-29F8-4B55-F5777FCBB1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0086" y="5877272"/>
                  <a:ext cx="440614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Csoportba foglalás 20">
            <a:extLst>
              <a:ext uri="{FF2B5EF4-FFF2-40B4-BE49-F238E27FC236}">
                <a16:creationId xmlns:a16="http://schemas.microsoft.com/office/drawing/2014/main" id="{20E8F317-F6E8-C974-7112-E5E3F7E36942}"/>
              </a:ext>
            </a:extLst>
          </p:cNvPr>
          <p:cNvGrpSpPr/>
          <p:nvPr/>
        </p:nvGrpSpPr>
        <p:grpSpPr>
          <a:xfrm>
            <a:off x="6590919" y="5286966"/>
            <a:ext cx="3317083" cy="646331"/>
            <a:chOff x="5268760" y="5768273"/>
            <a:chExt cx="2848923" cy="646331"/>
          </a:xfrm>
        </p:grpSpPr>
        <p:sp>
          <p:nvSpPr>
            <p:cNvPr id="22" name="Jobbra nyíl 28">
              <a:extLst>
                <a:ext uri="{FF2B5EF4-FFF2-40B4-BE49-F238E27FC236}">
                  <a16:creationId xmlns:a16="http://schemas.microsoft.com/office/drawing/2014/main" id="{C0CFC8D7-6954-2E45-2A59-1DA635344F9C}"/>
                </a:ext>
              </a:extLst>
            </p:cNvPr>
            <p:cNvSpPr/>
            <p:nvPr/>
          </p:nvSpPr>
          <p:spPr>
            <a:xfrm>
              <a:off x="5268760" y="6001557"/>
              <a:ext cx="531068" cy="184666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77807F3B-73B3-2A71-7709-1D2D8F011312}"/>
                </a:ext>
              </a:extLst>
            </p:cNvPr>
            <p:cNvSpPr txBox="1"/>
            <p:nvPr/>
          </p:nvSpPr>
          <p:spPr>
            <a:xfrm>
              <a:off x="5863315" y="5768273"/>
              <a:ext cx="15532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>
                  <a:latin typeface="Book Antiqua" panose="02040602050305030304" pitchFamily="18" charset="0"/>
                </a:rPr>
                <a:t>Inverse</a:t>
              </a:r>
              <a:r>
                <a:rPr lang="hu-HU" dirty="0">
                  <a:latin typeface="Book Antiqua" panose="02040602050305030304" pitchFamily="18" charset="0"/>
                </a:rPr>
                <a:t> Fourier </a:t>
              </a:r>
            </a:p>
            <a:p>
              <a:r>
                <a:rPr lang="hu-HU" dirty="0" err="1">
                  <a:latin typeface="Book Antiqua" panose="02040602050305030304" pitchFamily="18" charset="0"/>
                </a:rPr>
                <a:t>transformation</a:t>
              </a:r>
              <a:r>
                <a:rPr lang="hu-HU" dirty="0">
                  <a:latin typeface="Book Antiqua" panose="02040602050305030304" pitchFamily="18" charset="0"/>
                </a:rPr>
                <a:t>:</a:t>
              </a:r>
              <a:endParaRPr lang="en-US" dirty="0"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églalap 23">
                  <a:extLst>
                    <a:ext uri="{FF2B5EF4-FFF2-40B4-BE49-F238E27FC236}">
                      <a16:creationId xmlns:a16="http://schemas.microsoft.com/office/drawing/2014/main" id="{A6D6527B-8727-C55E-CA2A-5A94E94684F0}"/>
                    </a:ext>
                  </a:extLst>
                </p:cNvPr>
                <p:cNvSpPr/>
                <p:nvPr/>
              </p:nvSpPr>
              <p:spPr>
                <a:xfrm>
                  <a:off x="7430572" y="5906772"/>
                  <a:ext cx="68711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u-H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églalap 23">
                  <a:extLst>
                    <a:ext uri="{FF2B5EF4-FFF2-40B4-BE49-F238E27FC236}">
                      <a16:creationId xmlns:a16="http://schemas.microsoft.com/office/drawing/2014/main" id="{A6D6527B-8727-C55E-CA2A-5A94E94684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0572" y="5906772"/>
                  <a:ext cx="687111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Szövegdoboz 1">
            <a:extLst>
              <a:ext uri="{FF2B5EF4-FFF2-40B4-BE49-F238E27FC236}">
                <a16:creationId xmlns:a16="http://schemas.microsoft.com/office/drawing/2014/main" id="{2D71C356-2599-D7DB-BFE1-C38FE2AD0E4F}"/>
              </a:ext>
            </a:extLst>
          </p:cNvPr>
          <p:cNvSpPr txBox="1"/>
          <p:nvPr/>
        </p:nvSpPr>
        <p:spPr>
          <a:xfrm>
            <a:off x="2033485" y="3524026"/>
            <a:ext cx="2161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Scattering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amplitude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for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pointlike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scatterer</a:t>
            </a:r>
            <a:endParaRPr lang="hu-HU" sz="1400" dirty="0">
              <a:latin typeface="Book Antiqua" panose="02040602050305030304" pitchFamily="18" charset="0"/>
            </a:endParaRPr>
          </a:p>
        </p:txBody>
      </p:sp>
      <p:cxnSp>
        <p:nvCxnSpPr>
          <p:cNvPr id="7" name="Összekötő: görbe 6">
            <a:extLst>
              <a:ext uri="{FF2B5EF4-FFF2-40B4-BE49-F238E27FC236}">
                <a16:creationId xmlns:a16="http://schemas.microsoft.com/office/drawing/2014/main" id="{A4A99439-783C-EF15-B092-146BB6456EDB}"/>
              </a:ext>
            </a:extLst>
          </p:cNvPr>
          <p:cNvCxnSpPr>
            <a:cxnSpLocks/>
          </p:cNvCxnSpPr>
          <p:nvPr/>
        </p:nvCxnSpPr>
        <p:spPr>
          <a:xfrm flipV="1">
            <a:off x="3638553" y="3615999"/>
            <a:ext cx="2149418" cy="25269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églalap: lekerekített 37">
            <a:extLst>
              <a:ext uri="{FF2B5EF4-FFF2-40B4-BE49-F238E27FC236}">
                <a16:creationId xmlns:a16="http://schemas.microsoft.com/office/drawing/2014/main" id="{92F958CF-F8D6-BEBC-9A4F-3AA670C86945}"/>
              </a:ext>
            </a:extLst>
          </p:cNvPr>
          <p:cNvSpPr/>
          <p:nvPr/>
        </p:nvSpPr>
        <p:spPr>
          <a:xfrm>
            <a:off x="1839858" y="5274479"/>
            <a:ext cx="8258175" cy="69334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428DF92C-B9ED-EFBE-AA8E-A9CEB1EA16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0661" y="1888346"/>
            <a:ext cx="3610200" cy="288000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11E91544-83D2-04B8-4967-FC19BCEBF499}"/>
              </a:ext>
            </a:extLst>
          </p:cNvPr>
          <p:cNvSpPr txBox="1"/>
          <p:nvPr/>
        </p:nvSpPr>
        <p:spPr>
          <a:xfrm>
            <a:off x="7482253" y="4389275"/>
            <a:ext cx="2161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superposition</a:t>
            </a:r>
            <a:r>
              <a:rPr lang="hu-HU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sz="14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elementary</a:t>
            </a:r>
            <a:r>
              <a:rPr lang="hu-HU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400" b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scatterings</a:t>
            </a:r>
            <a:endParaRPr lang="hu-HU" sz="1400" b="1" dirty="0">
              <a:solidFill>
                <a:schemeClr val="accent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D013C49C-AE31-044A-DD88-B4C6081DF55A}"/>
              </a:ext>
            </a:extLst>
          </p:cNvPr>
          <p:cNvCxnSpPr>
            <a:cxnSpLocks/>
          </p:cNvCxnSpPr>
          <p:nvPr/>
        </p:nvCxnSpPr>
        <p:spPr>
          <a:xfrm flipH="1">
            <a:off x="9382371" y="4605800"/>
            <a:ext cx="2512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B0C954EA-7FEA-427B-35A8-6F5124586EB9}"/>
              </a:ext>
            </a:extLst>
          </p:cNvPr>
          <p:cNvCxnSpPr>
            <a:cxnSpLocks/>
          </p:cNvCxnSpPr>
          <p:nvPr/>
        </p:nvCxnSpPr>
        <p:spPr>
          <a:xfrm flipH="1">
            <a:off x="7314729" y="4708831"/>
            <a:ext cx="2512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309566F4-528A-0044-0B3F-D0240AD8C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68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63410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1018F-1BC7-0491-97CD-A240CFB3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7D9C27-5A71-2650-BC05-586F0456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latin typeface="Book Antiqua" panose="02040602050305030304" pitchFamily="18" charset="0"/>
              </a:rPr>
              <a:t>Nuclear</a:t>
            </a:r>
            <a:r>
              <a:rPr lang="hu-HU" b="1" dirty="0">
                <a:latin typeface="Book Antiqua" panose="02040602050305030304" pitchFamily="18" charset="0"/>
              </a:rPr>
              <a:t> spin </a:t>
            </a:r>
            <a:r>
              <a:rPr lang="hu-HU" dirty="0">
                <a:latin typeface="Book Antiqua" panose="02040602050305030304" pitchFamily="18" charset="0"/>
              </a:rPr>
              <a:t>and </a:t>
            </a:r>
            <a:r>
              <a:rPr lang="hu-HU" dirty="0" err="1">
                <a:latin typeface="Book Antiqua" panose="02040602050305030304" pitchFamily="18" charset="0"/>
              </a:rPr>
              <a:t>magnetic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moment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92FBB20-EA72-FE9B-DA6E-E7E08EADE911}"/>
              </a:ext>
            </a:extLst>
          </p:cNvPr>
          <p:cNvSpPr txBox="1"/>
          <p:nvPr/>
        </p:nvSpPr>
        <p:spPr>
          <a:xfrm>
            <a:off x="1247856" y="3432220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 pitchFamily="18" charset="0"/>
              </a:rPr>
              <a:t>Addition</a:t>
            </a:r>
            <a:r>
              <a:rPr lang="hu-HU" dirty="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 pitchFamily="18" charset="0"/>
              </a:rPr>
              <a:t>angular</a:t>
            </a:r>
            <a:r>
              <a:rPr lang="hu-HU" dirty="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 pitchFamily="18" charset="0"/>
              </a:rPr>
              <a:t>momenta</a:t>
            </a:r>
            <a:r>
              <a:rPr lang="hu-HU" dirty="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 pitchFamily="18" charset="0"/>
              </a:rPr>
              <a:t>: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FF9AEED9-F35B-7E82-5D0A-2844BC8DBC5A}"/>
                  </a:ext>
                </a:extLst>
              </p:cNvPr>
              <p:cNvSpPr txBox="1"/>
              <p:nvPr/>
            </p:nvSpPr>
            <p:spPr>
              <a:xfrm>
                <a:off x="1857459" y="3924595"/>
                <a:ext cx="1403846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hu-HU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acc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hu-HU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</m:acc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hu-HU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</m:acc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FF9AEED9-F35B-7E82-5D0A-2844BC8DB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59" y="3924595"/>
                <a:ext cx="1403846" cy="376770"/>
              </a:xfrm>
              <a:prstGeom prst="rect">
                <a:avLst/>
              </a:prstGeom>
              <a:blipFill>
                <a:blip r:embed="rId2"/>
                <a:stretch>
                  <a:fillRect t="-1613" r="-782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41C94388-E424-46A5-7B48-82D654EEE1DA}"/>
              </a:ext>
            </a:extLst>
          </p:cNvPr>
          <p:cNvGrpSpPr/>
          <p:nvPr/>
        </p:nvGrpSpPr>
        <p:grpSpPr>
          <a:xfrm>
            <a:off x="1581600" y="4301365"/>
            <a:ext cx="1685027" cy="983281"/>
            <a:chOff x="577048" y="4805939"/>
            <a:chExt cx="1685027" cy="983281"/>
          </a:xfrm>
        </p:grpSpPr>
        <p:grpSp>
          <p:nvGrpSpPr>
            <p:cNvPr id="8" name="Csoportba foglalás 7">
              <a:extLst>
                <a:ext uri="{FF2B5EF4-FFF2-40B4-BE49-F238E27FC236}">
                  <a16:creationId xmlns:a16="http://schemas.microsoft.com/office/drawing/2014/main" id="{07B24FAE-A9C2-9851-178B-1A1DC1634C84}"/>
                </a:ext>
              </a:extLst>
            </p:cNvPr>
            <p:cNvGrpSpPr/>
            <p:nvPr/>
          </p:nvGrpSpPr>
          <p:grpSpPr>
            <a:xfrm>
              <a:off x="577048" y="4805939"/>
              <a:ext cx="460382" cy="928779"/>
              <a:chOff x="577048" y="4805939"/>
              <a:chExt cx="460382" cy="928779"/>
            </a:xfrm>
          </p:grpSpPr>
          <p:cxnSp>
            <p:nvCxnSpPr>
              <p:cNvPr id="15" name="Egyenes összekötő nyíllal 14">
                <a:extLst>
                  <a:ext uri="{FF2B5EF4-FFF2-40B4-BE49-F238E27FC236}">
                    <a16:creationId xmlns:a16="http://schemas.microsoft.com/office/drawing/2014/main" id="{83943F28-E56A-A947-CAD9-7A3A2F7FDF74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 flipH="1">
                <a:off x="807239" y="4805939"/>
                <a:ext cx="173367" cy="378179"/>
              </a:xfrm>
              <a:prstGeom prst="straightConnector1">
                <a:avLst/>
              </a:prstGeom>
              <a:ln>
                <a:solidFill>
                  <a:schemeClr val="accent2">
                    <a:lumMod val="40000"/>
                    <a:lumOff val="6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Szövegdoboz 15">
                    <a:extLst>
                      <a:ext uri="{FF2B5EF4-FFF2-40B4-BE49-F238E27FC236}">
                        <a16:creationId xmlns:a16="http://schemas.microsoft.com/office/drawing/2014/main" id="{B0581F1F-2039-5B6F-0857-C000BE42309F}"/>
                      </a:ext>
                    </a:extLst>
                  </p:cNvPr>
                  <p:cNvSpPr txBox="1"/>
                  <p:nvPr/>
                </p:nvSpPr>
                <p:spPr>
                  <a:xfrm>
                    <a:off x="577048" y="5184118"/>
                    <a:ext cx="460382" cy="55060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mr>
                          </m:m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Szövegdoboz 15">
                    <a:extLst>
                      <a:ext uri="{FF2B5EF4-FFF2-40B4-BE49-F238E27FC236}">
                        <a16:creationId xmlns:a16="http://schemas.microsoft.com/office/drawing/2014/main" id="{B0581F1F-2039-5B6F-0857-C000BE4230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048" y="5184118"/>
                    <a:ext cx="460382" cy="5506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u-H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" name="Csoportba foglalás 8">
              <a:extLst>
                <a:ext uri="{FF2B5EF4-FFF2-40B4-BE49-F238E27FC236}">
                  <a16:creationId xmlns:a16="http://schemas.microsoft.com/office/drawing/2014/main" id="{4C046AA1-6A3F-EDBE-2EB5-EE5CDE8BD911}"/>
                </a:ext>
              </a:extLst>
            </p:cNvPr>
            <p:cNvGrpSpPr/>
            <p:nvPr/>
          </p:nvGrpSpPr>
          <p:grpSpPr>
            <a:xfrm>
              <a:off x="1144865" y="4817993"/>
              <a:ext cx="544765" cy="971227"/>
              <a:chOff x="355379" y="4719059"/>
              <a:chExt cx="544765" cy="971227"/>
            </a:xfrm>
          </p:grpSpPr>
          <p:cxnSp>
            <p:nvCxnSpPr>
              <p:cNvPr id="13" name="Egyenes összekötő nyíllal 12">
                <a:extLst>
                  <a:ext uri="{FF2B5EF4-FFF2-40B4-BE49-F238E27FC236}">
                    <a16:creationId xmlns:a16="http://schemas.microsoft.com/office/drawing/2014/main" id="{9843C61C-37C0-1544-4C85-A1044B5C5AF5}"/>
                  </a:ext>
                </a:extLst>
              </p:cNvPr>
              <p:cNvCxnSpPr>
                <a:endCxn id="14" idx="0"/>
              </p:cNvCxnSpPr>
              <p:nvPr/>
            </p:nvCxnSpPr>
            <p:spPr>
              <a:xfrm>
                <a:off x="627761" y="4719059"/>
                <a:ext cx="1" cy="366125"/>
              </a:xfrm>
              <a:prstGeom prst="straightConnector1">
                <a:avLst/>
              </a:prstGeom>
              <a:ln>
                <a:solidFill>
                  <a:schemeClr val="accent2">
                    <a:lumMod val="40000"/>
                    <a:lumOff val="6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Szövegdoboz 13">
                    <a:extLst>
                      <a:ext uri="{FF2B5EF4-FFF2-40B4-BE49-F238E27FC236}">
                        <a16:creationId xmlns:a16="http://schemas.microsoft.com/office/drawing/2014/main" id="{90E5CAE3-B1F3-89D2-00D5-D90F9C0C02E4}"/>
                      </a:ext>
                    </a:extLst>
                  </p:cNvPr>
                  <p:cNvSpPr txBox="1"/>
                  <p:nvPr/>
                </p:nvSpPr>
                <p:spPr>
                  <a:xfrm>
                    <a:off x="355379" y="5085184"/>
                    <a:ext cx="544765" cy="60510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" name="Szövegdoboz 13">
                    <a:extLst>
                      <a:ext uri="{FF2B5EF4-FFF2-40B4-BE49-F238E27FC236}">
                        <a16:creationId xmlns:a16="http://schemas.microsoft.com/office/drawing/2014/main" id="{90E5CAE3-B1F3-89D2-00D5-D90F9C0C02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379" y="5085184"/>
                    <a:ext cx="544765" cy="60510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u-H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" name="Csoportba foglalás 9">
              <a:extLst>
                <a:ext uri="{FF2B5EF4-FFF2-40B4-BE49-F238E27FC236}">
                  <a16:creationId xmlns:a16="http://schemas.microsoft.com/office/drawing/2014/main" id="{84B73308-1B3F-B5E1-8D00-10AAEC1E5FA4}"/>
                </a:ext>
              </a:extLst>
            </p:cNvPr>
            <p:cNvGrpSpPr/>
            <p:nvPr/>
          </p:nvGrpSpPr>
          <p:grpSpPr>
            <a:xfrm>
              <a:off x="1711988" y="4817993"/>
              <a:ext cx="550087" cy="971227"/>
              <a:chOff x="355379" y="4719059"/>
              <a:chExt cx="550087" cy="971227"/>
            </a:xfrm>
          </p:grpSpPr>
          <p:cxnSp>
            <p:nvCxnSpPr>
              <p:cNvPr id="11" name="Egyenes összekötő nyíllal 10">
                <a:extLst>
                  <a:ext uri="{FF2B5EF4-FFF2-40B4-BE49-F238E27FC236}">
                    <a16:creationId xmlns:a16="http://schemas.microsoft.com/office/drawing/2014/main" id="{1169895B-00F7-880B-73E4-2B46A50991F6}"/>
                  </a:ext>
                </a:extLst>
              </p:cNvPr>
              <p:cNvCxnSpPr>
                <a:endCxn id="12" idx="0"/>
              </p:cNvCxnSpPr>
              <p:nvPr/>
            </p:nvCxnSpPr>
            <p:spPr>
              <a:xfrm>
                <a:off x="627761" y="4719059"/>
                <a:ext cx="2662" cy="366125"/>
              </a:xfrm>
              <a:prstGeom prst="straightConnector1">
                <a:avLst/>
              </a:prstGeom>
              <a:ln>
                <a:solidFill>
                  <a:schemeClr val="accent2">
                    <a:lumMod val="40000"/>
                    <a:lumOff val="6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Szövegdoboz 11">
                    <a:extLst>
                      <a:ext uri="{FF2B5EF4-FFF2-40B4-BE49-F238E27FC236}">
                        <a16:creationId xmlns:a16="http://schemas.microsoft.com/office/drawing/2014/main" id="{2ACEC13B-F234-1D50-CEF0-9BE7E5FE666F}"/>
                      </a:ext>
                    </a:extLst>
                  </p:cNvPr>
                  <p:cNvSpPr txBox="1"/>
                  <p:nvPr/>
                </p:nvSpPr>
                <p:spPr>
                  <a:xfrm>
                    <a:off x="355379" y="5085184"/>
                    <a:ext cx="550087" cy="60510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Szövegdoboz 11">
                    <a:extLst>
                      <a:ext uri="{FF2B5EF4-FFF2-40B4-BE49-F238E27FC236}">
                        <a16:creationId xmlns:a16="http://schemas.microsoft.com/office/drawing/2014/main" id="{2ACEC13B-F234-1D50-CEF0-9BE7E5FE66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379" y="5085184"/>
                    <a:ext cx="550087" cy="60510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u-H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CE77FF00-11DF-645A-5BED-F827D6FCF760}"/>
              </a:ext>
            </a:extLst>
          </p:cNvPr>
          <p:cNvGrpSpPr/>
          <p:nvPr/>
        </p:nvGrpSpPr>
        <p:grpSpPr>
          <a:xfrm>
            <a:off x="3473475" y="3907351"/>
            <a:ext cx="7614865" cy="1181724"/>
            <a:chOff x="2483768" y="4423625"/>
            <a:chExt cx="7614865" cy="1181724"/>
          </a:xfrm>
        </p:grpSpPr>
        <p:grpSp>
          <p:nvGrpSpPr>
            <p:cNvPr id="18" name="Csoportba foglalás 17">
              <a:extLst>
                <a:ext uri="{FF2B5EF4-FFF2-40B4-BE49-F238E27FC236}">
                  <a16:creationId xmlns:a16="http://schemas.microsoft.com/office/drawing/2014/main" id="{C523646E-4A21-0EF8-BAD7-BCE564879B2A}"/>
                </a:ext>
              </a:extLst>
            </p:cNvPr>
            <p:cNvGrpSpPr/>
            <p:nvPr/>
          </p:nvGrpSpPr>
          <p:grpSpPr>
            <a:xfrm>
              <a:off x="2483768" y="4423625"/>
              <a:ext cx="7614865" cy="371495"/>
              <a:chOff x="2483768" y="4423625"/>
              <a:chExt cx="7614865" cy="371495"/>
            </a:xfrm>
          </p:grpSpPr>
          <p:sp>
            <p:nvSpPr>
              <p:cNvPr id="20" name="Jobbra nyíl 51">
                <a:extLst>
                  <a:ext uri="{FF2B5EF4-FFF2-40B4-BE49-F238E27FC236}">
                    <a16:creationId xmlns:a16="http://schemas.microsoft.com/office/drawing/2014/main" id="{D6E4AF02-82C3-8E5D-B65B-0061C7755A40}"/>
                  </a:ext>
                </a:extLst>
              </p:cNvPr>
              <p:cNvSpPr/>
              <p:nvPr/>
            </p:nvSpPr>
            <p:spPr>
              <a:xfrm>
                <a:off x="2483768" y="4423625"/>
                <a:ext cx="640432" cy="360040"/>
              </a:xfrm>
              <a:prstGeom prst="rightArrow">
                <a:avLst/>
              </a:prstGeom>
              <a:no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Szövegdoboz 20">
                <a:extLst>
                  <a:ext uri="{FF2B5EF4-FFF2-40B4-BE49-F238E27FC236}">
                    <a16:creationId xmlns:a16="http://schemas.microsoft.com/office/drawing/2014/main" id="{0FDAF575-4E7D-A2CB-5958-232422B0A137}"/>
                  </a:ext>
                </a:extLst>
              </p:cNvPr>
              <p:cNvSpPr txBox="1"/>
              <p:nvPr/>
            </p:nvSpPr>
            <p:spPr>
              <a:xfrm>
                <a:off x="3296771" y="4425788"/>
                <a:ext cx="6801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i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latin typeface="Book Antiqua" panose="02040602050305030304" pitchFamily="18" charset="0"/>
                  </a:rPr>
                  <a:t>express the addition of two angular momenta in terms of a third</a:t>
                </a:r>
                <a:r>
                  <a:rPr lang="hu-H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Book Antiqua" panose="02040602050305030304" pitchFamily="18" charset="0"/>
                  </a:rPr>
                  <a:t>:</a:t>
                </a:r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ook Antiqua" panose="0204060205030503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Szövegdoboz 18">
                  <a:extLst>
                    <a:ext uri="{FF2B5EF4-FFF2-40B4-BE49-F238E27FC236}">
                      <a16:creationId xmlns:a16="http://schemas.microsoft.com/office/drawing/2014/main" id="{4EEC52FD-1C9E-9EF7-691A-DD0B1F23F9BC}"/>
                    </a:ext>
                  </a:extLst>
                </p:cNvPr>
                <p:cNvSpPr txBox="1"/>
                <p:nvPr/>
              </p:nvSpPr>
              <p:spPr>
                <a:xfrm>
                  <a:off x="3944382" y="4676953"/>
                  <a:ext cx="4434611" cy="9283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/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"/>
                                    <m:ctrlP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hu-HU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hu-HU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hu-HU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hu-HU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  <m:d>
                              <m:dPr>
                                <m:begChr m:val="⟨"/>
                                <m:endChr m:val="⟩"/>
                                <m:ctrlPr>
                                  <a:rPr lang="hu-HU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Szövegdoboz 18">
                  <a:extLst>
                    <a:ext uri="{FF2B5EF4-FFF2-40B4-BE49-F238E27FC236}">
                      <a16:creationId xmlns:a16="http://schemas.microsoft.com/office/drawing/2014/main" id="{4EEC52FD-1C9E-9EF7-691A-DD0B1F23F9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4382" y="4676953"/>
                  <a:ext cx="4434611" cy="92839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Csoportba foglalás 21">
            <a:extLst>
              <a:ext uri="{FF2B5EF4-FFF2-40B4-BE49-F238E27FC236}">
                <a16:creationId xmlns:a16="http://schemas.microsoft.com/office/drawing/2014/main" id="{803BC303-56CE-1B1E-FCC8-B2EB35081406}"/>
              </a:ext>
            </a:extLst>
          </p:cNvPr>
          <p:cNvGrpSpPr/>
          <p:nvPr/>
        </p:nvGrpSpPr>
        <p:grpSpPr>
          <a:xfrm>
            <a:off x="6047623" y="4807071"/>
            <a:ext cx="1937582" cy="691673"/>
            <a:chOff x="5043071" y="5311645"/>
            <a:chExt cx="1937582" cy="691673"/>
          </a:xfrm>
        </p:grpSpPr>
        <p:sp>
          <p:nvSpPr>
            <p:cNvPr id="23" name="Jobb oldali kapcsos zárójel 22">
              <a:extLst>
                <a:ext uri="{FF2B5EF4-FFF2-40B4-BE49-F238E27FC236}">
                  <a16:creationId xmlns:a16="http://schemas.microsoft.com/office/drawing/2014/main" id="{18962BFE-0502-0F52-6F84-14A6D1FB5EFD}"/>
                </a:ext>
              </a:extLst>
            </p:cNvPr>
            <p:cNvSpPr/>
            <p:nvPr/>
          </p:nvSpPr>
          <p:spPr>
            <a:xfrm rot="5400000">
              <a:off x="5873450" y="4837841"/>
              <a:ext cx="276825" cy="1224433"/>
            </a:xfrm>
            <a:prstGeom prst="rightBrac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églalap 23">
                  <a:extLst>
                    <a:ext uri="{FF2B5EF4-FFF2-40B4-BE49-F238E27FC236}">
                      <a16:creationId xmlns:a16="http://schemas.microsoft.com/office/drawing/2014/main" id="{3E8A1749-4630-D715-6FD5-F4C4E968F3A4}"/>
                    </a:ext>
                  </a:extLst>
                </p:cNvPr>
                <p:cNvSpPr/>
                <p:nvPr/>
              </p:nvSpPr>
              <p:spPr>
                <a:xfrm>
                  <a:off x="5043071" y="5598335"/>
                  <a:ext cx="1937582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hu-H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hu-H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hu-H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églalap 23">
                  <a:extLst>
                    <a:ext uri="{FF2B5EF4-FFF2-40B4-BE49-F238E27FC236}">
                      <a16:creationId xmlns:a16="http://schemas.microsoft.com/office/drawing/2014/main" id="{3E8A1749-4630-D715-6FD5-F4C4E968F3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3071" y="5598335"/>
                  <a:ext cx="1937582" cy="404983"/>
                </a:xfrm>
                <a:prstGeom prst="rect">
                  <a:avLst/>
                </a:prstGeom>
                <a:blipFill>
                  <a:blip r:embed="rId7"/>
                  <a:stretch>
                    <a:fillRect l="-20755" t="-156061" r="-28302" b="-23333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Csoportba foglalás 24">
            <a:extLst>
              <a:ext uri="{FF2B5EF4-FFF2-40B4-BE49-F238E27FC236}">
                <a16:creationId xmlns:a16="http://schemas.microsoft.com/office/drawing/2014/main" id="{A86FA6D1-D911-3835-6688-D906235B0407}"/>
              </a:ext>
            </a:extLst>
          </p:cNvPr>
          <p:cNvGrpSpPr/>
          <p:nvPr/>
        </p:nvGrpSpPr>
        <p:grpSpPr>
          <a:xfrm>
            <a:off x="7687409" y="4779600"/>
            <a:ext cx="3259633" cy="1237491"/>
            <a:chOff x="6682857" y="5284174"/>
            <a:chExt cx="3259633" cy="1237491"/>
          </a:xfrm>
        </p:grpSpPr>
        <p:sp>
          <p:nvSpPr>
            <p:cNvPr id="26" name="Jobb oldali kapcsos zárójel 25">
              <a:extLst>
                <a:ext uri="{FF2B5EF4-FFF2-40B4-BE49-F238E27FC236}">
                  <a16:creationId xmlns:a16="http://schemas.microsoft.com/office/drawing/2014/main" id="{88B4E0AF-8B7B-07AA-0B28-805B38D9C1C2}"/>
                </a:ext>
              </a:extLst>
            </p:cNvPr>
            <p:cNvSpPr/>
            <p:nvPr/>
          </p:nvSpPr>
          <p:spPr>
            <a:xfrm rot="5400000">
              <a:off x="7335050" y="4631981"/>
              <a:ext cx="304298" cy="1608683"/>
            </a:xfrm>
            <a:prstGeom prst="rightBrac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Szövegdoboz 26">
              <a:extLst>
                <a:ext uri="{FF2B5EF4-FFF2-40B4-BE49-F238E27FC236}">
                  <a16:creationId xmlns:a16="http://schemas.microsoft.com/office/drawing/2014/main" id="{D163543F-51D5-B063-751D-40A0F0933AA6}"/>
                </a:ext>
              </a:extLst>
            </p:cNvPr>
            <p:cNvSpPr txBox="1"/>
            <p:nvPr/>
          </p:nvSpPr>
          <p:spPr>
            <a:xfrm>
              <a:off x="6876256" y="5598335"/>
              <a:ext cx="30662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Book Antiqua" panose="02040602050305030304" pitchFamily="18" charset="0"/>
                </a:rPr>
                <a:t>Clebsch-Gordan</a:t>
              </a:r>
              <a:endParaRPr lang="hu-HU" dirty="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 pitchFamily="18" charset="0"/>
              </a:endParaRPr>
            </a:p>
            <a:p>
              <a:r>
                <a:rPr lang="hu-HU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Book Antiqua" panose="02040602050305030304" pitchFamily="18" charset="0"/>
                </a:rPr>
                <a:t>Coeff</a:t>
              </a:r>
              <a:r>
                <a:rPr lang="hu-HU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ook Antiqua" panose="02040602050305030304" pitchFamily="18" charset="0"/>
                </a:rPr>
                <a:t>., (</a:t>
              </a:r>
              <a:r>
                <a:rPr lang="hu-HU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Book Antiqua" panose="02040602050305030304" pitchFamily="18" charset="0"/>
                </a:rPr>
                <a:t>angular</a:t>
              </a:r>
              <a:r>
                <a:rPr lang="hu-HU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ook Antiqua" panose="02040602050305030304" pitchFamily="18" charset="0"/>
                </a:rPr>
                <a:t> momentum </a:t>
              </a:r>
              <a:r>
                <a:rPr lang="hu-HU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Book Antiqua" panose="02040602050305030304" pitchFamily="18" charset="0"/>
                </a:rPr>
                <a:t>conservation</a:t>
              </a:r>
              <a:r>
                <a:rPr lang="hu-HU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ook Antiqua" panose="02040602050305030304" pitchFamily="18" charset="0"/>
                </a:rPr>
                <a:t>)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28" name="Csoportba foglalás 27">
            <a:extLst>
              <a:ext uri="{FF2B5EF4-FFF2-40B4-BE49-F238E27FC236}">
                <a16:creationId xmlns:a16="http://schemas.microsoft.com/office/drawing/2014/main" id="{3A8732B0-EE0E-D3E0-5A5D-61B4C14591AF}"/>
              </a:ext>
            </a:extLst>
          </p:cNvPr>
          <p:cNvGrpSpPr/>
          <p:nvPr/>
        </p:nvGrpSpPr>
        <p:grpSpPr>
          <a:xfrm>
            <a:off x="1254954" y="5146715"/>
            <a:ext cx="3711943" cy="1023892"/>
            <a:chOff x="250402" y="5651289"/>
            <a:chExt cx="3711943" cy="1023892"/>
          </a:xfrm>
        </p:grpSpPr>
        <p:sp>
          <p:nvSpPr>
            <p:cNvPr id="29" name="Jobb oldali kapcsos zárójel 28">
              <a:extLst>
                <a:ext uri="{FF2B5EF4-FFF2-40B4-BE49-F238E27FC236}">
                  <a16:creationId xmlns:a16="http://schemas.microsoft.com/office/drawing/2014/main" id="{4B9BD6CF-394E-AC79-4786-35D0D4948E55}"/>
                </a:ext>
              </a:extLst>
            </p:cNvPr>
            <p:cNvSpPr/>
            <p:nvPr/>
          </p:nvSpPr>
          <p:spPr>
            <a:xfrm rot="5400000">
              <a:off x="1217521" y="5069876"/>
              <a:ext cx="352029" cy="1514856"/>
            </a:xfrm>
            <a:prstGeom prst="rightBrac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Szövegdoboz 29">
              <a:extLst>
                <a:ext uri="{FF2B5EF4-FFF2-40B4-BE49-F238E27FC236}">
                  <a16:creationId xmlns:a16="http://schemas.microsoft.com/office/drawing/2014/main" id="{9274F34B-76A0-808E-78BD-397F067558D5}"/>
                </a:ext>
              </a:extLst>
            </p:cNvPr>
            <p:cNvSpPr txBox="1"/>
            <p:nvPr/>
          </p:nvSpPr>
          <p:spPr>
            <a:xfrm>
              <a:off x="250402" y="6013067"/>
              <a:ext cx="13655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Book Antiqua" panose="02040602050305030304" pitchFamily="18" charset="0"/>
                </a:rPr>
                <a:t>Summation</a:t>
              </a:r>
              <a:r>
                <a:rPr lang="hu-HU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Book Antiqua" panose="02040602050305030304" pitchFamily="18" charset="0"/>
                </a:rPr>
                <a:t>rules</a:t>
              </a:r>
              <a:r>
                <a:rPr lang="hu-HU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ook Antiqua" panose="02040602050305030304" pitchFamily="18" charset="0"/>
                </a:rPr>
                <a:t>: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églalap 30">
                  <a:extLst>
                    <a:ext uri="{FF2B5EF4-FFF2-40B4-BE49-F238E27FC236}">
                      <a16:creationId xmlns:a16="http://schemas.microsoft.com/office/drawing/2014/main" id="{BB973D93-6430-D89F-80E0-2537B9924FAC}"/>
                    </a:ext>
                  </a:extLst>
                </p:cNvPr>
                <p:cNvSpPr/>
                <p:nvPr/>
              </p:nvSpPr>
              <p:spPr>
                <a:xfrm>
                  <a:off x="1615933" y="5926563"/>
                  <a:ext cx="2346412" cy="369332"/>
                </a:xfrm>
                <a:prstGeom prst="rect">
                  <a:avLst/>
                </a:prstGeom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hu-H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hu-HU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églalap 30">
                  <a:extLst>
                    <a:ext uri="{FF2B5EF4-FFF2-40B4-BE49-F238E27FC236}">
                      <a16:creationId xmlns:a16="http://schemas.microsoft.com/office/drawing/2014/main" id="{BB973D93-6430-D89F-80E0-2537B9924F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5933" y="5926563"/>
                  <a:ext cx="234641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Szövegdoboz 31">
                  <a:extLst>
                    <a:ext uri="{FF2B5EF4-FFF2-40B4-BE49-F238E27FC236}">
                      <a16:creationId xmlns:a16="http://schemas.microsoft.com/office/drawing/2014/main" id="{E85DA20F-05C7-2E4F-F7CA-EEA51A68C9BF}"/>
                    </a:ext>
                  </a:extLst>
                </p:cNvPr>
                <p:cNvSpPr txBox="1"/>
                <p:nvPr/>
              </p:nvSpPr>
              <p:spPr>
                <a:xfrm>
                  <a:off x="1904022" y="6305849"/>
                  <a:ext cx="1625958" cy="369332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u-HU" dirty="0"/>
                </a:p>
              </p:txBody>
            </p:sp>
          </mc:Choice>
          <mc:Fallback xmlns="">
            <p:sp>
              <p:nvSpPr>
                <p:cNvPr id="32" name="Szövegdoboz 31">
                  <a:extLst>
                    <a:ext uri="{FF2B5EF4-FFF2-40B4-BE49-F238E27FC236}">
                      <a16:creationId xmlns:a16="http://schemas.microsoft.com/office/drawing/2014/main" id="{E85DA20F-05C7-2E4F-F7CA-EEA51A68C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4022" y="6305849"/>
                  <a:ext cx="162595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Csoportba foglalás 32">
            <a:extLst>
              <a:ext uri="{FF2B5EF4-FFF2-40B4-BE49-F238E27FC236}">
                <a16:creationId xmlns:a16="http://schemas.microsoft.com/office/drawing/2014/main" id="{01C7FA63-D4B3-963C-C1AB-F67C74D58B2A}"/>
              </a:ext>
            </a:extLst>
          </p:cNvPr>
          <p:cNvGrpSpPr/>
          <p:nvPr/>
        </p:nvGrpSpPr>
        <p:grpSpPr>
          <a:xfrm>
            <a:off x="2559382" y="1871554"/>
            <a:ext cx="5011128" cy="572144"/>
            <a:chOff x="-563743" y="919807"/>
            <a:chExt cx="5011128" cy="572144"/>
          </a:xfrm>
        </p:grpSpPr>
        <p:sp>
          <p:nvSpPr>
            <p:cNvPr id="34" name="Szövegdoboz 33">
              <a:extLst>
                <a:ext uri="{FF2B5EF4-FFF2-40B4-BE49-F238E27FC236}">
                  <a16:creationId xmlns:a16="http://schemas.microsoft.com/office/drawing/2014/main" id="{19D37D1A-6B9C-3C52-72F9-EDA42A75C8EB}"/>
                </a:ext>
              </a:extLst>
            </p:cNvPr>
            <p:cNvSpPr txBox="1"/>
            <p:nvPr/>
          </p:nvSpPr>
          <p:spPr>
            <a:xfrm>
              <a:off x="-563743" y="1040578"/>
              <a:ext cx="2820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Nuclear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-spin </a:t>
              </a:r>
              <a:r>
                <a:rPr lang="hu-HU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eigenstates</a:t>
              </a:r>
              <a:r>
                <a:rPr lang="hu-H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:</a:t>
              </a:r>
              <a:endPara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églalap 34">
                  <a:extLst>
                    <a:ext uri="{FF2B5EF4-FFF2-40B4-BE49-F238E27FC236}">
                      <a16:creationId xmlns:a16="http://schemas.microsoft.com/office/drawing/2014/main" id="{6F920E7B-A101-260C-BD70-5623ABA9184D}"/>
                    </a:ext>
                  </a:extLst>
                </p:cNvPr>
                <p:cNvSpPr/>
                <p:nvPr/>
              </p:nvSpPr>
              <p:spPr>
                <a:xfrm>
                  <a:off x="2058911" y="919807"/>
                  <a:ext cx="2388474" cy="5721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  <m:r>
                          <a:rPr lang="hu-H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Sup>
                          <m:sSubSupPr>
                            <m:ctrlPr>
                              <a:rPr lang="hu-H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hu-H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d>
                          <m:dPr>
                            <m:begChr m:val=""/>
                            <m:endChr m:val="⟩"/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hu-H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hu-H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hu-HU" b="0" i="1" smtClean="0">
                                        <a:latin typeface="Cambria Math" panose="02040503050406030204" pitchFamily="18" charset="0"/>
                                      </a:rPr>
                                      <m:t>𝑗𝑖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églalap 34">
                  <a:extLst>
                    <a:ext uri="{FF2B5EF4-FFF2-40B4-BE49-F238E27FC236}">
                      <a16:creationId xmlns:a16="http://schemas.microsoft.com/office/drawing/2014/main" id="{6F920E7B-A101-260C-BD70-5623ABA918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8911" y="919807"/>
                  <a:ext cx="2388474" cy="57214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Csoportba foglalás 35">
            <a:extLst>
              <a:ext uri="{FF2B5EF4-FFF2-40B4-BE49-F238E27FC236}">
                <a16:creationId xmlns:a16="http://schemas.microsoft.com/office/drawing/2014/main" id="{7099E9C6-0C2C-3C06-0DB7-65E05DB9FB8D}"/>
              </a:ext>
            </a:extLst>
          </p:cNvPr>
          <p:cNvGrpSpPr/>
          <p:nvPr/>
        </p:nvGrpSpPr>
        <p:grpSpPr>
          <a:xfrm>
            <a:off x="4286478" y="2372803"/>
            <a:ext cx="7231361" cy="670291"/>
            <a:chOff x="827584" y="1705454"/>
            <a:chExt cx="7299082" cy="670291"/>
          </a:xfrm>
        </p:grpSpPr>
        <p:cxnSp>
          <p:nvCxnSpPr>
            <p:cNvPr id="37" name="Egyenes összekötő nyíllal 36">
              <a:extLst>
                <a:ext uri="{FF2B5EF4-FFF2-40B4-BE49-F238E27FC236}">
                  <a16:creationId xmlns:a16="http://schemas.microsoft.com/office/drawing/2014/main" id="{986486EC-20D7-0A7A-4DA2-E4D937DD8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3688" y="1705454"/>
              <a:ext cx="236688" cy="2833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gyenes összekötő nyíllal 37">
              <a:extLst>
                <a:ext uri="{FF2B5EF4-FFF2-40B4-BE49-F238E27FC236}">
                  <a16:creationId xmlns:a16="http://schemas.microsoft.com/office/drawing/2014/main" id="{A3B6643D-5800-284D-AFF2-9040CB5382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66020" y="1784480"/>
              <a:ext cx="233496" cy="2833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Szövegdoboz 38">
              <a:extLst>
                <a:ext uri="{FF2B5EF4-FFF2-40B4-BE49-F238E27FC236}">
                  <a16:creationId xmlns:a16="http://schemas.microsoft.com/office/drawing/2014/main" id="{F9556623-1A31-2AA5-3734-88940692261D}"/>
                </a:ext>
              </a:extLst>
            </p:cNvPr>
            <p:cNvSpPr txBox="1"/>
            <p:nvPr/>
          </p:nvSpPr>
          <p:spPr>
            <a:xfrm>
              <a:off x="827584" y="1988840"/>
              <a:ext cx="1014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latin typeface="Book Antiqua" panose="02040602050305030304" pitchFamily="18" charset="0"/>
                </a:rPr>
                <a:t>nucleus</a:t>
              </a:r>
              <a:endParaRPr lang="en-US" b="1" dirty="0">
                <a:latin typeface="Book Antiqua" panose="02040602050305030304" pitchFamily="18" charset="0"/>
              </a:endParaRPr>
            </a:p>
          </p:txBody>
        </p:sp>
        <p:sp>
          <p:nvSpPr>
            <p:cNvPr id="40" name="Szövegdoboz 39">
              <a:extLst>
                <a:ext uri="{FF2B5EF4-FFF2-40B4-BE49-F238E27FC236}">
                  <a16:creationId xmlns:a16="http://schemas.microsoft.com/office/drawing/2014/main" id="{EC19C068-D985-EA5D-21C2-BFA0EBD23698}"/>
                </a:ext>
              </a:extLst>
            </p:cNvPr>
            <p:cNvSpPr txBox="1"/>
            <p:nvPr/>
          </p:nvSpPr>
          <p:spPr>
            <a:xfrm>
              <a:off x="2445492" y="2006413"/>
              <a:ext cx="5681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b="1" dirty="0" err="1">
                  <a:latin typeface="Book Antiqua" panose="02040602050305030304" pitchFamily="18" charset="0"/>
                </a:rPr>
                <a:t>single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latin typeface="Book Antiqua" panose="02040602050305030304" pitchFamily="18" charset="0"/>
                </a:rPr>
                <a:t>nucleon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i="1" dirty="0" err="1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Book Antiqua" panose="02040602050305030304" pitchFamily="18" charset="0"/>
                </a:rPr>
                <a:t>total</a:t>
              </a:r>
              <a:r>
                <a:rPr lang="hu-HU" b="1" dirty="0">
                  <a:latin typeface="Book Antiqua" panose="02040602050305030304" pitchFamily="18" charset="0"/>
                </a:rPr>
                <a:t> </a:t>
              </a:r>
              <a:r>
                <a:rPr lang="hu-HU" b="1" dirty="0" err="1">
                  <a:latin typeface="Book Antiqua" panose="02040602050305030304" pitchFamily="18" charset="0"/>
                </a:rPr>
                <a:t>angular</a:t>
              </a:r>
              <a:r>
                <a:rPr lang="hu-HU" b="1" dirty="0">
                  <a:latin typeface="Book Antiqua" panose="02040602050305030304" pitchFamily="18" charset="0"/>
                </a:rPr>
                <a:t> momentum </a:t>
              </a:r>
              <a:r>
                <a:rPr lang="hu-HU" b="1" dirty="0" err="1">
                  <a:latin typeface="Book Antiqua" panose="02040602050305030304" pitchFamily="18" charset="0"/>
                </a:rPr>
                <a:t>eigenstates</a:t>
              </a:r>
              <a:endParaRPr lang="en-US" b="1" dirty="0">
                <a:latin typeface="Book Antiqua" panose="02040602050305030304" pitchFamily="18" charset="0"/>
              </a:endParaRPr>
            </a:p>
          </p:txBody>
        </p:sp>
      </p:grpSp>
      <p:sp>
        <p:nvSpPr>
          <p:cNvPr id="3" name="Szövegdoboz 2">
            <a:extLst>
              <a:ext uri="{FF2B5EF4-FFF2-40B4-BE49-F238E27FC236}">
                <a16:creationId xmlns:a16="http://schemas.microsoft.com/office/drawing/2014/main" id="{8E16CC55-4381-38ED-34C8-5F72255FD807}"/>
              </a:ext>
            </a:extLst>
          </p:cNvPr>
          <p:cNvSpPr txBox="1"/>
          <p:nvPr/>
        </p:nvSpPr>
        <p:spPr>
          <a:xfrm>
            <a:off x="103032" y="3025521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>
                <a:latin typeface="Book Antiqua" panose="02040602050305030304" pitchFamily="18" charset="0"/>
              </a:rPr>
              <a:t>*</a:t>
            </a:r>
            <a:r>
              <a:rPr lang="hu-HU" b="1" u="sng" dirty="0" err="1">
                <a:latin typeface="Book Antiqua" panose="02040602050305030304" pitchFamily="18" charset="0"/>
              </a:rPr>
              <a:t>Supplementary</a:t>
            </a:r>
            <a:r>
              <a:rPr lang="hu-HU" b="1" u="sng" dirty="0"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latin typeface="Book Antiqua" panose="02040602050305030304" pitchFamily="18" charset="0"/>
              </a:rPr>
              <a:t>material</a:t>
            </a:r>
            <a:r>
              <a:rPr lang="hu-HU" b="1" u="sng" dirty="0">
                <a:latin typeface="Book Antiqua" panose="02040602050305030304" pitchFamily="18" charset="0"/>
              </a:rPr>
              <a:t>:</a:t>
            </a: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3D7A36B9-D1D3-327F-4DF2-3F0EDD4BC8A4}"/>
              </a:ext>
            </a:extLst>
          </p:cNvPr>
          <p:cNvSpPr/>
          <p:nvPr/>
        </p:nvSpPr>
        <p:spPr>
          <a:xfrm>
            <a:off x="740535" y="3394853"/>
            <a:ext cx="10554237" cy="2864279"/>
          </a:xfrm>
          <a:prstGeom prst="roundRect">
            <a:avLst/>
          </a:prstGeom>
          <a:noFill/>
          <a:ln w="38100">
            <a:solidFill>
              <a:schemeClr val="accent1">
                <a:lumMod val="25000"/>
                <a:lumOff val="7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Dia számának helye 40">
            <a:extLst>
              <a:ext uri="{FF2B5EF4-FFF2-40B4-BE49-F238E27FC236}">
                <a16:creationId xmlns:a16="http://schemas.microsoft.com/office/drawing/2014/main" id="{CCFC15F0-3847-978C-8625-38FC6E81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69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87266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52CB2-165E-5888-E861-4B7360C6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9F73E8-B246-37AE-7A1C-99641C39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spin and </a:t>
            </a:r>
            <a:r>
              <a:rPr lang="hu-HU" b="1" dirty="0" err="1">
                <a:latin typeface="Book Antiqua" panose="02040602050305030304" pitchFamily="18" charset="0"/>
              </a:rPr>
              <a:t>magnetic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moment</a:t>
            </a:r>
            <a:endParaRPr lang="hu-HU" b="1" dirty="0"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áblázat 2">
                <a:extLst>
                  <a:ext uri="{FF2B5EF4-FFF2-40B4-BE49-F238E27FC236}">
                    <a16:creationId xmlns:a16="http://schemas.microsoft.com/office/drawing/2014/main" id="{EB5D0C02-3095-AC44-8028-B01703E72D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084759" y="1913966"/>
              <a:ext cx="2990025" cy="11125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966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66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66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proton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neutron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hu-HU" i="1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hu-HU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hu-HU" i="1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hu-HU" b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2,7793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-1,913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áblázat 2">
                <a:extLst>
                  <a:ext uri="{FF2B5EF4-FFF2-40B4-BE49-F238E27FC236}">
                    <a16:creationId xmlns:a16="http://schemas.microsoft.com/office/drawing/2014/main" id="{EB5D0C02-3095-AC44-8028-B01703E72D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084759" y="1913966"/>
              <a:ext cx="2990025" cy="11125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966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66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66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proton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neutron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>
                        <a:blipFill>
                          <a:blip r:embed="rId2"/>
                          <a:stretch>
                            <a:fillRect l="-610" t="-106452" r="-201829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>
                        <a:blipFill>
                          <a:blip r:embed="rId2"/>
                          <a:stretch>
                            <a:fillRect l="-610" t="-209836" r="-20182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2,7793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u-HU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</a:rPr>
                            <a:t>-1,913</a:t>
                          </a:r>
                          <a:endParaRPr lang="en-US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EE23FB9F-D012-066C-68C2-E129D298C795}"/>
              </a:ext>
            </a:extLst>
          </p:cNvPr>
          <p:cNvGrpSpPr/>
          <p:nvPr/>
        </p:nvGrpSpPr>
        <p:grpSpPr>
          <a:xfrm>
            <a:off x="117216" y="2259271"/>
            <a:ext cx="7072067" cy="395621"/>
            <a:chOff x="574416" y="3227337"/>
            <a:chExt cx="7072067" cy="395621"/>
          </a:xfrm>
        </p:grpSpPr>
        <p:sp>
          <p:nvSpPr>
            <p:cNvPr id="9" name="Szövegdoboz 8">
              <a:extLst>
                <a:ext uri="{FF2B5EF4-FFF2-40B4-BE49-F238E27FC236}">
                  <a16:creationId xmlns:a16="http://schemas.microsoft.com/office/drawing/2014/main" id="{35F75C36-9ABC-504B-32D2-87C3C2488A16}"/>
                </a:ext>
              </a:extLst>
            </p:cNvPr>
            <p:cNvSpPr txBox="1"/>
            <p:nvPr/>
          </p:nvSpPr>
          <p:spPr>
            <a:xfrm>
              <a:off x="574416" y="3253626"/>
              <a:ext cx="47852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>
                  <a:latin typeface="Book Antiqua" panose="02040602050305030304" pitchFamily="18" charset="0"/>
                </a:rPr>
                <a:t>Total </a:t>
              </a:r>
              <a:r>
                <a:rPr lang="hu-HU" dirty="0" err="1">
                  <a:latin typeface="Book Antiqua" panose="02040602050305030304" pitchFamily="18" charset="0"/>
                </a:rPr>
                <a:t>magnetic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dipole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moment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for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b="1" i="1" dirty="0">
                  <a:latin typeface="Book Antiqua" panose="02040602050305030304" pitchFamily="18" charset="0"/>
                </a:rPr>
                <a:t>a </a:t>
              </a:r>
              <a:r>
                <a:rPr lang="hu-HU" b="1" i="1" dirty="0" err="1">
                  <a:latin typeface="Book Antiqua" panose="02040602050305030304" pitchFamily="18" charset="0"/>
                </a:rPr>
                <a:t>nucleon</a:t>
              </a:r>
              <a:r>
                <a:rPr lang="hu-HU" dirty="0">
                  <a:latin typeface="Book Antiqua" panose="02040602050305030304" pitchFamily="18" charset="0"/>
                </a:rPr>
                <a:t>:</a:t>
              </a:r>
              <a:endParaRPr lang="en-US" dirty="0"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églalap 9">
                  <a:extLst>
                    <a:ext uri="{FF2B5EF4-FFF2-40B4-BE49-F238E27FC236}">
                      <a16:creationId xmlns:a16="http://schemas.microsoft.com/office/drawing/2014/main" id="{91AC2682-3018-1EEF-7452-06F42A936301}"/>
                    </a:ext>
                  </a:extLst>
                </p:cNvPr>
                <p:cNvSpPr/>
                <p:nvPr/>
              </p:nvSpPr>
              <p:spPr>
                <a:xfrm>
                  <a:off x="5287632" y="3227337"/>
                  <a:ext cx="2358851" cy="395621"/>
                </a:xfrm>
                <a:prstGeom prst="rect">
                  <a:avLst/>
                </a:prstGeom>
                <a:ln>
                  <a:solidFill>
                    <a:schemeClr val="accent2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hu-HU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hu-H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hu-HU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  <m:r>
                          <a:rPr lang="hu-H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hu-H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" name="Téglalap 9">
                  <a:extLst>
                    <a:ext uri="{FF2B5EF4-FFF2-40B4-BE49-F238E27FC236}">
                      <a16:creationId xmlns:a16="http://schemas.microsoft.com/office/drawing/2014/main" id="{91AC2682-3018-1EEF-7452-06F42A9363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7632" y="3227337"/>
                  <a:ext cx="2358851" cy="395621"/>
                </a:xfrm>
                <a:prstGeom prst="rect">
                  <a:avLst/>
                </a:prstGeom>
                <a:blipFill>
                  <a:blip r:embed="rId3"/>
                  <a:stretch>
                    <a:fillRect b="-5970"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AA43DA98-4220-E6A3-0CB3-68E77E35694A}"/>
                  </a:ext>
                </a:extLst>
              </p:cNvPr>
              <p:cNvSpPr txBox="1"/>
              <p:nvPr/>
            </p:nvSpPr>
            <p:spPr>
              <a:xfrm>
                <a:off x="7443969" y="2605339"/>
                <a:ext cx="15143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hu-H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AA43DA98-4220-E6A3-0CB3-68E77E356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3969" y="2605339"/>
                <a:ext cx="1514323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zövegdoboz 11">
                <a:extLst>
                  <a:ext uri="{FF2B5EF4-FFF2-40B4-BE49-F238E27FC236}">
                    <a16:creationId xmlns:a16="http://schemas.microsoft.com/office/drawing/2014/main" id="{9517C90E-EEB5-31BD-7262-7365033AD95E}"/>
                  </a:ext>
                </a:extLst>
              </p:cNvPr>
              <p:cNvSpPr txBox="1"/>
              <p:nvPr/>
            </p:nvSpPr>
            <p:spPr>
              <a:xfrm>
                <a:off x="7442215" y="1888390"/>
                <a:ext cx="13896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hu-H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12" name="Szövegdoboz 11">
                <a:extLst>
                  <a:ext uri="{FF2B5EF4-FFF2-40B4-BE49-F238E27FC236}">
                    <a16:creationId xmlns:a16="http://schemas.microsoft.com/office/drawing/2014/main" id="{9517C90E-EEB5-31BD-7262-7365033AD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215" y="1888390"/>
                <a:ext cx="1389611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B5ABFEBA-E78E-25AD-0D73-60DB1C37533D}"/>
              </a:ext>
            </a:extLst>
          </p:cNvPr>
          <p:cNvGrpSpPr/>
          <p:nvPr/>
        </p:nvGrpSpPr>
        <p:grpSpPr>
          <a:xfrm>
            <a:off x="1149525" y="2976939"/>
            <a:ext cx="3839321" cy="1259685"/>
            <a:chOff x="4639859" y="5294945"/>
            <a:chExt cx="3839321" cy="1259685"/>
          </a:xfrm>
        </p:grpSpPr>
        <p:grpSp>
          <p:nvGrpSpPr>
            <p:cNvPr id="14" name="Csoportba foglalás 13">
              <a:extLst>
                <a:ext uri="{FF2B5EF4-FFF2-40B4-BE49-F238E27FC236}">
                  <a16:creationId xmlns:a16="http://schemas.microsoft.com/office/drawing/2014/main" id="{CA7A8112-68BD-2FAD-389E-C3D18634F3E1}"/>
                </a:ext>
              </a:extLst>
            </p:cNvPr>
            <p:cNvGrpSpPr/>
            <p:nvPr/>
          </p:nvGrpSpPr>
          <p:grpSpPr>
            <a:xfrm>
              <a:off x="4639859" y="5294945"/>
              <a:ext cx="3839321" cy="874663"/>
              <a:chOff x="4639859" y="5294945"/>
              <a:chExt cx="3839321" cy="874663"/>
            </a:xfrm>
          </p:grpSpPr>
          <p:sp>
            <p:nvSpPr>
              <p:cNvPr id="16" name="Jobbra nyíl 40">
                <a:extLst>
                  <a:ext uri="{FF2B5EF4-FFF2-40B4-BE49-F238E27FC236}">
                    <a16:creationId xmlns:a16="http://schemas.microsoft.com/office/drawing/2014/main" id="{2E001070-A218-E0FD-CBB0-AB8AF8B5F7C7}"/>
                  </a:ext>
                </a:extLst>
              </p:cNvPr>
              <p:cNvSpPr/>
              <p:nvPr/>
            </p:nvSpPr>
            <p:spPr>
              <a:xfrm rot="5400000">
                <a:off x="6304012" y="5238474"/>
                <a:ext cx="391113" cy="504056"/>
              </a:xfrm>
              <a:prstGeom prst="rightArrow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églalap 16">
                    <a:extLst>
                      <a:ext uri="{FF2B5EF4-FFF2-40B4-BE49-F238E27FC236}">
                        <a16:creationId xmlns:a16="http://schemas.microsoft.com/office/drawing/2014/main" id="{FA2ADF41-73F3-FEA1-F9CA-4D0B1F2DB722}"/>
                      </a:ext>
                    </a:extLst>
                  </p:cNvPr>
                  <p:cNvSpPr/>
                  <p:nvPr/>
                </p:nvSpPr>
                <p:spPr>
                  <a:xfrm>
                    <a:off x="4639859" y="5777962"/>
                    <a:ext cx="3839321" cy="391646"/>
                  </a:xfrm>
                  <a:prstGeom prst="rect">
                    <a:avLst/>
                  </a:prstGeom>
                  <a:ln w="28575">
                    <a:solidFill>
                      <a:schemeClr val="accent2"/>
                    </a:solidFill>
                  </a:ln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𝒏𝒖𝒄𝒍𝒆𝒖𝒔</m:t>
                              </m:r>
                            </m:sub>
                          </m:sSub>
                          <m:r>
                            <a:rPr lang="hu-HU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hu-HU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𝒐𝒅𝒅</m:t>
                              </m:r>
                            </m:sub>
                          </m:sSub>
                          <m:r>
                            <a:rPr lang="hu-H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hu-HU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  <m:r>
                            <a:rPr lang="hu-HU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hu-HU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17" name="Téglalap 16">
                    <a:extLst>
                      <a:ext uri="{FF2B5EF4-FFF2-40B4-BE49-F238E27FC236}">
                        <a16:creationId xmlns:a16="http://schemas.microsoft.com/office/drawing/2014/main" id="{FA2ADF41-73F3-FEA1-F9CA-4D0B1F2DB72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9859" y="5777962"/>
                    <a:ext cx="3839321" cy="39164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2899"/>
                    </a:stretch>
                  </a:blipFill>
                  <a:ln w="28575">
                    <a:solidFill>
                      <a:schemeClr val="accent2"/>
                    </a:solidFill>
                  </a:ln>
                </p:spPr>
                <p:txBody>
                  <a:bodyPr/>
                  <a:lstStyle/>
                  <a:p>
                    <a:r>
                      <a:rPr lang="hu-H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0E4883E8-0239-6290-F691-894561115382}"/>
                </a:ext>
              </a:extLst>
            </p:cNvPr>
            <p:cNvSpPr txBox="1"/>
            <p:nvPr/>
          </p:nvSpPr>
          <p:spPr>
            <a:xfrm>
              <a:off x="5590393" y="6185298"/>
              <a:ext cx="2188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>
                  <a:latin typeface="Book Antiqua" panose="02040602050305030304" pitchFamily="18" charset="0"/>
                </a:rPr>
                <a:t>for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even-odd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nuclei</a:t>
              </a:r>
              <a:endParaRPr lang="en-US" dirty="0">
                <a:latin typeface="Book Antiqua" panose="0204060205030503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églalap 17">
                <a:extLst>
                  <a:ext uri="{FF2B5EF4-FFF2-40B4-BE49-F238E27FC236}">
                    <a16:creationId xmlns:a16="http://schemas.microsoft.com/office/drawing/2014/main" id="{D52B2AB5-2B8B-7AB5-A12C-4684FD06969D}"/>
                  </a:ext>
                </a:extLst>
              </p:cNvPr>
              <p:cNvSpPr/>
              <p:nvPr/>
            </p:nvSpPr>
            <p:spPr>
              <a:xfrm>
                <a:off x="8769761" y="3176803"/>
                <a:ext cx="3305023" cy="618311"/>
              </a:xfrm>
              <a:prstGeom prst="rect">
                <a:avLst/>
              </a:prstGeom>
              <a:solidFill>
                <a:schemeClr val="accent1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𝑀𝑐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=3,152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−14</m:t>
                          </m:r>
                        </m:sup>
                      </m:sSup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𝑀𝑒𝑉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églalap 17">
                <a:extLst>
                  <a:ext uri="{FF2B5EF4-FFF2-40B4-BE49-F238E27FC236}">
                    <a16:creationId xmlns:a16="http://schemas.microsoft.com/office/drawing/2014/main" id="{D52B2AB5-2B8B-7AB5-A12C-4684FD0696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761" y="3176803"/>
                <a:ext cx="3305023" cy="6183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Csoportba foglalás 25">
            <a:extLst>
              <a:ext uri="{FF2B5EF4-FFF2-40B4-BE49-F238E27FC236}">
                <a16:creationId xmlns:a16="http://schemas.microsoft.com/office/drawing/2014/main" id="{83289A3C-6025-AA16-C476-E72AE57739D3}"/>
              </a:ext>
            </a:extLst>
          </p:cNvPr>
          <p:cNvGrpSpPr/>
          <p:nvPr/>
        </p:nvGrpSpPr>
        <p:grpSpPr>
          <a:xfrm>
            <a:off x="7042893" y="4271753"/>
            <a:ext cx="453265" cy="1823501"/>
            <a:chOff x="603982" y="2986245"/>
            <a:chExt cx="453265" cy="1823501"/>
          </a:xfrm>
        </p:grpSpPr>
        <p:cxnSp>
          <p:nvCxnSpPr>
            <p:cNvPr id="27" name="Egyenes összekötő nyíllal 26">
              <a:extLst>
                <a:ext uri="{FF2B5EF4-FFF2-40B4-BE49-F238E27FC236}">
                  <a16:creationId xmlns:a16="http://schemas.microsoft.com/office/drawing/2014/main" id="{FD9366A1-2564-7E61-626F-742B8088613B}"/>
                </a:ext>
              </a:extLst>
            </p:cNvPr>
            <p:cNvCxnSpPr/>
            <p:nvPr/>
          </p:nvCxnSpPr>
          <p:spPr>
            <a:xfrm flipV="1">
              <a:off x="1043608" y="3225570"/>
              <a:ext cx="0" cy="1584176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églalap 27">
                  <a:extLst>
                    <a:ext uri="{FF2B5EF4-FFF2-40B4-BE49-F238E27FC236}">
                      <a16:creationId xmlns:a16="http://schemas.microsoft.com/office/drawing/2014/main" id="{2A004DBC-095A-36C4-1C80-2DE2EC7750CA}"/>
                    </a:ext>
                  </a:extLst>
                </p:cNvPr>
                <p:cNvSpPr/>
                <p:nvPr/>
              </p:nvSpPr>
              <p:spPr>
                <a:xfrm>
                  <a:off x="603982" y="2986245"/>
                  <a:ext cx="453265" cy="37677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hu-HU" b="1" i="1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</m:acc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églalap 27">
                  <a:extLst>
                    <a:ext uri="{FF2B5EF4-FFF2-40B4-BE49-F238E27FC236}">
                      <a16:creationId xmlns:a16="http://schemas.microsoft.com/office/drawing/2014/main" id="{2A004DBC-095A-36C4-1C80-2DE2EC7750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982" y="2986245"/>
                  <a:ext cx="453265" cy="376770"/>
                </a:xfrm>
                <a:prstGeom prst="rect">
                  <a:avLst/>
                </a:prstGeom>
                <a:blipFill>
                  <a:blip r:embed="rId8"/>
                  <a:stretch>
                    <a:fillRect t="-1613" r="-5333" b="-161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Csoportba foglalás 28">
            <a:extLst>
              <a:ext uri="{FF2B5EF4-FFF2-40B4-BE49-F238E27FC236}">
                <a16:creationId xmlns:a16="http://schemas.microsoft.com/office/drawing/2014/main" id="{FE084CB3-DCF7-47FB-3CAD-C46A8CDB0C2D}"/>
              </a:ext>
            </a:extLst>
          </p:cNvPr>
          <p:cNvGrpSpPr/>
          <p:nvPr/>
        </p:nvGrpSpPr>
        <p:grpSpPr>
          <a:xfrm>
            <a:off x="7482519" y="5807222"/>
            <a:ext cx="1238676" cy="398545"/>
            <a:chOff x="1043608" y="4521714"/>
            <a:chExt cx="1238676" cy="398545"/>
          </a:xfrm>
        </p:grpSpPr>
        <p:cxnSp>
          <p:nvCxnSpPr>
            <p:cNvPr id="30" name="Egyenes összekötő nyíllal 29">
              <a:extLst>
                <a:ext uri="{FF2B5EF4-FFF2-40B4-BE49-F238E27FC236}">
                  <a16:creationId xmlns:a16="http://schemas.microsoft.com/office/drawing/2014/main" id="{2B90A24A-9346-2EFB-E489-E208B4A2CA02}"/>
                </a:ext>
              </a:extLst>
            </p:cNvPr>
            <p:cNvCxnSpPr/>
            <p:nvPr/>
          </p:nvCxnSpPr>
          <p:spPr>
            <a:xfrm flipV="1">
              <a:off x="1043608" y="4521714"/>
              <a:ext cx="1008112" cy="288032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églalap 30">
                  <a:extLst>
                    <a:ext uri="{FF2B5EF4-FFF2-40B4-BE49-F238E27FC236}">
                      <a16:creationId xmlns:a16="http://schemas.microsoft.com/office/drawing/2014/main" id="{1A134CB1-25C1-A8E4-8DD7-121C82C27765}"/>
                    </a:ext>
                  </a:extLst>
                </p:cNvPr>
                <p:cNvSpPr/>
                <p:nvPr/>
              </p:nvSpPr>
              <p:spPr>
                <a:xfrm>
                  <a:off x="1827416" y="4541629"/>
                  <a:ext cx="454868" cy="3786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hu-HU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</m:acc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églalap 30">
                  <a:extLst>
                    <a:ext uri="{FF2B5EF4-FFF2-40B4-BE49-F238E27FC236}">
                      <a16:creationId xmlns:a16="http://schemas.microsoft.com/office/drawing/2014/main" id="{1A134CB1-25C1-A8E4-8DD7-121C82C277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7416" y="4541629"/>
                  <a:ext cx="454868" cy="378630"/>
                </a:xfrm>
                <a:prstGeom prst="rect">
                  <a:avLst/>
                </a:prstGeom>
                <a:blipFill>
                  <a:blip r:embed="rId9"/>
                  <a:stretch>
                    <a:fillRect t="-1613" r="-4000" b="-161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Csoportba foglalás 31">
            <a:extLst>
              <a:ext uri="{FF2B5EF4-FFF2-40B4-BE49-F238E27FC236}">
                <a16:creationId xmlns:a16="http://schemas.microsoft.com/office/drawing/2014/main" id="{E9E9676F-34EA-F627-DBCB-5E0635171A11}"/>
              </a:ext>
            </a:extLst>
          </p:cNvPr>
          <p:cNvGrpSpPr/>
          <p:nvPr/>
        </p:nvGrpSpPr>
        <p:grpSpPr>
          <a:xfrm>
            <a:off x="7482519" y="4239528"/>
            <a:ext cx="1008112" cy="1587609"/>
            <a:chOff x="1043608" y="2954020"/>
            <a:chExt cx="1008112" cy="1587609"/>
          </a:xfrm>
        </p:grpSpPr>
        <p:cxnSp>
          <p:nvCxnSpPr>
            <p:cNvPr id="53" name="Egyenes összekötő nyíllal 52">
              <a:extLst>
                <a:ext uri="{FF2B5EF4-FFF2-40B4-BE49-F238E27FC236}">
                  <a16:creationId xmlns:a16="http://schemas.microsoft.com/office/drawing/2014/main" id="{6CAC9808-2336-3C5A-4996-B9082ED5B730}"/>
                </a:ext>
              </a:extLst>
            </p:cNvPr>
            <p:cNvCxnSpPr/>
            <p:nvPr/>
          </p:nvCxnSpPr>
          <p:spPr>
            <a:xfrm flipV="1">
              <a:off x="1043608" y="2954020"/>
              <a:ext cx="1008112" cy="288032"/>
            </a:xfrm>
            <a:prstGeom prst="straightConnector1">
              <a:avLst/>
            </a:prstGeom>
            <a:ln>
              <a:solidFill>
                <a:srgbClr val="00B0F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Egyenes összekötő nyíllal 54">
              <a:extLst>
                <a:ext uri="{FF2B5EF4-FFF2-40B4-BE49-F238E27FC236}">
                  <a16:creationId xmlns:a16="http://schemas.microsoft.com/office/drawing/2014/main" id="{F2D29942-3B55-55F7-59E8-4D55FCDE3164}"/>
                </a:ext>
              </a:extLst>
            </p:cNvPr>
            <p:cNvCxnSpPr/>
            <p:nvPr/>
          </p:nvCxnSpPr>
          <p:spPr>
            <a:xfrm flipV="1">
              <a:off x="2051720" y="2957453"/>
              <a:ext cx="0" cy="1584176"/>
            </a:xfrm>
            <a:prstGeom prst="straightConnector1">
              <a:avLst/>
            </a:prstGeom>
            <a:ln>
              <a:solidFill>
                <a:schemeClr val="tx2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Csoportba foglalás 55">
            <a:extLst>
              <a:ext uri="{FF2B5EF4-FFF2-40B4-BE49-F238E27FC236}">
                <a16:creationId xmlns:a16="http://schemas.microsoft.com/office/drawing/2014/main" id="{866A0B4C-1FAD-20FA-9C41-48EF41977F9C}"/>
              </a:ext>
            </a:extLst>
          </p:cNvPr>
          <p:cNvGrpSpPr/>
          <p:nvPr/>
        </p:nvGrpSpPr>
        <p:grpSpPr>
          <a:xfrm>
            <a:off x="7482519" y="4271753"/>
            <a:ext cx="1008112" cy="1823501"/>
            <a:chOff x="1043608" y="2986245"/>
            <a:chExt cx="1008112" cy="1823501"/>
          </a:xfrm>
        </p:grpSpPr>
        <p:cxnSp>
          <p:nvCxnSpPr>
            <p:cNvPr id="57" name="Egyenes összekötő nyíllal 56">
              <a:extLst>
                <a:ext uri="{FF2B5EF4-FFF2-40B4-BE49-F238E27FC236}">
                  <a16:creationId xmlns:a16="http://schemas.microsoft.com/office/drawing/2014/main" id="{F02BB1B4-A0CA-14A3-9F0C-5F47853D3287}"/>
                </a:ext>
              </a:extLst>
            </p:cNvPr>
            <p:cNvCxnSpPr/>
            <p:nvPr/>
          </p:nvCxnSpPr>
          <p:spPr>
            <a:xfrm flipV="1">
              <a:off x="1043608" y="2986245"/>
              <a:ext cx="1008112" cy="182350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églalap 57">
                  <a:extLst>
                    <a:ext uri="{FF2B5EF4-FFF2-40B4-BE49-F238E27FC236}">
                      <a16:creationId xmlns:a16="http://schemas.microsoft.com/office/drawing/2014/main" id="{88160991-BBAA-189E-4CD1-937502177B9B}"/>
                    </a:ext>
                  </a:extLst>
                </p:cNvPr>
                <p:cNvSpPr/>
                <p:nvPr/>
              </p:nvSpPr>
              <p:spPr>
                <a:xfrm>
                  <a:off x="1527057" y="3157878"/>
                  <a:ext cx="349776" cy="37677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hu-HU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églalap 57">
                  <a:extLst>
                    <a:ext uri="{FF2B5EF4-FFF2-40B4-BE49-F238E27FC236}">
                      <a16:creationId xmlns:a16="http://schemas.microsoft.com/office/drawing/2014/main" id="{88160991-BBAA-189E-4CD1-937502177B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057" y="3157878"/>
                  <a:ext cx="349776" cy="376770"/>
                </a:xfrm>
                <a:prstGeom prst="rect">
                  <a:avLst/>
                </a:prstGeom>
                <a:blipFill>
                  <a:blip r:embed="rId10"/>
                  <a:stretch>
                    <a:fillRect t="-1613" r="-1754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Csoportba foglalás 58">
            <a:extLst>
              <a:ext uri="{FF2B5EF4-FFF2-40B4-BE49-F238E27FC236}">
                <a16:creationId xmlns:a16="http://schemas.microsoft.com/office/drawing/2014/main" id="{6CC6B387-26FB-220B-8212-A9154E1D8422}"/>
              </a:ext>
            </a:extLst>
          </p:cNvPr>
          <p:cNvGrpSpPr/>
          <p:nvPr/>
        </p:nvGrpSpPr>
        <p:grpSpPr>
          <a:xfrm>
            <a:off x="9080256" y="4097237"/>
            <a:ext cx="1041515" cy="1826676"/>
            <a:chOff x="2641345" y="2811729"/>
            <a:chExt cx="1041515" cy="1826676"/>
          </a:xfrm>
        </p:grpSpPr>
        <p:sp>
          <p:nvSpPr>
            <p:cNvPr id="60" name="Jobbra nyíl 38">
              <a:extLst>
                <a:ext uri="{FF2B5EF4-FFF2-40B4-BE49-F238E27FC236}">
                  <a16:creationId xmlns:a16="http://schemas.microsoft.com/office/drawing/2014/main" id="{ABDD83FD-A921-BB53-A72F-EFF329FD8D76}"/>
                </a:ext>
              </a:extLst>
            </p:cNvPr>
            <p:cNvSpPr/>
            <p:nvPr/>
          </p:nvSpPr>
          <p:spPr>
            <a:xfrm>
              <a:off x="2641345" y="3329883"/>
              <a:ext cx="288032" cy="946833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1" name="Csoportba foglalás 60">
              <a:extLst>
                <a:ext uri="{FF2B5EF4-FFF2-40B4-BE49-F238E27FC236}">
                  <a16:creationId xmlns:a16="http://schemas.microsoft.com/office/drawing/2014/main" id="{C79CFD9F-8650-6BD7-C937-9CB4D7869C3A}"/>
                </a:ext>
              </a:extLst>
            </p:cNvPr>
            <p:cNvGrpSpPr/>
            <p:nvPr/>
          </p:nvGrpSpPr>
          <p:grpSpPr>
            <a:xfrm>
              <a:off x="3211962" y="2811729"/>
              <a:ext cx="470898" cy="1826676"/>
              <a:chOff x="4633727" y="2696078"/>
              <a:chExt cx="470898" cy="1826676"/>
            </a:xfrm>
          </p:grpSpPr>
          <p:cxnSp>
            <p:nvCxnSpPr>
              <p:cNvPr id="62" name="Egyenes összekötő nyíllal 61">
                <a:extLst>
                  <a:ext uri="{FF2B5EF4-FFF2-40B4-BE49-F238E27FC236}">
                    <a16:creationId xmlns:a16="http://schemas.microsoft.com/office/drawing/2014/main" id="{1B72ADE3-7764-3DF2-0F6B-B94DE2461693}"/>
                  </a:ext>
                </a:extLst>
              </p:cNvPr>
              <p:cNvCxnSpPr/>
              <p:nvPr/>
            </p:nvCxnSpPr>
            <p:spPr>
              <a:xfrm flipH="1" flipV="1">
                <a:off x="5068282" y="2986245"/>
                <a:ext cx="18451" cy="1536509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églalap 62">
                    <a:extLst>
                      <a:ext uri="{FF2B5EF4-FFF2-40B4-BE49-F238E27FC236}">
                        <a16:creationId xmlns:a16="http://schemas.microsoft.com/office/drawing/2014/main" id="{69A4FE4F-3387-3BC5-B913-78038C045A1F}"/>
                      </a:ext>
                    </a:extLst>
                  </p:cNvPr>
                  <p:cNvSpPr/>
                  <p:nvPr/>
                </p:nvSpPr>
                <p:spPr>
                  <a:xfrm>
                    <a:off x="4633727" y="2696078"/>
                    <a:ext cx="47089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3" name="Téglalap 62">
                    <a:extLst>
                      <a:ext uri="{FF2B5EF4-FFF2-40B4-BE49-F238E27FC236}">
                        <a16:creationId xmlns:a16="http://schemas.microsoft.com/office/drawing/2014/main" id="{69A4FE4F-3387-3BC5-B913-78038C045A1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3727" y="2696078"/>
                    <a:ext cx="47089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3279"/>
                    </a:stretch>
                  </a:blipFill>
                </p:spPr>
                <p:txBody>
                  <a:bodyPr/>
                  <a:lstStyle/>
                  <a:p>
                    <a:r>
                      <a:rPr lang="hu-H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64" name="Csoportba foglalás 63">
            <a:extLst>
              <a:ext uri="{FF2B5EF4-FFF2-40B4-BE49-F238E27FC236}">
                <a16:creationId xmlns:a16="http://schemas.microsoft.com/office/drawing/2014/main" id="{6BEC55C3-BC2C-8F47-6AB5-438A3431CEAD}"/>
              </a:ext>
            </a:extLst>
          </p:cNvPr>
          <p:cNvGrpSpPr/>
          <p:nvPr/>
        </p:nvGrpSpPr>
        <p:grpSpPr>
          <a:xfrm>
            <a:off x="10091941" y="5419719"/>
            <a:ext cx="1652767" cy="781399"/>
            <a:chOff x="5145276" y="3956022"/>
            <a:chExt cx="1652767" cy="781399"/>
          </a:xfrm>
        </p:grpSpPr>
        <p:cxnSp>
          <p:nvCxnSpPr>
            <p:cNvPr id="65" name="Egyenes összekötő nyíllal 64">
              <a:extLst>
                <a:ext uri="{FF2B5EF4-FFF2-40B4-BE49-F238E27FC236}">
                  <a16:creationId xmlns:a16="http://schemas.microsoft.com/office/drawing/2014/main" id="{5C5BBD42-B9B0-9515-9E7E-F04E588D5F6F}"/>
                </a:ext>
              </a:extLst>
            </p:cNvPr>
            <p:cNvCxnSpPr/>
            <p:nvPr/>
          </p:nvCxnSpPr>
          <p:spPr>
            <a:xfrm flipV="1">
              <a:off x="5145276" y="3956022"/>
              <a:ext cx="1652767" cy="514558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églalap 65">
                  <a:extLst>
                    <a:ext uri="{FF2B5EF4-FFF2-40B4-BE49-F238E27FC236}">
                      <a16:creationId xmlns:a16="http://schemas.microsoft.com/office/drawing/2014/main" id="{0E6F3D99-5EE6-2792-C055-C94D7D155DA8}"/>
                    </a:ext>
                  </a:extLst>
                </p:cNvPr>
                <p:cNvSpPr/>
                <p:nvPr/>
              </p:nvSpPr>
              <p:spPr>
                <a:xfrm>
                  <a:off x="5569855" y="4368089"/>
                  <a:ext cx="4910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églalap 65">
                  <a:extLst>
                    <a:ext uri="{FF2B5EF4-FFF2-40B4-BE49-F238E27FC236}">
                      <a16:creationId xmlns:a16="http://schemas.microsoft.com/office/drawing/2014/main" id="{0E6F3D99-5EE6-2792-C055-C94D7D155D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9855" y="4368089"/>
                  <a:ext cx="491032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Csoportba foglalás 66">
            <a:extLst>
              <a:ext uri="{FF2B5EF4-FFF2-40B4-BE49-F238E27FC236}">
                <a16:creationId xmlns:a16="http://schemas.microsoft.com/office/drawing/2014/main" id="{476C5B86-5DD0-233E-BF3D-74AF83BE506E}"/>
              </a:ext>
            </a:extLst>
          </p:cNvPr>
          <p:cNvGrpSpPr/>
          <p:nvPr/>
        </p:nvGrpSpPr>
        <p:grpSpPr>
          <a:xfrm>
            <a:off x="10150545" y="4043382"/>
            <a:ext cx="1008112" cy="1823501"/>
            <a:chOff x="1043608" y="2986245"/>
            <a:chExt cx="1008112" cy="1823501"/>
          </a:xfrm>
        </p:grpSpPr>
        <p:cxnSp>
          <p:nvCxnSpPr>
            <p:cNvPr id="68" name="Egyenes összekötő nyíllal 67">
              <a:extLst>
                <a:ext uri="{FF2B5EF4-FFF2-40B4-BE49-F238E27FC236}">
                  <a16:creationId xmlns:a16="http://schemas.microsoft.com/office/drawing/2014/main" id="{018AAB34-834F-4C76-0318-15507D240832}"/>
                </a:ext>
              </a:extLst>
            </p:cNvPr>
            <p:cNvCxnSpPr/>
            <p:nvPr/>
          </p:nvCxnSpPr>
          <p:spPr>
            <a:xfrm flipV="1">
              <a:off x="1043608" y="2986245"/>
              <a:ext cx="1008112" cy="182350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églalap 68">
                  <a:extLst>
                    <a:ext uri="{FF2B5EF4-FFF2-40B4-BE49-F238E27FC236}">
                      <a16:creationId xmlns:a16="http://schemas.microsoft.com/office/drawing/2014/main" id="{0634DACE-0CAE-EE62-CDC5-F6087C10F986}"/>
                    </a:ext>
                  </a:extLst>
                </p:cNvPr>
                <p:cNvSpPr/>
                <p:nvPr/>
              </p:nvSpPr>
              <p:spPr>
                <a:xfrm>
                  <a:off x="1527057" y="3157878"/>
                  <a:ext cx="349776" cy="37677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hu-HU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églalap 68">
                  <a:extLst>
                    <a:ext uri="{FF2B5EF4-FFF2-40B4-BE49-F238E27FC236}">
                      <a16:creationId xmlns:a16="http://schemas.microsoft.com/office/drawing/2014/main" id="{0634DACE-0CAE-EE62-CDC5-F6087C10F9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057" y="3157878"/>
                  <a:ext cx="349776" cy="376770"/>
                </a:xfrm>
                <a:prstGeom prst="rect">
                  <a:avLst/>
                </a:prstGeom>
                <a:blipFill>
                  <a:blip r:embed="rId13"/>
                  <a:stretch>
                    <a:fillRect t="-1613" r="-1724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Csoportba foglalás 69">
            <a:extLst>
              <a:ext uri="{FF2B5EF4-FFF2-40B4-BE49-F238E27FC236}">
                <a16:creationId xmlns:a16="http://schemas.microsoft.com/office/drawing/2014/main" id="{341C05F6-BF8B-A02C-5520-A8C8EDB33D70}"/>
              </a:ext>
            </a:extLst>
          </p:cNvPr>
          <p:cNvGrpSpPr/>
          <p:nvPr/>
        </p:nvGrpSpPr>
        <p:grpSpPr>
          <a:xfrm>
            <a:off x="10043653" y="3883330"/>
            <a:ext cx="1671218" cy="2055925"/>
            <a:chOff x="3604742" y="2597822"/>
            <a:chExt cx="1671218" cy="2055925"/>
          </a:xfrm>
        </p:grpSpPr>
        <p:grpSp>
          <p:nvGrpSpPr>
            <p:cNvPr id="71" name="Csoportba foglalás 70">
              <a:extLst>
                <a:ext uri="{FF2B5EF4-FFF2-40B4-BE49-F238E27FC236}">
                  <a16:creationId xmlns:a16="http://schemas.microsoft.com/office/drawing/2014/main" id="{E6DF2778-F141-C160-3E28-79881CF67806}"/>
                </a:ext>
              </a:extLst>
            </p:cNvPr>
            <p:cNvGrpSpPr/>
            <p:nvPr/>
          </p:nvGrpSpPr>
          <p:grpSpPr>
            <a:xfrm>
              <a:off x="3651408" y="2624318"/>
              <a:ext cx="1587650" cy="2029429"/>
              <a:chOff x="5086734" y="2492287"/>
              <a:chExt cx="1587650" cy="2029429"/>
            </a:xfrm>
          </p:grpSpPr>
          <p:cxnSp>
            <p:nvCxnSpPr>
              <p:cNvPr id="75" name="Egyenes összekötő nyíllal 74">
                <a:extLst>
                  <a:ext uri="{FF2B5EF4-FFF2-40B4-BE49-F238E27FC236}">
                    <a16:creationId xmlns:a16="http://schemas.microsoft.com/office/drawing/2014/main" id="{F9F1BF98-3C4A-11EF-2194-F11473BD0875}"/>
                  </a:ext>
                </a:extLst>
              </p:cNvPr>
              <p:cNvCxnSpPr/>
              <p:nvPr/>
            </p:nvCxnSpPr>
            <p:spPr>
              <a:xfrm flipV="1">
                <a:off x="5086734" y="2492287"/>
                <a:ext cx="1587650" cy="2029429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églalap 75">
                    <a:extLst>
                      <a:ext uri="{FF2B5EF4-FFF2-40B4-BE49-F238E27FC236}">
                        <a16:creationId xmlns:a16="http://schemas.microsoft.com/office/drawing/2014/main" id="{B0BBA70B-13E8-2BE8-4221-1896C5EEBFBF}"/>
                      </a:ext>
                    </a:extLst>
                  </p:cNvPr>
                  <p:cNvSpPr/>
                  <p:nvPr/>
                </p:nvSpPr>
                <p:spPr>
                  <a:xfrm>
                    <a:off x="6003634" y="3126316"/>
                    <a:ext cx="50359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hu-H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6" name="Téglalap 75">
                    <a:extLst>
                      <a:ext uri="{FF2B5EF4-FFF2-40B4-BE49-F238E27FC236}">
                        <a16:creationId xmlns:a16="http://schemas.microsoft.com/office/drawing/2014/main" id="{B0BBA70B-13E8-2BE8-4221-1896C5EEBFB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3634" y="3126316"/>
                    <a:ext cx="503599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3279"/>
                    </a:stretch>
                  </a:blipFill>
                </p:spPr>
                <p:txBody>
                  <a:bodyPr/>
                  <a:lstStyle/>
                  <a:p>
                    <a:r>
                      <a:rPr lang="hu-H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2" name="Csoportba foglalás 71">
              <a:extLst>
                <a:ext uri="{FF2B5EF4-FFF2-40B4-BE49-F238E27FC236}">
                  <a16:creationId xmlns:a16="http://schemas.microsoft.com/office/drawing/2014/main" id="{C15D6297-F3E9-D5B9-9819-F7BB707277C0}"/>
                </a:ext>
              </a:extLst>
            </p:cNvPr>
            <p:cNvGrpSpPr/>
            <p:nvPr/>
          </p:nvGrpSpPr>
          <p:grpSpPr>
            <a:xfrm>
              <a:off x="3604742" y="2597822"/>
              <a:ext cx="1671218" cy="1544415"/>
              <a:chOff x="3604742" y="2597822"/>
              <a:chExt cx="1671218" cy="1544415"/>
            </a:xfrm>
          </p:grpSpPr>
          <p:cxnSp>
            <p:nvCxnSpPr>
              <p:cNvPr id="73" name="Egyenes összekötő nyíllal 72">
                <a:extLst>
                  <a:ext uri="{FF2B5EF4-FFF2-40B4-BE49-F238E27FC236}">
                    <a16:creationId xmlns:a16="http://schemas.microsoft.com/office/drawing/2014/main" id="{1D50441B-EE6C-09F3-D96F-E6FE6619E6F1}"/>
                  </a:ext>
                </a:extLst>
              </p:cNvPr>
              <p:cNvCxnSpPr/>
              <p:nvPr/>
            </p:nvCxnSpPr>
            <p:spPr>
              <a:xfrm flipH="1" flipV="1">
                <a:off x="5257509" y="2605728"/>
                <a:ext cx="18451" cy="1536509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Egyenes összekötő nyíllal 73">
                <a:extLst>
                  <a:ext uri="{FF2B5EF4-FFF2-40B4-BE49-F238E27FC236}">
                    <a16:creationId xmlns:a16="http://schemas.microsoft.com/office/drawing/2014/main" id="{4C9D38AF-6B6F-16EA-1CEF-D21551EC5D79}"/>
                  </a:ext>
                </a:extLst>
              </p:cNvPr>
              <p:cNvCxnSpPr/>
              <p:nvPr/>
            </p:nvCxnSpPr>
            <p:spPr>
              <a:xfrm flipV="1">
                <a:off x="3604742" y="2597822"/>
                <a:ext cx="1652767" cy="514558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Szövegdoboz 3">
            <a:extLst>
              <a:ext uri="{FF2B5EF4-FFF2-40B4-BE49-F238E27FC236}">
                <a16:creationId xmlns:a16="http://schemas.microsoft.com/office/drawing/2014/main" id="{544A80DA-3C54-2A0E-B839-FF12332FDFEF}"/>
              </a:ext>
            </a:extLst>
          </p:cNvPr>
          <p:cNvSpPr txBox="1"/>
          <p:nvPr/>
        </p:nvSpPr>
        <p:spPr>
          <a:xfrm>
            <a:off x="2413938" y="4998837"/>
            <a:ext cx="462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Attention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         is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not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a constant of </a:t>
            </a:r>
            <a:r>
              <a:rPr lang="hu-HU" b="1" dirty="0" err="1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motion</a:t>
            </a:r>
            <a:r>
              <a:rPr lang="hu-HU" b="1" dirty="0">
                <a:solidFill>
                  <a:schemeClr val="accent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églalap 4">
                <a:extLst>
                  <a:ext uri="{FF2B5EF4-FFF2-40B4-BE49-F238E27FC236}">
                    <a16:creationId xmlns:a16="http://schemas.microsoft.com/office/drawing/2014/main" id="{EFD08229-3EAC-6949-2EBA-0A7D93C47C02}"/>
                  </a:ext>
                </a:extLst>
              </p:cNvPr>
              <p:cNvSpPr/>
              <p:nvPr/>
            </p:nvSpPr>
            <p:spPr>
              <a:xfrm>
                <a:off x="3608199" y="4955132"/>
                <a:ext cx="5035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hu-HU" b="1" i="1" smtClean="0">
                              <a:solidFill>
                                <a:schemeClr val="accent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églalap 4">
                <a:extLst>
                  <a:ext uri="{FF2B5EF4-FFF2-40B4-BE49-F238E27FC236}">
                    <a16:creationId xmlns:a16="http://schemas.microsoft.com/office/drawing/2014/main" id="{EFD08229-3EAC-6949-2EBA-0A7D93C47C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199" y="4955132"/>
                <a:ext cx="503599" cy="369332"/>
              </a:xfrm>
              <a:prstGeom prst="rect">
                <a:avLst/>
              </a:prstGeom>
              <a:blipFill>
                <a:blip r:embed="rId1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31E1188-999A-2E7D-3805-ACA5C9A2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70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976393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">
  <a:themeElements>
    <a:clrScheme name="5. egyéni sém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002060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ktív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1B3E10AA5B80CD4885EA0AE04886A9F5" ma:contentTypeVersion="3" ma:contentTypeDescription="Új dokumentum létrehozása." ma:contentTypeScope="" ma:versionID="58ba66a0da093d612f4cd75eaa4a3d4a">
  <xsd:schema xmlns:xsd="http://www.w3.org/2001/XMLSchema" xmlns:xs="http://www.w3.org/2001/XMLSchema" xmlns:p="http://schemas.microsoft.com/office/2006/metadata/properties" xmlns:ns2="ee138512-9a21-4812-8e5b-b5d0b46c1427" targetNamespace="http://schemas.microsoft.com/office/2006/metadata/properties" ma:root="true" ma:fieldsID="bda5854082841e825aae2f06d3ea2134" ns2:_="">
    <xsd:import namespace="ee138512-9a21-4812-8e5b-b5d0b46c14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138512-9a21-4812-8e5b-b5d0b46c14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575856-C808-4E01-BBD4-55DEBC7A4C1E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http://purl.org/dc/terms/"/>
    <ds:schemaRef ds:uri="http://schemas.microsoft.com/office/2006/metadata/properties"/>
    <ds:schemaRef ds:uri="e2f0a066-e613-4458-8822-cdd47c716d5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5E882B1-E1B9-43B7-B434-80AA13931F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1BEDE1-5F6B-4C07-A71C-9B48BF10DCC6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9725</TotalTime>
  <Words>4042</Words>
  <Application>Microsoft Office PowerPoint</Application>
  <PresentationFormat>Szélesvásznú</PresentationFormat>
  <Paragraphs>732</Paragraphs>
  <Slides>70</Slides>
  <Notes>20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10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70</vt:i4>
      </vt:variant>
    </vt:vector>
  </HeadingPairs>
  <TitlesOfParts>
    <vt:vector size="81" baseType="lpstr">
      <vt:lpstr>Arial</vt:lpstr>
      <vt:lpstr>Book Antiqua</vt:lpstr>
      <vt:lpstr>Calibri</vt:lpstr>
      <vt:lpstr>Calibri Light</vt:lpstr>
      <vt:lpstr>Cambria Math</vt:lpstr>
      <vt:lpstr>inherit</vt:lpstr>
      <vt:lpstr>Inter Var</vt:lpstr>
      <vt:lpstr>Symbol</vt:lpstr>
      <vt:lpstr>Times New Roman</vt:lpstr>
      <vt:lpstr>Wingdings</vt:lpstr>
      <vt:lpstr>Retrospektív</vt:lpstr>
      <vt:lpstr>Lecture 12:  The atomic nucleus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What is nuclear physics?</vt:lpstr>
      <vt:lpstr>The birth of nuclear physics</vt:lpstr>
      <vt:lpstr>Discovery of radioactivity</vt:lpstr>
      <vt:lpstr>Thomson atomic model</vt:lpstr>
      <vt:lpstr>How alpha particles are absorbed by a sheet of paper when the atoms are neutral?</vt:lpstr>
      <vt:lpstr>Rutherford’s experiment: the discovery of the nucleus</vt:lpstr>
      <vt:lpstr>Rutherford’s experiment: the discovery of the nucleus</vt:lpstr>
      <vt:lpstr>Rutherford’s experiment: the discovery of the nucleus</vt:lpstr>
      <vt:lpstr>Rutherford’s experiment: the discovery of the nucleus</vt:lpstr>
      <vt:lpstr>Rutherford’s experiment: the discovery of the nucleus</vt:lpstr>
      <vt:lpstr>Rutherford’s experiment: the discovery of the nucleus</vt:lpstr>
      <vt:lpstr>PowerPoint-bemutató</vt:lpstr>
      <vt:lpstr>PowerPoint-bemutató</vt:lpstr>
      <vt:lpstr>Rutherford’s experiment:  analysis</vt:lpstr>
      <vt:lpstr>Rutherford’s experiment:  analysis</vt:lpstr>
      <vt:lpstr>Rutherford’s experiment:  analysis</vt:lpstr>
      <vt:lpstr>Discovery of the neutron, 1932</vt:lpstr>
      <vt:lpstr>Discovery of the neutron, 1932</vt:lpstr>
      <vt:lpstr>Discovery of the neutron, 1932</vt:lpstr>
      <vt:lpstr>PowerPoint-bemutató</vt:lpstr>
      <vt:lpstr>PowerPoint-bemutató</vt:lpstr>
      <vt:lpstr>Constituents of the atomic nucleus</vt:lpstr>
      <vt:lpstr>Constituents of the atomic nucleus</vt:lpstr>
      <vt:lpstr>Constituents of the atomic nucleus</vt:lpstr>
      <vt:lpstr>Basic (bulk) properties of nuclei</vt:lpstr>
      <vt:lpstr>Nuclear charge density, charge radius</vt:lpstr>
      <vt:lpstr>Nuclear charge density, charge radius</vt:lpstr>
      <vt:lpstr>Nuclear charge density, charge radius</vt:lpstr>
      <vt:lpstr>Nuclear charge density, charge radius</vt:lpstr>
      <vt:lpstr>Nuclear charge density, charge radius</vt:lpstr>
      <vt:lpstr>Nuclear charge density, charge radius</vt:lpstr>
      <vt:lpstr>Nuclear charge density, charge radius: the Hofstädter experiment</vt:lpstr>
      <vt:lpstr>Nuclear charge density, charge radius: the Hofstädter experiment</vt:lpstr>
      <vt:lpstr>Nuclear charge density, charge radius: the Hofstädter experiment</vt:lpstr>
      <vt:lpstr>Nuclear spin and magnetic moment</vt:lpstr>
      <vt:lpstr>Nuclear spin and magnetic moment</vt:lpstr>
      <vt:lpstr>Nuclear spin and magnetic moment</vt:lpstr>
      <vt:lpstr>Nuclear spin and magnetic moment</vt:lpstr>
      <vt:lpstr>Nuclear spin and magnetic moment</vt:lpstr>
      <vt:lpstr>Nuclear spin and magnetic moment</vt:lpstr>
      <vt:lpstr>Nuclear spin and magnetic moment</vt:lpstr>
      <vt:lpstr>Magnetic moment of nucleons and NMR (nuclear magnetic resonance)</vt:lpstr>
      <vt:lpstr>Nuclear force and nuclear models</vt:lpstr>
      <vt:lpstr>Nuclear binding energy</vt:lpstr>
      <vt:lpstr>Nuclear binding energy</vt:lpstr>
      <vt:lpstr>Nuclear binding energy</vt:lpstr>
      <vt:lpstr>Nuclear binding energy</vt:lpstr>
      <vt:lpstr>Nuclear binding energy</vt:lpstr>
      <vt:lpstr>Nuclear force</vt:lpstr>
      <vt:lpstr>What do we know about the nucleus so far?</vt:lpstr>
      <vt:lpstr>The liquid drop model  (Weiszäcker formula)</vt:lpstr>
      <vt:lpstr>The liquid drop model  (Weiszäcker formula)</vt:lpstr>
      <vt:lpstr>The liquid drop model  (Weiszäcker formula)</vt:lpstr>
      <vt:lpstr>The liquid drop model  (Weiszäcker formula)</vt:lpstr>
      <vt:lpstr>The liquid drop model  (Weiszäcker formula)</vt:lpstr>
      <vt:lpstr>The liquid drop model  (Weiszäcker formula)</vt:lpstr>
      <vt:lpstr>Single particle models: introduction</vt:lpstr>
      <vt:lpstr>PowerPoint-bemutató</vt:lpstr>
      <vt:lpstr>Independent particle shell model: fundamentals</vt:lpstr>
      <vt:lpstr>Nuclear charge density, charge radius</vt:lpstr>
      <vt:lpstr>Nuclear charge density, charge radius</vt:lpstr>
      <vt:lpstr>Nuclear spin and magnetic moment</vt:lpstr>
      <vt:lpstr>Nuclear spin and magnetic moment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12:  The atomic nucleus</dc:title>
  <dc:creator>Szilvasi Reka</dc:creator>
  <cp:lastModifiedBy>Dr. Szilvási Réka</cp:lastModifiedBy>
  <cp:revision>275</cp:revision>
  <dcterms:created xsi:type="dcterms:W3CDTF">2025-03-10T16:40:30Z</dcterms:created>
  <dcterms:modified xsi:type="dcterms:W3CDTF">2026-05-05T19:51:35Z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0x0101001B3E10AA5B80CD4885EA0AE04886A9F5</vt:lpwstr>
  </property>
</Properties>
</file>